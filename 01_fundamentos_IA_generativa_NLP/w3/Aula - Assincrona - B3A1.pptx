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12192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gxAByVg/S0CjLd4GtgcaLX3zdO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6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8.xml"/><Relationship Id="rId44" Type="http://schemas.openxmlformats.org/officeDocument/2006/relationships/font" Target="fonts/Merriweather-bold.fntdata"/><Relationship Id="rId21" Type="http://schemas.openxmlformats.org/officeDocument/2006/relationships/slide" Target="slides/slide17.xml"/><Relationship Id="rId43" Type="http://schemas.openxmlformats.org/officeDocument/2006/relationships/font" Target="fonts/Merriweather-regular.fntdata"/><Relationship Id="rId24" Type="http://schemas.openxmlformats.org/officeDocument/2006/relationships/slide" Target="slides/slide20.xml"/><Relationship Id="rId46" Type="http://schemas.openxmlformats.org/officeDocument/2006/relationships/font" Target="fonts/Merriweather-boldItalic.fntdata"/><Relationship Id="rId23" Type="http://schemas.openxmlformats.org/officeDocument/2006/relationships/slide" Target="slides/slide19.xml"/><Relationship Id="rId45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customschemas.google.com/relationships/presentationmetadata" Target="meta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Roboto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eb54f4a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3eb54f4a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d3eb54f4a2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740832307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740832307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d740832307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74083230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740832307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d740832307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eb54f4a2_0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3eb54f4a2_0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d3eb54f4a2_0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740832307_2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d740832307_2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d740832307_2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40832307_2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740832307_2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d740832307_2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740832307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d740832307_2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d740832307_2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40832307_2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d740832307_2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d740832307_2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40832307_2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740832307_2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d740832307_2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740832307_2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d740832307_2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d740832307_2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740832307_2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740832307_2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d740832307_2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740832307_2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d740832307_2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d740832307_2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740832307_2_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740832307_2_2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d740832307_2_2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740832307_2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d740832307_2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d740832307_2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740832307_2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d740832307_2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d740832307_2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740832307_2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d740832307_2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d740832307_2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740832307_2_2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d740832307_2_2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d740832307_2_2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740832307_2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740832307_2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d740832307_2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740832307_2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d740832307_2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d740832307_2_2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740832307_2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d740832307_2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d740832307_2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740832307_2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d740832307_2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d740832307_2_2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740832307_2_3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d740832307_2_3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d740832307_2_3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740832307_2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d740832307_2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d740832307_2_3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740832307_2_3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d740832307_2_3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d740832307_2_3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740832307_2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d740832307_2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d740832307_2_3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740832307_2_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d740832307_2_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d740832307_2_3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d740832307_2_3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d740832307_2_3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3d740832307_2_3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740832307_2_3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d740832307_2_3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g3d740832307_2_3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740832307_2_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d740832307_2_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d740832307_2_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740832307_2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d740832307_2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d740832307_2_4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740832307_2_4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d740832307_2_4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3d740832307_2_4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d740832307_2_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d740832307_2_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g3d740832307_2_4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740832307_2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d740832307_2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d740832307_2_4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docs/datasets/access" TargetMode="External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huggingface.co/docs/datasets/access" TargetMode="External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Práticas de uso de Modelos pré-treinados</a:t>
            </a:r>
            <a:endParaRPr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eb54f4a2_0_1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Agentes Especializados</a:t>
            </a:r>
            <a:endParaRPr/>
          </a:p>
        </p:txBody>
      </p:sp>
      <p:sp>
        <p:nvSpPr>
          <p:cNvPr id="84" name="Google Shape;84;g3d3eb54f4a2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5" name="Google Shape;85;g3d3eb54f4a2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325" y="1651900"/>
            <a:ext cx="9545298" cy="5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740832307_2_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Aplicações de LLMs</a:t>
            </a:r>
            <a:endParaRPr i="1"/>
          </a:p>
        </p:txBody>
      </p:sp>
      <p:sp>
        <p:nvSpPr>
          <p:cNvPr id="92" name="Google Shape;92;g3d740832307_2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3" name="Google Shape;93;g3d740832307_2_8"/>
          <p:cNvSpPr txBox="1"/>
          <p:nvPr/>
        </p:nvSpPr>
        <p:spPr>
          <a:xfrm>
            <a:off x="347525" y="1997550"/>
            <a:ext cx="11428800" cy="4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Compreensão e Processamento de Texto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Extração de Informações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Vasculhar documentos complexos (ex.: contratos jurídicos) para identificar e extrair cláusulas, entidades ou dados específicos automaticamente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Resumir textos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Condensar textos longos, como artigos acadêmicos densos ou capítulos inteiros de livros sobre design e engenharia, entregando apenas os conceitos centrais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de Sentimentos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Determinar a polaridade de um texto (positivo, negativo, neutro) em avaliações de produtos, menções em redes sociais ou feedback de clientes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Classificação de Texto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Categorizar automaticamente e-mails (ex: spam, suporte, vendas) ou notícias em tópicos predefinidos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740832307_2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LLM e Classificação de Textos</a:t>
            </a:r>
            <a:endParaRPr/>
          </a:p>
        </p:txBody>
      </p:sp>
      <p:sp>
        <p:nvSpPr>
          <p:cNvPr id="100" name="Google Shape;100;g3d740832307_2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g3d740832307_2_0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Embora modelos representacionais e generativos possam ser usados ​​para classificação, suas abordagens diferem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g3d740832307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100" y="2920950"/>
            <a:ext cx="8904701" cy="381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d740832307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d740832307_2_0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eb54f4a2_0_20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11" name="Google Shape;111;g3d3eb54f4a2_0_2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2" name="Google Shape;112;g3d3eb54f4a2_0_201"/>
          <p:cNvSpPr txBox="1"/>
          <p:nvPr/>
        </p:nvSpPr>
        <p:spPr>
          <a:xfrm>
            <a:off x="347525" y="1997550"/>
            <a:ext cx="1142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Acesso à </a:t>
            </a:r>
            <a:r>
              <a:rPr lang="pt-BR" sz="2000" u="sng">
                <a:solidFill>
                  <a:srgbClr val="1A0DAB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 Face Datasets library</a:t>
            </a:r>
            <a:r>
              <a:rPr lang="pt-BR" sz="1900"/>
              <a:t>  e o dataset “rotten_tomatoes”</a:t>
            </a:r>
            <a:r>
              <a:rPr lang="pt-BR" sz="3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g3d3eb54f4a2_0_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2800" y="2604275"/>
            <a:ext cx="3867639" cy="4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d3eb54f4a2_0_201"/>
          <p:cNvSpPr/>
          <p:nvPr/>
        </p:nvSpPr>
        <p:spPr>
          <a:xfrm>
            <a:off x="8368900" y="4229575"/>
            <a:ext cx="3021900" cy="1886100"/>
          </a:xfrm>
          <a:prstGeom prst="wedgeRectCallout">
            <a:avLst>
              <a:gd fmla="val -71276" name="adj1"/>
              <a:gd fmla="val 1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Dataset sobre críticas de cinema.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40832307_2_9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21" name="Google Shape;121;g3d740832307_2_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g3d740832307_2_92"/>
          <p:cNvSpPr txBox="1"/>
          <p:nvPr/>
        </p:nvSpPr>
        <p:spPr>
          <a:xfrm>
            <a:off x="347525" y="1997550"/>
            <a:ext cx="114288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Acesso à </a:t>
            </a:r>
            <a:r>
              <a:rPr lang="pt-BR" sz="2000" u="sng">
                <a:solidFill>
                  <a:srgbClr val="1A0DAB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Hugging Face Datasets library</a:t>
            </a:r>
            <a:r>
              <a:rPr lang="pt-BR" sz="1900"/>
              <a:t>  e o dataset “rotten_tomatoes”</a:t>
            </a:r>
            <a:r>
              <a:rPr lang="pt-BR" sz="3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g3d740832307_2_92"/>
          <p:cNvSpPr/>
          <p:nvPr/>
        </p:nvSpPr>
        <p:spPr>
          <a:xfrm>
            <a:off x="6447400" y="4479125"/>
            <a:ext cx="3021900" cy="1886100"/>
          </a:xfrm>
          <a:prstGeom prst="wedgeRectCallout">
            <a:avLst>
              <a:gd fmla="val -42441" name="adj1"/>
              <a:gd fmla="val -6818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Exemplo de conteúdo do dataset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" name="Google Shape;124;g3d740832307_2_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50" y="2795588"/>
            <a:ext cx="101727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40832307_2_10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31" name="Google Shape;131;g3d740832307_2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g3d740832307_2_105"/>
          <p:cNvSpPr txBox="1"/>
          <p:nvPr/>
        </p:nvSpPr>
        <p:spPr>
          <a:xfrm>
            <a:off x="347525" y="1997550"/>
            <a:ext cx="11428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modelo de base é ajustado para tarefas específicas; por exemplo, para realizar classificação ou gerar representações vetoriais de propósito geral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g3d740832307_2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740832307_2_105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g3d740832307_2_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4775" y="3509500"/>
            <a:ext cx="7646651" cy="2599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740832307_2_1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42" name="Google Shape;142;g3d740832307_2_1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" name="Google Shape;143;g3d740832307_2_118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Classificação diretamente com um modelo específico versus indiretamente com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embeddings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propósito geral.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g3d740832307_2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d740832307_2_118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g3d740832307_2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625" y="3183225"/>
            <a:ext cx="6404100" cy="30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d740832307_2_1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8072" y="4806650"/>
            <a:ext cx="4234950" cy="1439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g3d740832307_2_118"/>
          <p:cNvCxnSpPr>
            <a:endCxn id="147" idx="1"/>
          </p:cNvCxnSpPr>
          <p:nvPr/>
        </p:nvCxnSpPr>
        <p:spPr>
          <a:xfrm>
            <a:off x="4254072" y="4757687"/>
            <a:ext cx="3204000" cy="76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740832307_2_1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55" name="Google Shape;155;g3d740832307_2_1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" name="Google Shape;156;g3d740832307_2_146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Utilizando um Modelo Específico para a Tarefa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d740832307_2_146"/>
          <p:cNvSpPr/>
          <p:nvPr/>
        </p:nvSpPr>
        <p:spPr>
          <a:xfrm>
            <a:off x="8551050" y="2557950"/>
            <a:ext cx="3021900" cy="1886100"/>
          </a:xfrm>
          <a:prstGeom prst="wedgeRectCallout">
            <a:avLst>
              <a:gd fmla="val -71276" name="adj1"/>
              <a:gd fmla="val 1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Este é um modelo baseado no RoBERTa, treinado com aproximadamente 124 milhões de tweets entre janeiro de 2018 e dezembro de 2021, e otimizado para análise de sentimentos com o benchmark TweetEval.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g3d740832307_2_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25" y="3150775"/>
            <a:ext cx="7088450" cy="27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740832307_2_13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65" name="Google Shape;165;g3d740832307_2_1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6" name="Google Shape;166;g3d740832307_2_133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Utilizando um Modelo Específico para a Tarefa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g3d740832307_2_133"/>
          <p:cNvSpPr/>
          <p:nvPr/>
        </p:nvSpPr>
        <p:spPr>
          <a:xfrm>
            <a:off x="8274700" y="2815125"/>
            <a:ext cx="3021900" cy="1886100"/>
          </a:xfrm>
          <a:prstGeom prst="wedgeRectCallout">
            <a:avLst>
              <a:gd fmla="val -71276" name="adj1"/>
              <a:gd fmla="val 1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Faz a predição e transforma 3 classes em uma classificação binária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g3d740832307_2_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975" y="2557950"/>
            <a:ext cx="6190774" cy="402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740832307_2_15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O sentimento das críticas de cinema</a:t>
            </a:r>
            <a:endParaRPr/>
          </a:p>
        </p:txBody>
      </p:sp>
      <p:sp>
        <p:nvSpPr>
          <p:cNvPr id="175" name="Google Shape;175;g3d740832307_2_1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6" name="Google Shape;176;g3d740832307_2_157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Utilizando um Modelo Específico para a Tarefa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g3d740832307_2_157"/>
          <p:cNvSpPr/>
          <p:nvPr/>
        </p:nvSpPr>
        <p:spPr>
          <a:xfrm>
            <a:off x="7803225" y="3329475"/>
            <a:ext cx="3021900" cy="1886100"/>
          </a:xfrm>
          <a:prstGeom prst="wedgeRectCallout">
            <a:avLst>
              <a:gd fmla="val -84470" name="adj1"/>
              <a:gd fmla="val 31975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Avalia a performance do modelo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g3d740832307_2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950" y="2505450"/>
            <a:ext cx="5117641" cy="404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740832307_2_16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 de classificação - Embeddings</a:t>
            </a:r>
            <a:endParaRPr/>
          </a:p>
        </p:txBody>
      </p:sp>
      <p:sp>
        <p:nvSpPr>
          <p:cNvPr id="185" name="Google Shape;185;g3d740832307_2_1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6" name="Google Shape;186;g3d740832307_2_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6292" y="849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d740832307_2_167"/>
          <p:cNvSpPr/>
          <p:nvPr/>
        </p:nvSpPr>
        <p:spPr>
          <a:xfrm>
            <a:off x="9699375" y="7452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g3d740832307_2_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325" y="2766300"/>
            <a:ext cx="9065100" cy="27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740832307_2_18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 de classificação - Embeddings</a:t>
            </a:r>
            <a:endParaRPr/>
          </a:p>
        </p:txBody>
      </p:sp>
      <p:sp>
        <p:nvSpPr>
          <p:cNvPr id="195" name="Google Shape;195;g3d740832307_2_1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6" name="Google Shape;196;g3d740832307_2_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380550"/>
            <a:ext cx="907732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d740832307_2_188"/>
          <p:cNvSpPr/>
          <p:nvPr/>
        </p:nvSpPr>
        <p:spPr>
          <a:xfrm>
            <a:off x="8711825" y="1778800"/>
            <a:ext cx="2957400" cy="1607400"/>
          </a:xfrm>
          <a:prstGeom prst="wedgeRectCallout">
            <a:avLst>
              <a:gd fmla="val -148193" name="adj1"/>
              <a:gd fmla="val 2799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Este é um modelo de transformação de sentenças: ele mapeia sentenças e parágrafos para um espaço vetorial denso de 768 dimensões e pode ser usado para tarefas como agrupamento ou busca semântica.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740832307_2_20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 de classificação - Embeddings</a:t>
            </a:r>
            <a:endParaRPr/>
          </a:p>
        </p:txBody>
      </p:sp>
      <p:sp>
        <p:nvSpPr>
          <p:cNvPr id="204" name="Google Shape;204;g3d740832307_2_2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g3d740832307_2_201"/>
          <p:cNvSpPr/>
          <p:nvPr/>
        </p:nvSpPr>
        <p:spPr>
          <a:xfrm>
            <a:off x="8711825" y="1778800"/>
            <a:ext cx="2957400" cy="1607400"/>
          </a:xfrm>
          <a:prstGeom prst="wedgeRectCallout">
            <a:avLst>
              <a:gd fmla="val -124642" name="adj1"/>
              <a:gd fmla="val 5666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Faz o </a:t>
            </a:r>
            <a:r>
              <a:rPr b="1" i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embedding </a:t>
            </a: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tanto do conjunto de treinamento como para o de teste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6" name="Google Shape;206;g3d740832307_2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6" y="2591975"/>
            <a:ext cx="6437500" cy="11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d740832307_2_2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25" y="4352925"/>
            <a:ext cx="4695475" cy="1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d740832307_2_201"/>
          <p:cNvSpPr/>
          <p:nvPr/>
        </p:nvSpPr>
        <p:spPr>
          <a:xfrm>
            <a:off x="8532050" y="4085025"/>
            <a:ext cx="2957400" cy="1607400"/>
          </a:xfrm>
          <a:prstGeom prst="wedgeRectCallout">
            <a:avLst>
              <a:gd fmla="val -127621" name="adj1"/>
              <a:gd fmla="val -81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Cria o modelo de regressão </a:t>
            </a: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logística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740832307_2_2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 de classificação - Embeddings</a:t>
            </a:r>
            <a:endParaRPr/>
          </a:p>
        </p:txBody>
      </p:sp>
      <p:sp>
        <p:nvSpPr>
          <p:cNvPr id="215" name="Google Shape;215;g3d740832307_2_2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6" name="Google Shape;216;g3d740832307_2_212"/>
          <p:cNvSpPr/>
          <p:nvPr/>
        </p:nvSpPr>
        <p:spPr>
          <a:xfrm>
            <a:off x="8154625" y="2571750"/>
            <a:ext cx="2957400" cy="1607400"/>
          </a:xfrm>
          <a:prstGeom prst="wedgeRectCallout">
            <a:avLst>
              <a:gd fmla="val -124642" name="adj1"/>
              <a:gd fmla="val 5666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Imprime as métricas de avaliação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g3d740832307_2_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900" y="1941225"/>
            <a:ext cx="5545600" cy="41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740832307_2_22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 de classificação - Embeddings</a:t>
            </a:r>
            <a:endParaRPr/>
          </a:p>
        </p:txBody>
      </p:sp>
      <p:sp>
        <p:nvSpPr>
          <p:cNvPr id="224" name="Google Shape;224;g3d740832307_2_2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5" name="Google Shape;225;g3d740832307_2_223"/>
          <p:cNvSpPr/>
          <p:nvPr/>
        </p:nvSpPr>
        <p:spPr>
          <a:xfrm>
            <a:off x="8154625" y="2571750"/>
            <a:ext cx="2957400" cy="1607400"/>
          </a:xfrm>
          <a:prstGeom prst="wedgeRectCallout">
            <a:avLst>
              <a:gd fmla="val -124642" name="adj1"/>
              <a:gd fmla="val 5666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Modificar para outras técnicas - GaussianNB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g3d740832307_2_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425" y="2361025"/>
            <a:ext cx="5574000" cy="36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740832307_2_2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 de classificação - Embeddings</a:t>
            </a:r>
            <a:endParaRPr/>
          </a:p>
        </p:txBody>
      </p:sp>
      <p:sp>
        <p:nvSpPr>
          <p:cNvPr id="233" name="Google Shape;233;g3d740832307_2_2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4" name="Google Shape;234;g3d740832307_2_240"/>
          <p:cNvSpPr/>
          <p:nvPr/>
        </p:nvSpPr>
        <p:spPr>
          <a:xfrm>
            <a:off x="8154625" y="2571750"/>
            <a:ext cx="2957400" cy="1607400"/>
          </a:xfrm>
          <a:prstGeom prst="wedgeRectCallout">
            <a:avLst>
              <a:gd fmla="val -124642" name="adj1"/>
              <a:gd fmla="val 5666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Modificar para outras técnicas - MLP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5" name="Google Shape;235;g3d740832307_2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75" y="2230525"/>
            <a:ext cx="5706875" cy="383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740832307_2_24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Agrupamento de Texto e Modelagem de Tópicos</a:t>
            </a:r>
            <a:endParaRPr/>
          </a:p>
        </p:txBody>
      </p:sp>
      <p:sp>
        <p:nvSpPr>
          <p:cNvPr id="242" name="Google Shape;242;g3d740832307_2_2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3" name="Google Shape;243;g3d740832307_2_2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375" y="1887625"/>
            <a:ext cx="7507226" cy="439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d740832307_2_2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39117" y="17994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d740832307_2_249"/>
          <p:cNvSpPr/>
          <p:nvPr/>
        </p:nvSpPr>
        <p:spPr>
          <a:xfrm>
            <a:off x="9592200" y="24597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740832307_2_26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Agrupamento de Texto e Modelagem de Tópicos</a:t>
            </a:r>
            <a:endParaRPr/>
          </a:p>
        </p:txBody>
      </p:sp>
      <p:sp>
        <p:nvSpPr>
          <p:cNvPr id="252" name="Google Shape;252;g3d740832307_2_26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3" name="Google Shape;253;g3d740832307_2_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39117" y="17994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d740832307_2_261"/>
          <p:cNvSpPr/>
          <p:nvPr/>
        </p:nvSpPr>
        <p:spPr>
          <a:xfrm>
            <a:off x="9592200" y="24597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5" name="Google Shape;255;g3d740832307_2_2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700" y="2843400"/>
            <a:ext cx="7970600" cy="33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740832307_2_28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Agrupamento de Texto com LLM</a:t>
            </a:r>
            <a:endParaRPr i="1"/>
          </a:p>
        </p:txBody>
      </p:sp>
      <p:sp>
        <p:nvSpPr>
          <p:cNvPr id="262" name="Google Shape;262;g3d740832307_2_28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3" name="Google Shape;263;g3d740832307_2_281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processo comum que ganhou popularidade envolve três etapas e algoritmos: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Converter os documentos de entrada em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embeddings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 um modelo de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embedding</a:t>
            </a:r>
            <a:endParaRPr i="1"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Reduzir a dimensionalidade dos embeddings com um modelo de redução de dimensionalidade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Encontrar grupos de documentos semanticamente semelhantes com um modelo de cluster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740832307_2_27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270" name="Google Shape;270;g3d740832307_2_2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1" name="Google Shape;271;g3d740832307_2_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00" y="2369850"/>
            <a:ext cx="7249325" cy="195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d740832307_2_271"/>
          <p:cNvSpPr/>
          <p:nvPr/>
        </p:nvSpPr>
        <p:spPr>
          <a:xfrm>
            <a:off x="8551100" y="2369850"/>
            <a:ext cx="2957400" cy="2570100"/>
          </a:xfrm>
          <a:prstGeom prst="wedgeRectCallout">
            <a:avLst>
              <a:gd fmla="val -84060" name="adj1"/>
              <a:gd fmla="val -1087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Resumos da categoria cs.CL do arXiv entre 1991 e 2024. Este conjunto de dados foi criado como uma ferramenta didática para o capítulo sobre Agrupamento e Modelagem de Tópicos do livro "Hands-On Large Language Models".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740832307_2_29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279" name="Google Shape;279;g3d740832307_2_2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0" name="Google Shape;280;g3d740832307_2_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00" y="2852738"/>
            <a:ext cx="65532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d740832307_2_290"/>
          <p:cNvSpPr/>
          <p:nvPr/>
        </p:nvSpPr>
        <p:spPr>
          <a:xfrm>
            <a:off x="8551100" y="2369850"/>
            <a:ext cx="2957400" cy="2570100"/>
          </a:xfrm>
          <a:prstGeom prst="wedgeRectCallout">
            <a:avLst>
              <a:gd fmla="val -135512" name="adj1"/>
              <a:gd fmla="val -920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Os modelos GTE são treinados pela Alibaba DAMO Academy. Eles são baseados principalmente na estrutura BERT e atualmente oferecem três tamanhos diferentes de modelos: GTE-large, GTE-base e GTE-small.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2" name="Google Shape;282;g3d740832307_2_2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700" y="5068488"/>
            <a:ext cx="781050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740832307_2_31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289" name="Google Shape;289;g3d740832307_2_3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0" name="Google Shape;290;g3d740832307_2_314"/>
          <p:cNvSpPr/>
          <p:nvPr/>
        </p:nvSpPr>
        <p:spPr>
          <a:xfrm>
            <a:off x="8551100" y="2369850"/>
            <a:ext cx="2957400" cy="2570100"/>
          </a:xfrm>
          <a:prstGeom prst="wedgeRectCallout">
            <a:avLst>
              <a:gd fmla="val -115583" name="adj1"/>
              <a:gd fmla="val -1254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Reduzindo a dimensionalidade de embeddings.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1" name="Google Shape;291;g3d740832307_2_3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19375"/>
            <a:ext cx="63436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740832307_2_32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298" name="Google Shape;298;g3d740832307_2_3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9" name="Google Shape;299;g3d740832307_2_322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Agrupar as Incorporações Reduzidas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0" name="Google Shape;300;g3d740832307_2_3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450" y="3419000"/>
            <a:ext cx="7663700" cy="265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d740832307_2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d740832307_2_322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740832307_2_33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309" name="Google Shape;309;g3d740832307_2_3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0" name="Google Shape;310;g3d740832307_2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75" y="2369850"/>
            <a:ext cx="5256275" cy="3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740832307_2_336"/>
          <p:cNvSpPr/>
          <p:nvPr/>
        </p:nvSpPr>
        <p:spPr>
          <a:xfrm>
            <a:off x="7348650" y="1973400"/>
            <a:ext cx="2957400" cy="2570100"/>
          </a:xfrm>
          <a:prstGeom prst="wedgeRectCallout">
            <a:avLst>
              <a:gd fmla="val -169493" name="adj1"/>
              <a:gd fmla="val -2713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Algoritmo de agrupamento baseado em densidade que estende o DBSCAN ao convertê-lo em uma abordagem hierárquica. Ele identifica clusters de densidades variadas, encontra o número ideal de grupos e é robusto a ruídos (outliers)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740832307_2_3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318" name="Google Shape;318;g3d740832307_2_3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9" name="Google Shape;319;g3d740832307_2_3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50" y="2273425"/>
            <a:ext cx="7864775" cy="32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d740832307_2_346"/>
          <p:cNvSpPr/>
          <p:nvPr/>
        </p:nvSpPr>
        <p:spPr>
          <a:xfrm>
            <a:off x="8484500" y="2359150"/>
            <a:ext cx="2957400" cy="2570100"/>
          </a:xfrm>
          <a:prstGeom prst="wedgeRectCallout">
            <a:avLst>
              <a:gd fmla="val -169493" name="adj1"/>
              <a:gd fmla="val -2713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Precisaremos reduzir nossos embeddings de documentos para duas dimensões, pois isso nos permite plotar os documentos em um plano x/y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740832307_2_35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Artigos do ArXiv: Computação e Linguagem</a:t>
            </a:r>
            <a:endParaRPr/>
          </a:p>
        </p:txBody>
      </p:sp>
      <p:sp>
        <p:nvSpPr>
          <p:cNvPr id="327" name="Google Shape;327;g3d740832307_2_3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8" name="Google Shape;328;g3d740832307_2_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75" y="1962650"/>
            <a:ext cx="581977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d740832307_2_3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750" y="1761650"/>
            <a:ext cx="6066175" cy="45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740832307_2_367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Da Clusterização de Texto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pt-BR"/>
              <a:t>à Modelagem de Tópicos</a:t>
            </a:r>
            <a:endParaRPr/>
          </a:p>
        </p:txBody>
      </p:sp>
      <p:sp>
        <p:nvSpPr>
          <p:cNvPr id="336" name="Google Shape;336;g3d740832307_2_3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7" name="Google Shape;337;g3d740832307_2_367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Tradicionalmente, os tópicos são representados por uma série de palavras-chave, mas podem assumir outras formas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8" name="Google Shape;338;g3d740832307_2_3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d740832307_2_367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g3d740832307_2_3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7775" y="2920950"/>
            <a:ext cx="7568325" cy="37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740832307_2_380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BERTopic</a:t>
            </a:r>
            <a:endParaRPr/>
          </a:p>
        </p:txBody>
      </p:sp>
      <p:sp>
        <p:nvSpPr>
          <p:cNvPr id="347" name="Google Shape;347;g3d740832307_2_3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8" name="Google Shape;348;g3d740832307_2_380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primeira etapa do BERTopic consiste em criar agrupamentos de documentos semanticamente semelhantes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9" name="Google Shape;349;g3d740832307_2_3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d740832307_2_380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1" name="Google Shape;351;g3d740832307_2_3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6913" y="2976925"/>
            <a:ext cx="6650025" cy="361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740832307_2_393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BERTopic</a:t>
            </a:r>
            <a:endParaRPr/>
          </a:p>
        </p:txBody>
      </p:sp>
      <p:sp>
        <p:nvSpPr>
          <p:cNvPr id="358" name="Google Shape;358;g3d740832307_2_3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9" name="Google Shape;359;g3d740832307_2_393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Geração de c-TF pela contagem da frequência de palavras por cluster em vez de por documento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0" name="Google Shape;360;g3d740832307_2_3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d740832307_2_393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2" name="Google Shape;362;g3d740832307_2_3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288" y="3169825"/>
            <a:ext cx="7857275" cy="33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740832307_2_405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BERTopic</a:t>
            </a:r>
            <a:endParaRPr/>
          </a:p>
        </p:txBody>
      </p:sp>
      <p:sp>
        <p:nvSpPr>
          <p:cNvPr id="369" name="Google Shape;369;g3d740832307_2_4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g3d740832307_2_405"/>
          <p:cNvSpPr txBox="1"/>
          <p:nvPr/>
        </p:nvSpPr>
        <p:spPr>
          <a:xfrm>
            <a:off x="347525" y="1997550"/>
            <a:ext cx="114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Criação de um esquema de ponderação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1" name="Google Shape;371;g3d740832307_2_4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d740832307_2_405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g3d740832307_2_4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5475" y="3062600"/>
            <a:ext cx="6212899" cy="33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740832307_2_417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BERTopic</a:t>
            </a:r>
            <a:endParaRPr/>
          </a:p>
        </p:txBody>
      </p:sp>
      <p:sp>
        <p:nvSpPr>
          <p:cNvPr id="380" name="Google Shape;380;g3d740832307_2_4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1" name="Google Shape;381;g3d740832307_2_417"/>
          <p:cNvSpPr txBox="1"/>
          <p:nvPr/>
        </p:nvSpPr>
        <p:spPr>
          <a:xfrm>
            <a:off x="347525" y="1997550"/>
            <a:ext cx="1142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segunda parte do pipeline do BERTopic é a representação dos tópicos: o cálculo do peso do termo *x* em uma classe *c*.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g3d740832307_2_4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6217" y="36526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d740832307_2_417"/>
          <p:cNvSpPr/>
          <p:nvPr/>
        </p:nvSpPr>
        <p:spPr>
          <a:xfrm>
            <a:off x="9469300" y="696851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26B73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4" name="Google Shape;384;g3d740832307_2_4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5013" y="3041825"/>
            <a:ext cx="6201975" cy="37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d740832307_2_430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BERTopic</a:t>
            </a:r>
            <a:endParaRPr/>
          </a:p>
        </p:txBody>
      </p:sp>
      <p:sp>
        <p:nvSpPr>
          <p:cNvPr id="391" name="Google Shape;391;g3d740832307_2_4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2" name="Google Shape;392;g3d740832307_2_4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4800" y="2466300"/>
            <a:ext cx="5569075" cy="23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740832307_2_441"/>
          <p:cNvSpPr txBox="1"/>
          <p:nvPr>
            <p:ph type="title"/>
          </p:nvPr>
        </p:nvSpPr>
        <p:spPr>
          <a:xfrm>
            <a:off x="415658" y="3143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BERTopic</a:t>
            </a:r>
            <a:endParaRPr/>
          </a:p>
        </p:txBody>
      </p:sp>
      <p:sp>
        <p:nvSpPr>
          <p:cNvPr id="399" name="Google Shape;399;g3d740832307_2_4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0" name="Google Shape;400;g3d740832307_2_4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925" y="1459050"/>
            <a:ext cx="9582150" cy="53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