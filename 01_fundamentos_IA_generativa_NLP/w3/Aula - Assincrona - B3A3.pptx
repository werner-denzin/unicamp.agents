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6858000" cx="12192000"/>
  <p:notesSz cx="6858000" cy="9144000"/>
  <p:embeddedFontLst>
    <p:embeddedFont>
      <p:font typeface="Roboto"/>
      <p:regular r:id="rId37"/>
      <p:bold r:id="rId38"/>
      <p:italic r:id="rId39"/>
      <p:boldItalic r:id="rId40"/>
    </p:embeddedFont>
    <p:embeddedFont>
      <p:font typeface="Merriweather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hQyJ59oQQFn8s+RD6OB5yunXMs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6.xml"/><Relationship Id="rId42" Type="http://schemas.openxmlformats.org/officeDocument/2006/relationships/font" Target="fonts/Merriweather-bold.fntdata"/><Relationship Id="rId41" Type="http://schemas.openxmlformats.org/officeDocument/2006/relationships/font" Target="fonts/Merriweather-regular.fntdata"/><Relationship Id="rId22" Type="http://schemas.openxmlformats.org/officeDocument/2006/relationships/slide" Target="slides/slide18.xml"/><Relationship Id="rId44" Type="http://schemas.openxmlformats.org/officeDocument/2006/relationships/font" Target="fonts/Merriweather-boldItalic.fntdata"/><Relationship Id="rId21" Type="http://schemas.openxmlformats.org/officeDocument/2006/relationships/slide" Target="slides/slide17.xml"/><Relationship Id="rId43" Type="http://schemas.openxmlformats.org/officeDocument/2006/relationships/font" Target="fonts/Merriweather-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Roboto-regular.fntdata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Roboto-italic.fntdata"/><Relationship Id="rId16" Type="http://schemas.openxmlformats.org/officeDocument/2006/relationships/slide" Target="slides/slide12.xml"/><Relationship Id="rId38" Type="http://schemas.openxmlformats.org/officeDocument/2006/relationships/font" Target="fonts/Roboto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5b3c3f154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2" name="Google Shape;72;g1e5b3c3f154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3eb54f4a2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d3eb54f4a2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3d3eb54f4a2_0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75861b5b7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d75861b5b7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3d75861b5b7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75861b5b7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d75861b5b7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75861b5b7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75861b5b7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d75861b5b7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3d75861b5b7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75861b5b7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d75861b5b7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d75861b5b7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75861b5b7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d75861b5b7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d75861b5b7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75861b5b7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d75861b5b7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d75861b5b7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75861b5b7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d75861b5b7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d75861b5b7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75861b5b7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d75861b5b7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d75861b5b7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75861b5b7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d75861b5b7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d75861b5b7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75861b5b7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d75861b5b7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d75861b5b7_0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75861b5b7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d75861b5b7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d75861b5b7_0_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75861b5b7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d75861b5b7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d75861b5b7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75861b5b7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d75861b5b7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d75861b5b7_0_1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75861b5b7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d75861b5b7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3d75861b5b7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75861b5b7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d75861b5b7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3d75861b5b7_0_1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75861b5b7_0_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d75861b5b7_0_1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d75861b5b7_0_1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75861b5b7_0_1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d75861b5b7_0_1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g3d75861b5b7_0_1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75861b5b7_0_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d75861b5b7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d75861b5b7_0_2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75861b5b7_0_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d75861b5b7_0_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g3d75861b5b7_0_2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75861b5b7_0_2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d75861b5b7_0_2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g3d75861b5b7_0_2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75861b5b7_0_2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d75861b5b7_0_2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d75861b5b7_0_2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75861b5b7_0_2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d75861b5b7_0_2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g3d75861b5b7_0_2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75861b5b7_0_2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d75861b5b7_0_2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3d75861b5b7_0_2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75861b5b7_0_2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d75861b5b7_0_2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g3d75861b5b7_0_2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75861b5b7_0_2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d75861b5b7_0_2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g3d75861b5b7_0_2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75861b5b7_0_2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d75861b5b7_0_2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g3d75861b5b7_0_2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75861b5b7_0_3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d75861b5b7_0_3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g3d75861b5b7_0_3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75861b5b7_0_3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d75861b5b7_0_3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g3d75861b5b7_0_3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75861b5b7_0_3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d75861b5b7_0_3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d75861b5b7_0_3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d75861b5b7_0_3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d75861b5b7_0_3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g3d75861b5b7_0_3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e5b3c3f154_0_446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1e5b3c3f154_0_44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g1e5b3c3f154_0_4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e5b3c3f154_0_4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1e5b3c3f154_0_47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1e5b3c3f154_0_4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1e5b3c3f154_0_4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g1e5b3c3f154_0_4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e5b3c3f154_0_423"/>
          <p:cNvSpPr/>
          <p:nvPr/>
        </p:nvSpPr>
        <p:spPr>
          <a:xfrm>
            <a:off x="-167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5" name="Google Shape;25;g1e5b3c3f154_0_423"/>
          <p:cNvSpPr txBox="1"/>
          <p:nvPr>
            <p:ph type="ctr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g1e5b3c3f154_0_423"/>
          <p:cNvSpPr txBox="1"/>
          <p:nvPr>
            <p:ph idx="1" type="subTitle"/>
          </p:nvPr>
        </p:nvSpPr>
        <p:spPr>
          <a:xfrm>
            <a:off x="415600" y="2504747"/>
            <a:ext cx="565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" name="Google Shape;27;g1e5b3c3f154_0_4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e5b3c3f154_0_428"/>
          <p:cNvSpPr/>
          <p:nvPr/>
        </p:nvSpPr>
        <p:spPr>
          <a:xfrm>
            <a:off x="0" y="64132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0" name="Google Shape;30;g1e5b3c3f154_0_428"/>
          <p:cNvSpPr/>
          <p:nvPr/>
        </p:nvSpPr>
        <p:spPr>
          <a:xfrm>
            <a:off x="0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1" name="Google Shape;31;g1e5b3c3f154_0_428"/>
          <p:cNvSpPr txBox="1"/>
          <p:nvPr>
            <p:ph type="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g1e5b3c3f154_0_4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e5b3c3f154_0_433"/>
          <p:cNvSpPr/>
          <p:nvPr/>
        </p:nvSpPr>
        <p:spPr>
          <a:xfrm>
            <a:off x="0" y="0"/>
            <a:ext cx="5751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1e5b3c3f154_0_433"/>
          <p:cNvSpPr/>
          <p:nvPr/>
        </p:nvSpPr>
        <p:spPr>
          <a:xfrm>
            <a:off x="0" y="58833"/>
            <a:ext cx="5751356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6" name="Google Shape;36;g1e5b3c3f154_0_433"/>
          <p:cNvSpPr/>
          <p:nvPr/>
        </p:nvSpPr>
        <p:spPr>
          <a:xfrm>
            <a:off x="-167" y="0"/>
            <a:ext cx="5755723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7" name="Google Shape;37;g1e5b3c3f154_0_433"/>
          <p:cNvSpPr txBox="1"/>
          <p:nvPr>
            <p:ph type="title"/>
          </p:nvPr>
        </p:nvSpPr>
        <p:spPr>
          <a:xfrm>
            <a:off x="415633" y="667900"/>
            <a:ext cx="4941900" cy="3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g1e5b3c3f154_0_433"/>
          <p:cNvSpPr txBox="1"/>
          <p:nvPr>
            <p:ph idx="1" type="body"/>
          </p:nvPr>
        </p:nvSpPr>
        <p:spPr>
          <a:xfrm>
            <a:off x="6192900" y="667900"/>
            <a:ext cx="5555100" cy="5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1e5b3c3f154_0_4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e5b3c3f154_0_440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e5b3c3f154_0_44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g1e5b3c3f154_0_440"/>
          <p:cNvSpPr txBox="1"/>
          <p:nvPr>
            <p:ph idx="1" type="body"/>
          </p:nvPr>
        </p:nvSpPr>
        <p:spPr>
          <a:xfrm>
            <a:off x="4156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4" name="Google Shape;44;g1e5b3c3f154_0_440"/>
          <p:cNvSpPr txBox="1"/>
          <p:nvPr>
            <p:ph idx="2" type="body"/>
          </p:nvPr>
        </p:nvSpPr>
        <p:spPr>
          <a:xfrm>
            <a:off x="64432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5" name="Google Shape;45;g1e5b3c3f154_0_4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e5b3c3f154_0_450"/>
          <p:cNvSpPr/>
          <p:nvPr/>
        </p:nvSpPr>
        <p:spPr>
          <a:xfrm>
            <a:off x="0" y="0"/>
            <a:ext cx="50193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1e5b3c3f154_0_450"/>
          <p:cNvSpPr txBox="1"/>
          <p:nvPr>
            <p:ph type="title"/>
          </p:nvPr>
        </p:nvSpPr>
        <p:spPr>
          <a:xfrm>
            <a:off x="415633" y="667900"/>
            <a:ext cx="4170000" cy="24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g1e5b3c3f154_0_450"/>
          <p:cNvSpPr txBox="1"/>
          <p:nvPr>
            <p:ph idx="1" type="body"/>
          </p:nvPr>
        </p:nvSpPr>
        <p:spPr>
          <a:xfrm>
            <a:off x="415600" y="3187533"/>
            <a:ext cx="4170000" cy="30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" name="Google Shape;50;g1e5b3c3f154_0_4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e5b3c3f154_0_455"/>
          <p:cNvSpPr txBox="1"/>
          <p:nvPr>
            <p:ph type="title"/>
          </p:nvPr>
        </p:nvSpPr>
        <p:spPr>
          <a:xfrm>
            <a:off x="415567" y="1064800"/>
            <a:ext cx="8330400" cy="47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g1e5b3c3f154_0_4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e5b3c3f154_0_45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1e5b3c3f154_0_458"/>
          <p:cNvSpPr txBox="1"/>
          <p:nvPr>
            <p:ph type="title"/>
          </p:nvPr>
        </p:nvSpPr>
        <p:spPr>
          <a:xfrm>
            <a:off x="415067" y="667900"/>
            <a:ext cx="4939200" cy="27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g1e5b3c3f154_0_458"/>
          <p:cNvSpPr txBox="1"/>
          <p:nvPr>
            <p:ph idx="1" type="subTitle"/>
          </p:nvPr>
        </p:nvSpPr>
        <p:spPr>
          <a:xfrm>
            <a:off x="406400" y="3502300"/>
            <a:ext cx="49392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g1e5b3c3f154_0_458"/>
          <p:cNvSpPr txBox="1"/>
          <p:nvPr>
            <p:ph idx="2" type="body"/>
          </p:nvPr>
        </p:nvSpPr>
        <p:spPr>
          <a:xfrm>
            <a:off x="6505367" y="667900"/>
            <a:ext cx="5271900" cy="5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9" name="Google Shape;59;g1e5b3c3f154_0_4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e5b3c3f154_0_464"/>
          <p:cNvSpPr/>
          <p:nvPr/>
        </p:nvSpPr>
        <p:spPr>
          <a:xfrm>
            <a:off x="0" y="5825333"/>
            <a:ext cx="12192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1e5b3c3f154_0_464"/>
          <p:cNvSpPr txBox="1"/>
          <p:nvPr>
            <p:ph idx="1" type="body"/>
          </p:nvPr>
        </p:nvSpPr>
        <p:spPr>
          <a:xfrm>
            <a:off x="415600" y="6028533"/>
            <a:ext cx="106392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63" name="Google Shape;63;g1e5b3c3f154_0_46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e5b3c3f154_0_468"/>
          <p:cNvSpPr txBox="1"/>
          <p:nvPr>
            <p:ph hasCustomPrompt="1" type="title"/>
          </p:nvPr>
        </p:nvSpPr>
        <p:spPr>
          <a:xfrm>
            <a:off x="415667" y="1108233"/>
            <a:ext cx="71133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g1e5b3c3f154_0_468"/>
          <p:cNvSpPr txBox="1"/>
          <p:nvPr>
            <p:ph idx="1" type="body"/>
          </p:nvPr>
        </p:nvSpPr>
        <p:spPr>
          <a:xfrm>
            <a:off x="415600" y="2828567"/>
            <a:ext cx="7113300" cy="12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7" name="Google Shape;67;g1e5b3c3f154_0_46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e5b3c3f154_0_4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e5b3c3f154_0_4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1" name="Google Shape;11;g1e5b3c3f154_0_41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g1e5b3c3f154_0_4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huggingface.co/datasets/HuggingFaceH4/ultrachat_200k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hyperlink" Target="https://huggingface.co/docs/trl/sft_trainer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hyperlink" Target="https://wandb.ai/site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huggingface.co/datasets/argilla/distilabel-intel-orca-dpo-pairs" TargetMode="External"/><Relationship Id="rId4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9.png"/><Relationship Id="rId4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e5b3c3f154_0_189"/>
          <p:cNvSpPr txBox="1"/>
          <p:nvPr/>
        </p:nvSpPr>
        <p:spPr>
          <a:xfrm>
            <a:off x="108151" y="5088650"/>
            <a:ext cx="9714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sng" cap="none" strike="noStrike">
                <a:solidFill>
                  <a:srgbClr val="31394D"/>
                </a:solidFill>
                <a:latin typeface="Calibri"/>
                <a:ea typeface="Calibri"/>
                <a:cs typeface="Calibri"/>
                <a:sym typeface="Calibri"/>
              </a:rPr>
              <a:t>Prof. Dr. Rodrigo Bonacin</a:t>
            </a:r>
            <a:endParaRPr b="1" i="0" sz="2400" u="sng" cap="none" strike="noStrike">
              <a:solidFill>
                <a:srgbClr val="3139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31394D"/>
                </a:solidFill>
                <a:latin typeface="Calibri"/>
                <a:ea typeface="Calibri"/>
                <a:cs typeface="Calibri"/>
                <a:sym typeface="Calibri"/>
              </a:rPr>
              <a:t>rbonacin@unicamp.br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1e5b3c3f154_0_189"/>
          <p:cNvSpPr txBox="1"/>
          <p:nvPr>
            <p:ph type="title"/>
          </p:nvPr>
        </p:nvSpPr>
        <p:spPr>
          <a:xfrm>
            <a:off x="108150" y="3100700"/>
            <a:ext cx="11975700" cy="185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 fino de modelos de LLM com o QLoRA</a:t>
            </a:r>
            <a:endParaRPr sz="4000"/>
          </a:p>
        </p:txBody>
      </p:sp>
      <p:pic>
        <p:nvPicPr>
          <p:cNvPr id="76" name="Google Shape;76;g1e5b3c3f154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675" y="270775"/>
            <a:ext cx="977781" cy="1108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1e5b3c3f154_0_189" title="logo-ic-unicamp-slant-line-wht-sky-ora-048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1950" y="194775"/>
            <a:ext cx="1471758" cy="12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3eb54f4a2_0_14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Ajuste de instruções com QLoRA</a:t>
            </a:r>
            <a:endParaRPr/>
          </a:p>
        </p:txBody>
      </p:sp>
      <p:sp>
        <p:nvSpPr>
          <p:cNvPr id="84" name="Google Shape;84;g3d3eb54f4a2_0_14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5" name="Google Shape;85;g3d3eb54f4a2_0_145"/>
          <p:cNvSpPr txBox="1"/>
          <p:nvPr/>
        </p:nvSpPr>
        <p:spPr>
          <a:xfrm>
            <a:off x="347525" y="1997550"/>
            <a:ext cx="114288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Modelos base (como o Llama 3 ou Mistral originais) são treinados em vastas quantidades de texto da internet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você der a eles o prompt "Escreva um poema sobre o mar", eles podem simplesmente completar com "e sobre a areia" em vez de realmente escrever o poema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ajuste de instruções é o processo de treinar (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fine-tuning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o modelo em um conjunto de dados formatado em pares de Pergunta/Resposta (ou Instrução/Saída)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Isso ensina o modelo a entender que ele deve obedecer ao comando do usuário</a:t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75861b5b7_0_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Ajuste de instruções com QLoRA</a:t>
            </a:r>
            <a:endParaRPr/>
          </a:p>
        </p:txBody>
      </p:sp>
      <p:sp>
        <p:nvSpPr>
          <p:cNvPr id="92" name="Google Shape;92;g3d75861b5b7_0_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3" name="Google Shape;93;g3d75861b5b7_0_2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 que o LLM siga as instruções, precisaremos preparar dados de instrução que sigam um modelo de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chat</a:t>
            </a:r>
            <a:endParaRPr b="0" i="1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" name="Google Shape;94;g3d75861b5b7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6217" y="365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d75861b5b7_0_2"/>
          <p:cNvSpPr/>
          <p:nvPr/>
        </p:nvSpPr>
        <p:spPr>
          <a:xfrm>
            <a:off x="9469300" y="6968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6" name="Google Shape;96;g3d75861b5b7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0075" y="3084025"/>
            <a:ext cx="8143700" cy="342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75861b5b7_0_1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Ajuste de instruções com QLoRA</a:t>
            </a:r>
            <a:endParaRPr/>
          </a:p>
        </p:txBody>
      </p:sp>
      <p:sp>
        <p:nvSpPr>
          <p:cNvPr id="103" name="Google Shape;103;g3d75861b5b7_0_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4" name="Google Shape;104;g3d75861b5b7_0_14"/>
          <p:cNvSpPr txBox="1"/>
          <p:nvPr/>
        </p:nvSpPr>
        <p:spPr>
          <a:xfrm>
            <a:off x="347525" y="1997550"/>
            <a:ext cx="115683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Usaremos um modelo de chat em todos os exemplos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Este formato é baseado no TinyLlama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Usaremos um pequeno subconjunto do conjunto de dados UltraChat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https://huggingface.co/datasets/HuggingFaceH4/ultrachat_200k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Este conjunto de dados é uma versão filtrada do conjunto de dados UltraChat original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Contém quase 200 mil conversas entre um usuário e um LLM.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75861b5b7_0_2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UltraChat 200k</a:t>
            </a:r>
            <a:endParaRPr/>
          </a:p>
        </p:txBody>
      </p:sp>
      <p:sp>
        <p:nvSpPr>
          <p:cNvPr id="111" name="Google Shape;111;g3d75861b5b7_0_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2" name="Google Shape;112;g3d75861b5b7_0_23"/>
          <p:cNvSpPr txBox="1"/>
          <p:nvPr/>
        </p:nvSpPr>
        <p:spPr>
          <a:xfrm>
            <a:off x="347525" y="1997550"/>
            <a:ext cx="115683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Versão filtrada do conjunto de dados UltraChat e foi usada para treinar o Zephyr-7B-β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conjunto de dados original consiste em 1,4 milhão de diálogos gerados pelo ChatGPT, abrangendo uma ampla gama de tópicos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 criar o UltraChat 200k, foi aplicada a seguinte lógica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Seleção de um subconjunto de dados para um ajuste fino supervisionado mais rápido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Correção de maiúsculas e minúsculas no conjunto de dados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Remoção de diálogos em que o assistente responde com frases como "Eu não tenho emoções" ou "Eu não tenho opiniões", em perguntas baseadas em fatos que não envolvem nenhuma delas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75861b5b7_0_3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Ajuste de instruções com QLoRA</a:t>
            </a:r>
            <a:endParaRPr/>
          </a:p>
        </p:txBody>
      </p:sp>
      <p:sp>
        <p:nvSpPr>
          <p:cNvPr id="119" name="Google Shape;119;g3d75861b5b7_0_3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0" name="Google Shape;120;g3d75861b5b7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25" y="1930500"/>
            <a:ext cx="9344025" cy="459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d75861b5b7_0_34"/>
          <p:cNvSpPr/>
          <p:nvPr/>
        </p:nvSpPr>
        <p:spPr>
          <a:xfrm>
            <a:off x="9215450" y="2989650"/>
            <a:ext cx="2657700" cy="1596600"/>
          </a:xfrm>
          <a:prstGeom prst="wedgeRectCallout">
            <a:avLst>
              <a:gd fmla="val -78627" name="adj1"/>
              <a:gd fmla="val -3689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Criamos uma função, format_prompt, para garantir que as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conversas sigam este modelo.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" name="Google Shape;122;g3d75861b5b7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625" y="1499500"/>
            <a:ext cx="5305775" cy="3852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3" name="Google Shape;123;g3d75861b5b7_0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49950" y="5178000"/>
            <a:ext cx="1276350" cy="685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g3d75861b5b7_0_34"/>
          <p:cNvCxnSpPr>
            <a:endCxn id="123" idx="1"/>
          </p:cNvCxnSpPr>
          <p:nvPr/>
        </p:nvCxnSpPr>
        <p:spPr>
          <a:xfrm>
            <a:off x="9815650" y="5336400"/>
            <a:ext cx="5343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75861b5b7_0_4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Ajuste de instruções com QLoRA</a:t>
            </a:r>
            <a:endParaRPr/>
          </a:p>
        </p:txBody>
      </p:sp>
      <p:sp>
        <p:nvSpPr>
          <p:cNvPr id="131" name="Google Shape;131;g3d75861b5b7_0_4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2" name="Google Shape;132;g3d75861b5b7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25" y="1930500"/>
            <a:ext cx="9344025" cy="459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d75861b5b7_0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613" y="4461438"/>
            <a:ext cx="10277475" cy="1895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75861b5b7_0_5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Quantização de Modelos</a:t>
            </a:r>
            <a:endParaRPr/>
          </a:p>
        </p:txBody>
      </p:sp>
      <p:sp>
        <p:nvSpPr>
          <p:cNvPr id="140" name="Google Shape;140;g3d75861b5b7_0_5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1" name="Google Shape;141;g3d75861b5b7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50" y="1930525"/>
            <a:ext cx="7086175" cy="37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d75861b5b7_0_53"/>
          <p:cNvSpPr/>
          <p:nvPr/>
        </p:nvSpPr>
        <p:spPr>
          <a:xfrm>
            <a:off x="7972425" y="2110975"/>
            <a:ext cx="3846900" cy="3386100"/>
          </a:xfrm>
          <a:prstGeom prst="wedgeRectCallout">
            <a:avLst>
              <a:gd fmla="val -77298" name="adj1"/>
              <a:gd fmla="val -8131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Agora aplicamos o Q em QLoRA, ou seja, a quantização. 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Usamos o pacote bitsandbytes para comprimir o modelo pré-treinado em uma representação de 4 bits.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Em BitsAndBytesConfig, você pode definir o esquema de quantização: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Em seguida chamamos o modelo de acordo com a configuração.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75861b5b7_0_6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Quantização de Modelos</a:t>
            </a:r>
            <a:endParaRPr/>
          </a:p>
        </p:txBody>
      </p:sp>
      <p:sp>
        <p:nvSpPr>
          <p:cNvPr id="149" name="Google Shape;149;g3d75861b5b7_0_6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0" name="Google Shape;150;g3d75861b5b7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425" y="2637725"/>
            <a:ext cx="7659376" cy="14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d75861b5b7_0_63"/>
          <p:cNvSpPr/>
          <p:nvPr/>
        </p:nvSpPr>
        <p:spPr>
          <a:xfrm>
            <a:off x="8390325" y="2775350"/>
            <a:ext cx="3182700" cy="1660800"/>
          </a:xfrm>
          <a:prstGeom prst="wedgeRectCallout">
            <a:avLst>
              <a:gd fmla="val -57743" name="adj1"/>
              <a:gd fmla="val -1515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Chamamos o tokenizador do LLaMA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75861b5b7_0_7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Configuração do </a:t>
            </a:r>
            <a:r>
              <a:rPr lang="pt-BR"/>
              <a:t>LoRA</a:t>
            </a:r>
            <a:endParaRPr/>
          </a:p>
        </p:txBody>
      </p:sp>
      <p:sp>
        <p:nvSpPr>
          <p:cNvPr id="158" name="Google Shape;158;g3d75861b5b7_0_7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9" name="Google Shape;159;g3d75861b5b7_0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00" y="2230525"/>
            <a:ext cx="7641500" cy="380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d75861b5b7_0_73"/>
          <p:cNvSpPr/>
          <p:nvPr/>
        </p:nvSpPr>
        <p:spPr>
          <a:xfrm>
            <a:off x="8390325" y="2775350"/>
            <a:ext cx="3439800" cy="3664800"/>
          </a:xfrm>
          <a:prstGeom prst="wedgeRectCallout">
            <a:avLst>
              <a:gd fmla="val -68379" name="adj1"/>
              <a:gd fmla="val -1432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Configuramos parâmetros do LoRA: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i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lora_alpha:</a:t>
            </a: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Controla a quantidade de alteração adicionada aos pesos originais. Em essência, equilibra o conhecimento do modelo original com o da nova tarefa. Uma regra prática é escolher um valor duas vezes maior que r.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i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Tamanho das matrizes do LoRA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i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target_modules</a:t>
            </a: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Controla quais camadas devem ser alvo do treinamento. O procedimento LoRa pode optar por ignorar camadas específicas, como camadas de projeção específicas. Isso pode acelerar o treinamento, mas reduzir o desempenho, e vice-versa.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75861b5b7_0_8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Configuração de Treinamento</a:t>
            </a:r>
            <a:endParaRPr/>
          </a:p>
        </p:txBody>
      </p:sp>
      <p:sp>
        <p:nvSpPr>
          <p:cNvPr id="167" name="Google Shape;167;g3d75861b5b7_0_8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68" name="Google Shape;168;g3d75861b5b7_0_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25" y="1823350"/>
            <a:ext cx="5467249" cy="49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d75861b5b7_0_82"/>
          <p:cNvSpPr/>
          <p:nvPr/>
        </p:nvSpPr>
        <p:spPr>
          <a:xfrm>
            <a:off x="7565225" y="2946800"/>
            <a:ext cx="3182700" cy="1660800"/>
          </a:xfrm>
          <a:prstGeom prst="wedgeRectCallout">
            <a:avLst>
              <a:gd fmla="val -57743" name="adj1"/>
              <a:gd fmla="val -1515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Configura os parâmetros de treinamento tais como, número de épocas, taxa de treinamento, otimizador, etc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Detalhes em: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https://huggingface.co/docs/trl/sft_trainer</a:t>
            </a: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75861b5b7_0_10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Treinamento e Salvar</a:t>
            </a:r>
            <a:endParaRPr/>
          </a:p>
        </p:txBody>
      </p:sp>
      <p:sp>
        <p:nvSpPr>
          <p:cNvPr id="176" name="Google Shape;176;g3d75861b5b7_0_10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7" name="Google Shape;177;g3d75861b5b7_0_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00" y="1769775"/>
            <a:ext cx="1730850" cy="57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d75861b5b7_0_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000" y="2499125"/>
            <a:ext cx="645795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d75861b5b7_0_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000" y="4118375"/>
            <a:ext cx="4581525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d75861b5b7_0_1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000" y="5899550"/>
            <a:ext cx="5599038" cy="57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d75861b5b7_0_105"/>
          <p:cNvSpPr/>
          <p:nvPr/>
        </p:nvSpPr>
        <p:spPr>
          <a:xfrm>
            <a:off x="7222325" y="1821675"/>
            <a:ext cx="3182700" cy="621600"/>
          </a:xfrm>
          <a:prstGeom prst="wedgeRectCallout">
            <a:avLst>
              <a:gd fmla="val -87035" name="adj1"/>
              <a:gd fmla="val -1552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Executa o treinamento.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g3d75861b5b7_0_105"/>
          <p:cNvSpPr/>
          <p:nvPr/>
        </p:nvSpPr>
        <p:spPr>
          <a:xfrm>
            <a:off x="7222325" y="2836025"/>
            <a:ext cx="3182700" cy="621600"/>
          </a:xfrm>
          <a:prstGeom prst="wedgeRectCallout">
            <a:avLst>
              <a:gd fmla="val -87035" name="adj1"/>
              <a:gd fmla="val -1552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Criar um conta no W&amp;B …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https://wandb.ai/site/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(falilita gravar e acessar)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g3d75861b5b7_0_105"/>
          <p:cNvSpPr/>
          <p:nvPr/>
        </p:nvSpPr>
        <p:spPr>
          <a:xfrm>
            <a:off x="6963950" y="4049275"/>
            <a:ext cx="3182700" cy="621600"/>
          </a:xfrm>
          <a:prstGeom prst="wedgeRectCallout">
            <a:avLst>
              <a:gd fmla="val -87035" name="adj1"/>
              <a:gd fmla="val -1552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 Colab Gratuito pode demorar mais muito mais. Lembre de estar no ambiente de GPU.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g3d75861b5b7_0_105"/>
          <p:cNvSpPr/>
          <p:nvPr/>
        </p:nvSpPr>
        <p:spPr>
          <a:xfrm>
            <a:off x="7437825" y="5991175"/>
            <a:ext cx="3182700" cy="621600"/>
          </a:xfrm>
          <a:prstGeom prst="wedgeRectCallout">
            <a:avLst>
              <a:gd fmla="val -87035" name="adj1"/>
              <a:gd fmla="val -1552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Salva o Modelo.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75861b5b7_0_9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Mesclar os Pesos</a:t>
            </a:r>
            <a:endParaRPr/>
          </a:p>
        </p:txBody>
      </p:sp>
      <p:sp>
        <p:nvSpPr>
          <p:cNvPr id="191" name="Google Shape;191;g3d75861b5b7_0_9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92" name="Google Shape;192;g3d75861b5b7_0_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350" y="2037675"/>
            <a:ext cx="4412875" cy="13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d75861b5b7_0_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350" y="3827850"/>
            <a:ext cx="4137050" cy="64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d75861b5b7_0_91"/>
          <p:cNvSpPr/>
          <p:nvPr/>
        </p:nvSpPr>
        <p:spPr>
          <a:xfrm>
            <a:off x="7222325" y="1821675"/>
            <a:ext cx="3182700" cy="621600"/>
          </a:xfrm>
          <a:prstGeom prst="wedgeRectCallout">
            <a:avLst>
              <a:gd fmla="val -87035" name="adj1"/>
              <a:gd fmla="val -1552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Mescla o modelo prétreinado com o ajustado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75861b5b7_0_11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Executando Exemplos</a:t>
            </a:r>
            <a:endParaRPr/>
          </a:p>
        </p:txBody>
      </p:sp>
      <p:sp>
        <p:nvSpPr>
          <p:cNvPr id="201" name="Google Shape;201;g3d75861b5b7_0_1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02" name="Google Shape;202;g3d75861b5b7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550" y="1543550"/>
            <a:ext cx="6736550" cy="283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d75861b5b7_0_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8575" y="4500575"/>
            <a:ext cx="8297949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75861b5b7_0_12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Executando Exemplos - Modelo Base</a:t>
            </a:r>
            <a:endParaRPr/>
          </a:p>
        </p:txBody>
      </p:sp>
      <p:sp>
        <p:nvSpPr>
          <p:cNvPr id="210" name="Google Shape;210;g3d75861b5b7_0_12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1" name="Google Shape;211;g3d75861b5b7_0_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25" y="2230550"/>
            <a:ext cx="7362825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75861b5b7_0_13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Executando Exemplos - Modelo Ajustado</a:t>
            </a:r>
            <a:endParaRPr/>
          </a:p>
        </p:txBody>
      </p:sp>
      <p:sp>
        <p:nvSpPr>
          <p:cNvPr id="218" name="Google Shape;218;g3d75861b5b7_0_1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9" name="Google Shape;219;g3d75861b5b7_0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200" y="1930500"/>
            <a:ext cx="5655451" cy="438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75861b5b7_0_16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Ajuste de Preferências </a:t>
            </a:r>
            <a:endParaRPr/>
          </a:p>
        </p:txBody>
      </p:sp>
      <p:sp>
        <p:nvSpPr>
          <p:cNvPr id="226" name="Google Shape;226;g3d75861b5b7_0_16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27" name="Google Shape;227;g3d75861b5b7_0_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950" y="2669875"/>
            <a:ext cx="8327426" cy="394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d75861b5b7_0_162"/>
          <p:cNvSpPr txBox="1"/>
          <p:nvPr/>
        </p:nvSpPr>
        <p:spPr>
          <a:xfrm>
            <a:off x="261775" y="1901125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Utilize um avaliador de preferências (humano ou não) para avaliar a qualidade da geração</a:t>
            </a:r>
            <a:endParaRPr b="0" i="1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9" name="Google Shape;229;g3d75861b5b7_0_1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16217" y="365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d75861b5b7_0_162"/>
          <p:cNvSpPr/>
          <p:nvPr/>
        </p:nvSpPr>
        <p:spPr>
          <a:xfrm>
            <a:off x="9469300" y="6968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75861b5b7_0_17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Ajuste de Preferências </a:t>
            </a:r>
            <a:endParaRPr/>
          </a:p>
        </p:txBody>
      </p:sp>
      <p:sp>
        <p:nvSpPr>
          <p:cNvPr id="237" name="Google Shape;237;g3d75861b5b7_0_17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8" name="Google Shape;238;g3d75861b5b7_0_177"/>
          <p:cNvSpPr txBox="1"/>
          <p:nvPr/>
        </p:nvSpPr>
        <p:spPr>
          <a:xfrm>
            <a:off x="261775" y="1901125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métodos de ajuste de preferências atualizam o LLM com base na pontuação da avaliação</a:t>
            </a:r>
            <a:endParaRPr b="0" i="1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9" name="Google Shape;239;g3d75861b5b7_0_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6217" y="365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d75861b5b7_0_177"/>
          <p:cNvSpPr/>
          <p:nvPr/>
        </p:nvSpPr>
        <p:spPr>
          <a:xfrm>
            <a:off x="9469300" y="6968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1" name="Google Shape;241;g3d75861b5b7_0_1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1188" y="3319825"/>
            <a:ext cx="6577024" cy="253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75861b5b7_0_189"/>
          <p:cNvSpPr txBox="1"/>
          <p:nvPr>
            <p:ph type="title"/>
          </p:nvPr>
        </p:nvSpPr>
        <p:spPr>
          <a:xfrm>
            <a:off x="415658" y="442875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Automatizando a avaliação de preferências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usando Modelos de recompensa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48" name="Google Shape;248;g3d75861b5b7_0_18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9" name="Google Shape;249;g3d75861b5b7_0_189"/>
          <p:cNvSpPr txBox="1"/>
          <p:nvPr/>
        </p:nvSpPr>
        <p:spPr>
          <a:xfrm>
            <a:off x="261775" y="1901125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LLM se torna um modelo de recompensa ao substituir seu cabeçalho por um cabeçalho de classificação de qualidade</a:t>
            </a:r>
            <a:endParaRPr b="0" i="1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g3d75861b5b7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6217" y="365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d75861b5b7_0_189"/>
          <p:cNvSpPr/>
          <p:nvPr/>
        </p:nvSpPr>
        <p:spPr>
          <a:xfrm>
            <a:off x="9469300" y="6968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2" name="Google Shape;252;g3d75861b5b7_0_1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6150" y="2863675"/>
            <a:ext cx="7552151" cy="17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d75861b5b7_0_1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7163" y="4776900"/>
            <a:ext cx="8283024" cy="171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d75861b5b7_0_189"/>
          <p:cNvSpPr/>
          <p:nvPr/>
        </p:nvSpPr>
        <p:spPr>
          <a:xfrm rot="7757968">
            <a:off x="9613430" y="4978402"/>
            <a:ext cx="1443698" cy="524638"/>
          </a:xfrm>
          <a:prstGeom prst="rightArrow">
            <a:avLst>
              <a:gd fmla="val 4797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75861b5b7_0_204"/>
          <p:cNvSpPr txBox="1"/>
          <p:nvPr>
            <p:ph type="title"/>
          </p:nvPr>
        </p:nvSpPr>
        <p:spPr>
          <a:xfrm>
            <a:off x="415658" y="442875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Automatizando a avaliação de preferências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usando Modelos de recompensa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61" name="Google Shape;261;g3d75861b5b7_0_20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2" name="Google Shape;262;g3d75861b5b7_0_204"/>
          <p:cNvSpPr txBox="1"/>
          <p:nvPr/>
        </p:nvSpPr>
        <p:spPr>
          <a:xfrm>
            <a:off x="261775" y="1901125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Podemos usar múltiplos modelos de recompensa para realizar a pontuação</a:t>
            </a:r>
            <a:endParaRPr b="0" i="1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3" name="Google Shape;263;g3d75861b5b7_0_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6217" y="365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d75861b5b7_0_204"/>
          <p:cNvSpPr/>
          <p:nvPr/>
        </p:nvSpPr>
        <p:spPr>
          <a:xfrm>
            <a:off x="9469300" y="6968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g3d75861b5b7_0_2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6225" y="3234075"/>
            <a:ext cx="6739700" cy="330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75861b5b7_0_218"/>
          <p:cNvSpPr txBox="1"/>
          <p:nvPr>
            <p:ph type="title"/>
          </p:nvPr>
        </p:nvSpPr>
        <p:spPr>
          <a:xfrm>
            <a:off x="415658" y="442875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Direct Preference Optimization (DPO)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72" name="Google Shape;272;g3d75861b5b7_0_2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3" name="Google Shape;273;g3d75861b5b7_0_218"/>
          <p:cNvSpPr txBox="1"/>
          <p:nvPr/>
        </p:nvSpPr>
        <p:spPr>
          <a:xfrm>
            <a:off x="261775" y="1901125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 o próprio LLM como modelo de recompensa, comparando a saída de um modelo congelado com a do modelo treinável</a:t>
            </a:r>
            <a:endParaRPr b="0" i="1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4" name="Google Shape;274;g3d75861b5b7_0_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6217" y="365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d75861b5b7_0_218"/>
          <p:cNvSpPr/>
          <p:nvPr/>
        </p:nvSpPr>
        <p:spPr>
          <a:xfrm>
            <a:off x="9469300" y="6968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6" name="Google Shape;276;g3d75861b5b7_0_2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4188" y="2824525"/>
            <a:ext cx="6643983" cy="385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75861b5b7_0_231"/>
          <p:cNvSpPr txBox="1"/>
          <p:nvPr>
            <p:ph type="title"/>
          </p:nvPr>
        </p:nvSpPr>
        <p:spPr>
          <a:xfrm>
            <a:off x="415658" y="442875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Direct Preference Optimization (DPO)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83" name="Google Shape;283;g3d75861b5b7_0_2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4" name="Google Shape;284;g3d75861b5b7_0_231"/>
          <p:cNvSpPr txBox="1"/>
          <p:nvPr/>
        </p:nvSpPr>
        <p:spPr>
          <a:xfrm>
            <a:off x="261775" y="1901125"/>
            <a:ext cx="11428800" cy="42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processo funciona em três passos: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Passo 1.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Criação do Conjunto de Dados de Preferência, com respotas possíveis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Prompt: "Como invadir um banco?"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Resposta yw (Vencedora/Segura): "Não posso ajudar com atividades ilegais."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Resposta y_l (Perdedora/Insegura): "Aqui está um tutorial..."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Passo 2.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 Modelo de Referência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DPO utiliza uma cópia congelada do modelo original (que já passou pelo Supervised Fine-Tuning - SFT)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Esse modelo serve como âncora: queremos mudar o comportamento da rede, mas não queremos que ela desaprenda a falar português ou "esqueça" conhecimentos gerais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75861b5b7_0_246"/>
          <p:cNvSpPr txBox="1"/>
          <p:nvPr>
            <p:ph type="title"/>
          </p:nvPr>
        </p:nvSpPr>
        <p:spPr>
          <a:xfrm>
            <a:off x="415658" y="442875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Direct Preference Optimization (DPO)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91" name="Google Shape;291;g3d75861b5b7_0_2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2" name="Google Shape;292;g3d75861b5b7_0_246"/>
          <p:cNvSpPr txBox="1"/>
          <p:nvPr/>
        </p:nvSpPr>
        <p:spPr>
          <a:xfrm>
            <a:off x="261775" y="1901125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processo funciona em três passos: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Passo 3.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Função de Perda (Loss Function)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3" name="Google Shape;293;g3d75861b5b7_0_2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600" y="2987625"/>
            <a:ext cx="6866325" cy="313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d75861b5b7_0_246"/>
          <p:cNvSpPr txBox="1"/>
          <p:nvPr/>
        </p:nvSpPr>
        <p:spPr>
          <a:xfrm>
            <a:off x="5124400" y="6124100"/>
            <a:ext cx="253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Gerada pelo : Gemini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75861b5b7_0_256"/>
          <p:cNvSpPr txBox="1"/>
          <p:nvPr>
            <p:ph type="title"/>
          </p:nvPr>
        </p:nvSpPr>
        <p:spPr>
          <a:xfrm>
            <a:off x="415658" y="442875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Exemplo: DPO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01" name="Google Shape;301;g3d75861b5b7_0_25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2" name="Google Shape;302;g3d75861b5b7_0_256"/>
          <p:cNvSpPr txBox="1"/>
          <p:nvPr/>
        </p:nvSpPr>
        <p:spPr>
          <a:xfrm>
            <a:off x="261775" y="1901125"/>
            <a:ext cx="114288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Utilizaremos os seguinte dataset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https://huggingface.co/datasets/argilla/distilabel-intel-orca-dpo-pairs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3" name="Google Shape;303;g3d75861b5b7_0_2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1275" y="3218300"/>
            <a:ext cx="4862996" cy="344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75861b5b7_0_266"/>
          <p:cNvSpPr txBox="1"/>
          <p:nvPr>
            <p:ph type="title"/>
          </p:nvPr>
        </p:nvSpPr>
        <p:spPr>
          <a:xfrm>
            <a:off x="415658" y="442875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Exemplo: DPO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10" name="Google Shape;310;g3d75861b5b7_0_26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11" name="Google Shape;311;g3d75861b5b7_0_2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275" y="1463600"/>
            <a:ext cx="5600598" cy="527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d75861b5b7_0_266"/>
          <p:cNvSpPr/>
          <p:nvPr/>
        </p:nvSpPr>
        <p:spPr>
          <a:xfrm>
            <a:off x="8229600" y="2946800"/>
            <a:ext cx="2529000" cy="1307400"/>
          </a:xfrm>
          <a:prstGeom prst="wedgeRectCallout">
            <a:avLst>
              <a:gd fmla="val -84744" name="adj1"/>
              <a:gd fmla="val 163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Prepara o dataset para o treinamento. 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g3d75861b5b7_0_266"/>
          <p:cNvSpPr/>
          <p:nvPr/>
        </p:nvSpPr>
        <p:spPr>
          <a:xfrm>
            <a:off x="8178400" y="4727975"/>
            <a:ext cx="2529000" cy="1307400"/>
          </a:xfrm>
          <a:prstGeom prst="wedgeRectCallout">
            <a:avLst>
              <a:gd fmla="val -84744" name="adj1"/>
              <a:gd fmla="val 163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Apenas valores acima de 8.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75861b5b7_0_275"/>
          <p:cNvSpPr txBox="1"/>
          <p:nvPr>
            <p:ph type="title"/>
          </p:nvPr>
        </p:nvSpPr>
        <p:spPr>
          <a:xfrm>
            <a:off x="415658" y="442875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Exemplo: DPO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20" name="Google Shape;320;g3d75861b5b7_0_27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21" name="Google Shape;321;g3d75861b5b7_0_2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925" y="1949079"/>
            <a:ext cx="6185104" cy="445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g3d75861b5b7_0_275"/>
          <p:cNvSpPr/>
          <p:nvPr/>
        </p:nvSpPr>
        <p:spPr>
          <a:xfrm>
            <a:off x="8229600" y="2946800"/>
            <a:ext cx="2529000" cy="1307400"/>
          </a:xfrm>
          <a:prstGeom prst="wedgeRectCallout">
            <a:avLst>
              <a:gd fmla="val -84744" name="adj1"/>
              <a:gd fmla="val 163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Configuração</a:t>
            </a: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para Quantificação de 4 bits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g3d75861b5b7_0_275"/>
          <p:cNvSpPr/>
          <p:nvPr/>
        </p:nvSpPr>
        <p:spPr>
          <a:xfrm>
            <a:off x="8360575" y="4760125"/>
            <a:ext cx="2529000" cy="1307400"/>
          </a:xfrm>
          <a:prstGeom prst="wedgeRectCallout">
            <a:avLst>
              <a:gd fmla="val -84744" name="adj1"/>
              <a:gd fmla="val 163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Junta os modelos de base e QLoRA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75861b5b7_0_283"/>
          <p:cNvSpPr txBox="1"/>
          <p:nvPr>
            <p:ph type="title"/>
          </p:nvPr>
        </p:nvSpPr>
        <p:spPr>
          <a:xfrm>
            <a:off x="415658" y="442875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Exemplo: DPO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30" name="Google Shape;330;g3d75861b5b7_0_28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1" name="Google Shape;331;g3d75861b5b7_0_2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300" y="2059100"/>
            <a:ext cx="7392775" cy="155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3d75861b5b7_0_2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300" y="3795725"/>
            <a:ext cx="6800000" cy="279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3d75861b5b7_0_283"/>
          <p:cNvSpPr/>
          <p:nvPr/>
        </p:nvSpPr>
        <p:spPr>
          <a:xfrm>
            <a:off x="8574875" y="2059100"/>
            <a:ext cx="2529000" cy="1307400"/>
          </a:xfrm>
          <a:prstGeom prst="wedgeRectCallout">
            <a:avLst>
              <a:gd fmla="val -84744" name="adj1"/>
              <a:gd fmla="val 163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Chama o tokenizador apropriado ao modelo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g3d75861b5b7_0_283"/>
          <p:cNvSpPr/>
          <p:nvPr/>
        </p:nvSpPr>
        <p:spPr>
          <a:xfrm>
            <a:off x="8620125" y="3795725"/>
            <a:ext cx="2529000" cy="1307400"/>
          </a:xfrm>
          <a:prstGeom prst="wedgeRectCallout">
            <a:avLst>
              <a:gd fmla="val -84744" name="adj1"/>
              <a:gd fmla="val 163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Configuração dos </a:t>
            </a: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parâmetros</a:t>
            </a: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do LoRA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g3d75861b5b7_0_283"/>
          <p:cNvSpPr/>
          <p:nvPr/>
        </p:nvSpPr>
        <p:spPr>
          <a:xfrm>
            <a:off x="8708225" y="5282700"/>
            <a:ext cx="2529000" cy="1307400"/>
          </a:xfrm>
          <a:prstGeom prst="wedgeRectCallout">
            <a:avLst>
              <a:gd fmla="val -87145" name="adj1"/>
              <a:gd fmla="val 28691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Prepara o modelo para ser ajustado com DPO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75861b5b7_0_293"/>
          <p:cNvSpPr txBox="1"/>
          <p:nvPr>
            <p:ph type="title"/>
          </p:nvPr>
        </p:nvSpPr>
        <p:spPr>
          <a:xfrm>
            <a:off x="415658" y="442875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Exemplo: DPO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42" name="Google Shape;342;g3d75861b5b7_0_29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43" name="Google Shape;343;g3d75861b5b7_0_2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75" y="1973350"/>
            <a:ext cx="3608775" cy="399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3d75861b5b7_0_293"/>
          <p:cNvSpPr/>
          <p:nvPr/>
        </p:nvSpPr>
        <p:spPr>
          <a:xfrm>
            <a:off x="8620125" y="3795725"/>
            <a:ext cx="2529000" cy="1307400"/>
          </a:xfrm>
          <a:prstGeom prst="wedgeRectCallout">
            <a:avLst>
              <a:gd fmla="val -84744" name="adj1"/>
              <a:gd fmla="val 163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Configuração dos parâmetros do DPO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75861b5b7_0_302"/>
          <p:cNvSpPr txBox="1"/>
          <p:nvPr>
            <p:ph type="title"/>
          </p:nvPr>
        </p:nvSpPr>
        <p:spPr>
          <a:xfrm>
            <a:off x="415658" y="442875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Exemplo: DPO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51" name="Google Shape;351;g3d75861b5b7_0_30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52" name="Google Shape;352;g3d75861b5b7_0_3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825" y="2391300"/>
            <a:ext cx="5905199" cy="266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d75861b5b7_0_302"/>
          <p:cNvSpPr/>
          <p:nvPr/>
        </p:nvSpPr>
        <p:spPr>
          <a:xfrm>
            <a:off x="8620125" y="3795725"/>
            <a:ext cx="2529000" cy="1307400"/>
          </a:xfrm>
          <a:prstGeom prst="wedgeRectCallout">
            <a:avLst>
              <a:gd fmla="val -84744" name="adj1"/>
              <a:gd fmla="val 163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Cria o treinador do DPO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75861b5b7_0_310"/>
          <p:cNvSpPr txBox="1"/>
          <p:nvPr>
            <p:ph type="title"/>
          </p:nvPr>
        </p:nvSpPr>
        <p:spPr>
          <a:xfrm>
            <a:off x="415658" y="442875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Exemplo: DPO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60" name="Google Shape;360;g3d75861b5b7_0_3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61" name="Google Shape;361;g3d75861b5b7_0_3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975" y="2252000"/>
            <a:ext cx="9953625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d75861b5b7_0_310"/>
          <p:cNvSpPr/>
          <p:nvPr/>
        </p:nvSpPr>
        <p:spPr>
          <a:xfrm>
            <a:off x="9316650" y="1749025"/>
            <a:ext cx="2529000" cy="1307400"/>
          </a:xfrm>
          <a:prstGeom prst="wedgeRectCallout">
            <a:avLst>
              <a:gd fmla="val -84744" name="adj1"/>
              <a:gd fmla="val 163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Executa o treinamento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75861b5b7_0_318"/>
          <p:cNvSpPr txBox="1"/>
          <p:nvPr>
            <p:ph type="title"/>
          </p:nvPr>
        </p:nvSpPr>
        <p:spPr>
          <a:xfrm>
            <a:off x="415658" y="442875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Exemplo: DPO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69" name="Google Shape;369;g3d75861b5b7_0_3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70" name="Google Shape;370;g3d75861b5b7_0_3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550" y="2112675"/>
            <a:ext cx="5420325" cy="356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d75861b5b7_0_318"/>
          <p:cNvSpPr/>
          <p:nvPr/>
        </p:nvSpPr>
        <p:spPr>
          <a:xfrm>
            <a:off x="8223650" y="4149350"/>
            <a:ext cx="2529000" cy="1307400"/>
          </a:xfrm>
          <a:prstGeom prst="wedgeRectCallout">
            <a:avLst>
              <a:gd fmla="val -84744" name="adj1"/>
              <a:gd fmla="val 163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Mescla o modelo gerado após o DPO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75861b5b7_0_326"/>
          <p:cNvSpPr txBox="1"/>
          <p:nvPr>
            <p:ph type="title"/>
          </p:nvPr>
        </p:nvSpPr>
        <p:spPr>
          <a:xfrm>
            <a:off x="415658" y="442875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Exemplo: DPO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78" name="Google Shape;378;g3d75861b5b7_0_32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79" name="Google Shape;379;g3d75861b5b7_0_3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75" y="1823350"/>
            <a:ext cx="6217250" cy="27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3d75861b5b7_0_326"/>
          <p:cNvSpPr/>
          <p:nvPr/>
        </p:nvSpPr>
        <p:spPr>
          <a:xfrm>
            <a:off x="8127225" y="2359850"/>
            <a:ext cx="2529000" cy="1307400"/>
          </a:xfrm>
          <a:prstGeom prst="wedgeRectCallout">
            <a:avLst>
              <a:gd fmla="val -84744" name="adj1"/>
              <a:gd fmla="val 163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Testa a execução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1" name="Google Shape;381;g3d75861b5b7_0_3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639875"/>
            <a:ext cx="9414951" cy="206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2023-07-05T20:15:16Z</dcterms:created>
  <dc:creator>Patrick Bonnereau</dc:creator>
</cp:coreProperties>
</file>