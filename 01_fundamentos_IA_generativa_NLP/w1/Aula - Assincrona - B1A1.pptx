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y="6858000" cx="12192000"/>
  <p:notesSz cx="6858000" cy="9144000"/>
  <p:embeddedFontLst>
    <p:embeddedFont>
      <p:font typeface="Roboto"/>
      <p:regular r:id="rId29"/>
      <p:bold r:id="rId30"/>
      <p:italic r:id="rId31"/>
      <p:boldItalic r:id="rId32"/>
    </p:embeddedFont>
    <p:embeddedFont>
      <p:font typeface="Merriweather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7" roundtripDataSignature="AMtx7mhPQMv+7TFR1KYnXu/uvjjFMCyF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7.xml"/><Relationship Id="rId33" Type="http://schemas.openxmlformats.org/officeDocument/2006/relationships/font" Target="fonts/Merriweather-regular.fntdata"/><Relationship Id="rId10" Type="http://schemas.openxmlformats.org/officeDocument/2006/relationships/slide" Target="slides/slide6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9.xml"/><Relationship Id="rId35" Type="http://schemas.openxmlformats.org/officeDocument/2006/relationships/font" Target="fonts/Merriweather-italic.fntdata"/><Relationship Id="rId12" Type="http://schemas.openxmlformats.org/officeDocument/2006/relationships/slide" Target="slides/slide8.xml"/><Relationship Id="rId34" Type="http://schemas.openxmlformats.org/officeDocument/2006/relationships/font" Target="fonts/Merriweather-bold.fntdata"/><Relationship Id="rId15" Type="http://schemas.openxmlformats.org/officeDocument/2006/relationships/slide" Target="slides/slide11.xml"/><Relationship Id="rId37" Type="http://customschemas.google.com/relationships/presentationmetadata" Target="metadata"/><Relationship Id="rId14" Type="http://schemas.openxmlformats.org/officeDocument/2006/relationships/slide" Target="slides/slide10.xml"/><Relationship Id="rId36" Type="http://schemas.openxmlformats.org/officeDocument/2006/relationships/font" Target="fonts/Merriweather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e5b3c3f154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2" name="Google Shape;72;g1e5b3c3f154_0_1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d533c25ad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2d533c25ad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g2d533c25ad3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34d084623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d34d084623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g3d34d084623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34d084623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d34d084623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g3d34d084623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34d084623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d34d084623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g3d34d084623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34d084623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d34d084623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g3d34d084623_0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34d084623_0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d34d084623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g3d34d084623_0_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34d084623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d34d084623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g3d34d084623_0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34d084623_0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d34d084623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g3d34d084623_0_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34d084623_0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d34d084623_0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g3d34d084623_0_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34d084623_0_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d34d084623_0_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g3d34d084623_0_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34d084623_0_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d34d084623_0_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g3d34d084623_0_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34d084623_0_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d34d084623_0_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g3d34d084623_0_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34d084623_0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3d34d084623_0_1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g3d34d084623_0_1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34d084623_0_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d34d084623_0_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g3d34d084623_0_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34d084623_0_1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d34d084623_0_1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g3d34d084623_0_1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34d084623_0_1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d34d084623_0_1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g3d34d084623_0_1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34d084623_0_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3d34d084623_0_1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g3d34d084623_0_1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34d084623_0_1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3d34d084623_0_1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g3d34d084623_0_1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d34d084623_0_1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g3d34d084623_0_1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g3d34d084623_0_1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34d084623_0_2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g3d34d084623_0_2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g3d34d084623_0_2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d34d084623_0_2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d34d084623_0_2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g3d34d084623_0_2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d34d084623_0_2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g3d34d084623_0_2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4" name="Google Shape;284;g3d34d084623_0_2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d34d084623_0_2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g3d34d084623_0_2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g3d34d084623_0_2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1e5b3c3f154_0_446"/>
          <p:cNvSpPr/>
          <p:nvPr/>
        </p:nvSpPr>
        <p:spPr>
          <a:xfrm>
            <a:off x="0" y="0"/>
            <a:ext cx="12192000" cy="17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g1e5b3c3f154_0_446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g1e5b3c3f154_0_44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e5b3c3f154_0_47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1e5b3c3f154_0_47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g1e5b3c3f154_0_47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g1e5b3c3f154_0_47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g1e5b3c3f154_0_47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1e5b3c3f154_0_423"/>
          <p:cNvSpPr/>
          <p:nvPr/>
        </p:nvSpPr>
        <p:spPr>
          <a:xfrm>
            <a:off x="-167" y="0"/>
            <a:ext cx="12192029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5" name="Google Shape;25;g1e5b3c3f154_0_423"/>
          <p:cNvSpPr txBox="1"/>
          <p:nvPr>
            <p:ph type="ctrTitle"/>
          </p:nvPr>
        </p:nvSpPr>
        <p:spPr>
          <a:xfrm>
            <a:off x="415600" y="719633"/>
            <a:ext cx="11360700" cy="1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6" name="Google Shape;26;g1e5b3c3f154_0_423"/>
          <p:cNvSpPr txBox="1"/>
          <p:nvPr>
            <p:ph idx="1" type="subTitle"/>
          </p:nvPr>
        </p:nvSpPr>
        <p:spPr>
          <a:xfrm>
            <a:off x="415600" y="2504747"/>
            <a:ext cx="5656800" cy="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" name="Google Shape;27;g1e5b3c3f154_0_42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e5b3c3f154_0_428"/>
          <p:cNvSpPr/>
          <p:nvPr/>
        </p:nvSpPr>
        <p:spPr>
          <a:xfrm>
            <a:off x="0" y="64132"/>
            <a:ext cx="12192029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30" name="Google Shape;30;g1e5b3c3f154_0_428"/>
          <p:cNvSpPr/>
          <p:nvPr/>
        </p:nvSpPr>
        <p:spPr>
          <a:xfrm>
            <a:off x="0" y="0"/>
            <a:ext cx="12192029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31" name="Google Shape;31;g1e5b3c3f154_0_428"/>
          <p:cNvSpPr txBox="1"/>
          <p:nvPr>
            <p:ph type="title"/>
          </p:nvPr>
        </p:nvSpPr>
        <p:spPr>
          <a:xfrm>
            <a:off x="415600" y="719633"/>
            <a:ext cx="11360700" cy="1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2" name="Google Shape;32;g1e5b3c3f154_0_42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e5b3c3f154_0_433"/>
          <p:cNvSpPr/>
          <p:nvPr/>
        </p:nvSpPr>
        <p:spPr>
          <a:xfrm>
            <a:off x="0" y="0"/>
            <a:ext cx="57519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g1e5b3c3f154_0_433"/>
          <p:cNvSpPr/>
          <p:nvPr/>
        </p:nvSpPr>
        <p:spPr>
          <a:xfrm>
            <a:off x="0" y="58833"/>
            <a:ext cx="5751356" cy="5865687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6" name="Google Shape;36;g1e5b3c3f154_0_433"/>
          <p:cNvSpPr/>
          <p:nvPr/>
        </p:nvSpPr>
        <p:spPr>
          <a:xfrm>
            <a:off x="-167" y="0"/>
            <a:ext cx="5755723" cy="5860653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7" name="Google Shape;37;g1e5b3c3f154_0_433"/>
          <p:cNvSpPr txBox="1"/>
          <p:nvPr>
            <p:ph type="title"/>
          </p:nvPr>
        </p:nvSpPr>
        <p:spPr>
          <a:xfrm>
            <a:off x="415633" y="667900"/>
            <a:ext cx="4941900" cy="3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g1e5b3c3f154_0_433"/>
          <p:cNvSpPr txBox="1"/>
          <p:nvPr>
            <p:ph idx="1" type="body"/>
          </p:nvPr>
        </p:nvSpPr>
        <p:spPr>
          <a:xfrm>
            <a:off x="6192900" y="667900"/>
            <a:ext cx="5555100" cy="54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9" name="Google Shape;39;g1e5b3c3f154_0_43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e5b3c3f154_0_440"/>
          <p:cNvSpPr/>
          <p:nvPr/>
        </p:nvSpPr>
        <p:spPr>
          <a:xfrm>
            <a:off x="0" y="0"/>
            <a:ext cx="12192000" cy="17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e5b3c3f154_0_44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g1e5b3c3f154_0_440"/>
          <p:cNvSpPr txBox="1"/>
          <p:nvPr>
            <p:ph idx="1" type="body"/>
          </p:nvPr>
        </p:nvSpPr>
        <p:spPr>
          <a:xfrm>
            <a:off x="415600" y="2007600"/>
            <a:ext cx="5333100" cy="4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4" name="Google Shape;44;g1e5b3c3f154_0_440"/>
          <p:cNvSpPr txBox="1"/>
          <p:nvPr>
            <p:ph idx="2" type="body"/>
          </p:nvPr>
        </p:nvSpPr>
        <p:spPr>
          <a:xfrm>
            <a:off x="6443200" y="2007600"/>
            <a:ext cx="5333100" cy="4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5" name="Google Shape;45;g1e5b3c3f154_0_44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e5b3c3f154_0_450"/>
          <p:cNvSpPr/>
          <p:nvPr/>
        </p:nvSpPr>
        <p:spPr>
          <a:xfrm>
            <a:off x="0" y="0"/>
            <a:ext cx="50193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g1e5b3c3f154_0_450"/>
          <p:cNvSpPr txBox="1"/>
          <p:nvPr>
            <p:ph type="title"/>
          </p:nvPr>
        </p:nvSpPr>
        <p:spPr>
          <a:xfrm>
            <a:off x="415633" y="667900"/>
            <a:ext cx="4170000" cy="24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g1e5b3c3f154_0_450"/>
          <p:cNvSpPr txBox="1"/>
          <p:nvPr>
            <p:ph idx="1" type="body"/>
          </p:nvPr>
        </p:nvSpPr>
        <p:spPr>
          <a:xfrm>
            <a:off x="415600" y="3187533"/>
            <a:ext cx="4170000" cy="30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  <a:defRPr>
                <a:solidFill>
                  <a:schemeClr val="accent2"/>
                </a:solidFill>
              </a:defRPr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0" name="Google Shape;50;g1e5b3c3f154_0_45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e5b3c3f154_0_455"/>
          <p:cNvSpPr txBox="1"/>
          <p:nvPr>
            <p:ph type="title"/>
          </p:nvPr>
        </p:nvSpPr>
        <p:spPr>
          <a:xfrm>
            <a:off x="415567" y="1064800"/>
            <a:ext cx="8330400" cy="47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3" name="Google Shape;53;g1e5b3c3f154_0_45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e5b3c3f154_0_458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1e5b3c3f154_0_458"/>
          <p:cNvSpPr txBox="1"/>
          <p:nvPr>
            <p:ph type="title"/>
          </p:nvPr>
        </p:nvSpPr>
        <p:spPr>
          <a:xfrm>
            <a:off x="415067" y="667900"/>
            <a:ext cx="4939200" cy="27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g1e5b3c3f154_0_458"/>
          <p:cNvSpPr txBox="1"/>
          <p:nvPr>
            <p:ph idx="1" type="subTitle"/>
          </p:nvPr>
        </p:nvSpPr>
        <p:spPr>
          <a:xfrm>
            <a:off x="406400" y="3502300"/>
            <a:ext cx="4939200" cy="12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8" name="Google Shape;58;g1e5b3c3f154_0_458"/>
          <p:cNvSpPr txBox="1"/>
          <p:nvPr>
            <p:ph idx="2" type="body"/>
          </p:nvPr>
        </p:nvSpPr>
        <p:spPr>
          <a:xfrm>
            <a:off x="6505367" y="667900"/>
            <a:ext cx="5271900" cy="54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9" name="Google Shape;59;g1e5b3c3f154_0_45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e5b3c3f154_0_464"/>
          <p:cNvSpPr/>
          <p:nvPr/>
        </p:nvSpPr>
        <p:spPr>
          <a:xfrm>
            <a:off x="0" y="5825333"/>
            <a:ext cx="12192000" cy="1032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g1e5b3c3f154_0_464"/>
          <p:cNvSpPr txBox="1"/>
          <p:nvPr>
            <p:ph idx="1" type="body"/>
          </p:nvPr>
        </p:nvSpPr>
        <p:spPr>
          <a:xfrm>
            <a:off x="415600" y="6028533"/>
            <a:ext cx="106392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63" name="Google Shape;63;g1e5b3c3f154_0_46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e5b3c3f154_0_468"/>
          <p:cNvSpPr txBox="1"/>
          <p:nvPr>
            <p:ph hasCustomPrompt="1" type="title"/>
          </p:nvPr>
        </p:nvSpPr>
        <p:spPr>
          <a:xfrm>
            <a:off x="415667" y="1108233"/>
            <a:ext cx="7113300" cy="16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6" name="Google Shape;66;g1e5b3c3f154_0_468"/>
          <p:cNvSpPr txBox="1"/>
          <p:nvPr>
            <p:ph idx="1" type="body"/>
          </p:nvPr>
        </p:nvSpPr>
        <p:spPr>
          <a:xfrm>
            <a:off x="415600" y="2828567"/>
            <a:ext cx="7113300" cy="12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  <a:defRPr>
                <a:solidFill>
                  <a:schemeClr val="accent2"/>
                </a:solidFill>
              </a:defRPr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7" name="Google Shape;67;g1e5b3c3f154_0_46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e5b3c3f154_0_47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1e5b3c3f154_0_41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1" name="Google Shape;11;g1e5b3c3f154_0_419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●"/>
              <a:defRPr b="0" i="0" sz="17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" name="Google Shape;12;g1e5b3c3f154_0_41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masswerk.at/elizabot/" TargetMode="External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jpg"/><Relationship Id="rId4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hyperlink" Target="https://asc.llnl.gov/exascale/el-capitan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networkworld.com/article/3531613/microsoft-blackrock-form-group-to-raise-100-billion-for-ai-data-centers.html" TargetMode="External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e5b3c3f154_0_189"/>
          <p:cNvSpPr txBox="1"/>
          <p:nvPr/>
        </p:nvSpPr>
        <p:spPr>
          <a:xfrm>
            <a:off x="108151" y="5088650"/>
            <a:ext cx="9714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pt-BR" sz="2400" u="sng">
                <a:solidFill>
                  <a:srgbClr val="31394D"/>
                </a:solidFill>
                <a:latin typeface="Calibri"/>
                <a:ea typeface="Calibri"/>
                <a:cs typeface="Calibri"/>
                <a:sym typeface="Calibri"/>
              </a:rPr>
              <a:t>Prof. Dr. Rodrigo Bonacin</a:t>
            </a:r>
            <a:endParaRPr b="1" sz="2400" u="sng">
              <a:solidFill>
                <a:srgbClr val="3139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>
                <a:solidFill>
                  <a:srgbClr val="31394D"/>
                </a:solidFill>
                <a:latin typeface="Calibri"/>
                <a:ea typeface="Calibri"/>
                <a:cs typeface="Calibri"/>
                <a:sym typeface="Calibri"/>
              </a:rPr>
              <a:t>rbonacin@unicamp.br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g1e5b3c3f154_0_189"/>
          <p:cNvSpPr txBox="1"/>
          <p:nvPr>
            <p:ph type="title"/>
          </p:nvPr>
        </p:nvSpPr>
        <p:spPr>
          <a:xfrm>
            <a:off x="108150" y="3100700"/>
            <a:ext cx="11975700" cy="185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Introdução à IA Generativa, histórico e evolução</a:t>
            </a:r>
            <a:endParaRPr sz="4000"/>
          </a:p>
        </p:txBody>
      </p:sp>
      <p:pic>
        <p:nvPicPr>
          <p:cNvPr id="76" name="Google Shape;76;g1e5b3c3f154_0_1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675" y="270775"/>
            <a:ext cx="977781" cy="1108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g1e5b3c3f154_0_189" title="logo-ic-unicamp-slant-line-wht-sky-ora-048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1950" y="194775"/>
            <a:ext cx="1471758" cy="126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d533c25ad3_0_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História da IA</a:t>
            </a:r>
            <a:endParaRPr/>
          </a:p>
        </p:txBody>
      </p:sp>
      <p:sp>
        <p:nvSpPr>
          <p:cNvPr id="84" name="Google Shape;84;g2d533c25ad3_0_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5" name="Google Shape;85;g2d533c25ad3_0_0"/>
          <p:cNvSpPr txBox="1"/>
          <p:nvPr/>
        </p:nvSpPr>
        <p:spPr>
          <a:xfrm>
            <a:off x="347525" y="1997550"/>
            <a:ext cx="11428800" cy="30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gestação da inteligência artificial (1943-1956)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Warren McCulloch e Walter Pitts (1943),  "juntou" três campos em seu modelo de neurônios artificiais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Conhecimento básico sobre fisiologia e as funções no neurônios no cérebro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Análise formal da lógica de Russel and Whitehead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Teoria da computação de Turing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34d084623_0_1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História da IA</a:t>
            </a:r>
            <a:endParaRPr/>
          </a:p>
        </p:txBody>
      </p:sp>
      <p:sp>
        <p:nvSpPr>
          <p:cNvPr id="92" name="Google Shape;92;g3d34d084623_0_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3" name="Google Shape;93;g3d34d084623_0_1"/>
          <p:cNvSpPr txBox="1"/>
          <p:nvPr/>
        </p:nvSpPr>
        <p:spPr>
          <a:xfrm>
            <a:off x="347525" y="1997550"/>
            <a:ext cx="114288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gestação da inteligência artificial (1943-1956)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 começo da década de 50 Claude Shannon e Alan Turing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Escreveram um programa de xadrez para computadores convencionais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Marvin Minsky e Dean Edmonds construiu o primeiro computador de redes neurais em 1951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Possuía 40 neurônios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4" name="Google Shape;94;g3d34d084623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1877" y="4460207"/>
            <a:ext cx="5495925" cy="220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34d084623_0_1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História da IA</a:t>
            </a:r>
            <a:endParaRPr/>
          </a:p>
        </p:txBody>
      </p:sp>
      <p:sp>
        <p:nvSpPr>
          <p:cNvPr id="101" name="Google Shape;101;g3d34d084623_0_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2" name="Google Shape;102;g3d34d084623_0_10"/>
          <p:cNvSpPr txBox="1"/>
          <p:nvPr/>
        </p:nvSpPr>
        <p:spPr>
          <a:xfrm>
            <a:off x="347525" y="1997550"/>
            <a:ext cx="1142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Nascimento da IA (1956)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3" name="Google Shape;103;g3d34d084623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8750" y="2717950"/>
            <a:ext cx="6259025" cy="395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34d084623_0_2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História da IA</a:t>
            </a:r>
            <a:endParaRPr/>
          </a:p>
        </p:txBody>
      </p:sp>
      <p:sp>
        <p:nvSpPr>
          <p:cNvPr id="110" name="Google Shape;110;g3d34d084623_0_2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1" name="Google Shape;111;g3d34d084623_0_20"/>
          <p:cNvSpPr txBox="1"/>
          <p:nvPr/>
        </p:nvSpPr>
        <p:spPr>
          <a:xfrm>
            <a:off x="347525" y="1997550"/>
            <a:ext cx="11428800" cy="46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Entusiasmo inicial (1952-1969) 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General Problem Solver (GPS)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LISP - Um ano mais nova que FORTRAN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Micromundos - Problemas em um contexto limitado que requer inteligência para resolver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Ex: Alguns problemas que aparecem em testes de IQ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Computadores inteligentes ou os testes estão errados?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34d084623_0_29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História da IA</a:t>
            </a:r>
            <a:endParaRPr/>
          </a:p>
        </p:txBody>
      </p:sp>
      <p:sp>
        <p:nvSpPr>
          <p:cNvPr id="118" name="Google Shape;118;g3d34d084623_0_2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9" name="Google Shape;119;g3d34d084623_0_29"/>
          <p:cNvSpPr txBox="1"/>
          <p:nvPr/>
        </p:nvSpPr>
        <p:spPr>
          <a:xfrm>
            <a:off x="347525" y="1997550"/>
            <a:ext cx="11428800" cy="46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Uma dose de realidade (1966-1974)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Dificuldade de tratar problemas complexos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Cai o mito que em pouco tempo teríamos máquinas "super inteligentes"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Os programas possuíam, pouco conhecimento sobre o problema objeto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Ex: ELIZA (simples manipulação sintática)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Intratabilidade de alguns problemas que AI esta tentando resolver (antes da  teoria da NP-completude)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Ilusão do poder computacional ilimitado, computadores 1.000.000 x mais rápidos não resolvem o problema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34d084623_0_51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História da IA</a:t>
            </a:r>
            <a:endParaRPr/>
          </a:p>
        </p:txBody>
      </p:sp>
      <p:sp>
        <p:nvSpPr>
          <p:cNvPr id="126" name="Google Shape;126;g3d34d084623_0_5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7" name="Google Shape;127;g3d34d084623_0_51"/>
          <p:cNvSpPr txBox="1"/>
          <p:nvPr/>
        </p:nvSpPr>
        <p:spPr>
          <a:xfrm>
            <a:off x="347525" y="1997550"/>
            <a:ext cx="114288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Uma dose de realidade (1966-1974)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Limitação de estruturas básicas para gerar um comportamento inteligente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Ex: Estrutura até então utilizada para representar redes neurais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Primeiros algoritmos genéticos eram ineficientes para tratar problemas NP-Completos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…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34d084623_0_37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História da IA</a:t>
            </a:r>
            <a:endParaRPr/>
          </a:p>
        </p:txBody>
      </p:sp>
      <p:sp>
        <p:nvSpPr>
          <p:cNvPr id="134" name="Google Shape;134;g3d34d084623_0_3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5" name="Google Shape;135;g3d34d084623_0_37"/>
          <p:cNvSpPr txBox="1"/>
          <p:nvPr/>
        </p:nvSpPr>
        <p:spPr>
          <a:xfrm>
            <a:off x="347525" y="1997550"/>
            <a:ext cx="1142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ELIZA (simples manipulação sintática)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○"/>
            </a:pPr>
            <a:r>
              <a:rPr lang="pt-BR" sz="27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https://www.masswerk.at/elizabot/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6" name="Google Shape;136;g3d34d084623_0_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625" y="3051425"/>
            <a:ext cx="5062140" cy="363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g3d34d084623_0_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01825" y="1997550"/>
            <a:ext cx="5062150" cy="4746216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d34d084623_0_37"/>
          <p:cNvSpPr/>
          <p:nvPr/>
        </p:nvSpPr>
        <p:spPr>
          <a:xfrm>
            <a:off x="5440000" y="4181500"/>
            <a:ext cx="1377300" cy="8316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g3d34d084623_0_37"/>
          <p:cNvSpPr/>
          <p:nvPr/>
        </p:nvSpPr>
        <p:spPr>
          <a:xfrm>
            <a:off x="5477775" y="3264163"/>
            <a:ext cx="1377300" cy="737400"/>
          </a:xfrm>
          <a:prstGeom prst="wedgeRectCallout">
            <a:avLst>
              <a:gd fmla="val -6424" name="adj1"/>
              <a:gd fmla="val 88166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Eliza</a:t>
            </a:r>
            <a:r>
              <a:rPr b="1" i="1"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x </a:t>
            </a: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Gemini Pro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34d084623_0_58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História da IA</a:t>
            </a:r>
            <a:endParaRPr/>
          </a:p>
        </p:txBody>
      </p:sp>
      <p:sp>
        <p:nvSpPr>
          <p:cNvPr id="146" name="Google Shape;146;g3d34d084623_0_5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7" name="Google Shape;147;g3d34d084623_0_58"/>
          <p:cNvSpPr txBox="1"/>
          <p:nvPr/>
        </p:nvSpPr>
        <p:spPr>
          <a:xfrm>
            <a:off x="347525" y="1997550"/>
            <a:ext cx="11428800" cy="30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Sistemas baseados em conhecimento (1969-1979)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Surgimento dos Sistemas Especialistas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Conhecimento, heurísticas e regras sobre uma determinada especialidade 	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Frames (Minsky), abordagem mais estruturada baseada em classes e hierarquia de objetos, analogia com taxonomia da biologia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34d084623_0_67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História da IA</a:t>
            </a:r>
            <a:endParaRPr/>
          </a:p>
        </p:txBody>
      </p:sp>
      <p:sp>
        <p:nvSpPr>
          <p:cNvPr id="154" name="Google Shape;154;g3d34d084623_0_6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5" name="Google Shape;155;g3d34d084623_0_67"/>
          <p:cNvSpPr txBox="1"/>
          <p:nvPr/>
        </p:nvSpPr>
        <p:spPr>
          <a:xfrm>
            <a:off x="347525" y="1997550"/>
            <a:ext cx="11428800" cy="21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Inteligência Artificial virou uma Indústria (1980-atual)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Vários fracassos mas muitos produtos viram sucesso e lucrativos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Muitos mecanismos vindos da IA estão hoje presentes em produtos comerciais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34d084623_0_74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História da IA</a:t>
            </a:r>
            <a:endParaRPr/>
          </a:p>
        </p:txBody>
      </p:sp>
      <p:sp>
        <p:nvSpPr>
          <p:cNvPr id="162" name="Google Shape;162;g3d34d084623_0_7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3" name="Google Shape;163;g3d34d084623_0_74"/>
          <p:cNvSpPr txBox="1"/>
          <p:nvPr/>
        </p:nvSpPr>
        <p:spPr>
          <a:xfrm>
            <a:off x="347525" y="1997550"/>
            <a:ext cx="114288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Retorno das redes neurais, com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Em 1986, David E. Rumelhart et al. Retropropagação (Back-propagation)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Perceptron Multicamadas (MLP - Multilayer perceptron)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Aprendizagem Profunda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●"/>
            </a:pPr>
            <a:r>
              <a:rPr i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Convolutional Neural Networks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(CNNs)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●"/>
            </a:pPr>
            <a:r>
              <a:rPr i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Recurrent Neural Networks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(RNN)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Evolução da computação paralela e GPUs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34d084623_0_82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História da IA</a:t>
            </a:r>
            <a:endParaRPr/>
          </a:p>
        </p:txBody>
      </p:sp>
      <p:sp>
        <p:nvSpPr>
          <p:cNvPr id="170" name="Google Shape;170;g3d34d084623_0_8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71" name="Google Shape;171;g3d34d084623_0_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375" y="1651900"/>
            <a:ext cx="10942198" cy="520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34d084623_0_99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História da IA - Supercomputadores</a:t>
            </a:r>
            <a:endParaRPr/>
          </a:p>
        </p:txBody>
      </p:sp>
      <p:sp>
        <p:nvSpPr>
          <p:cNvPr id="178" name="Google Shape;178;g3d34d084623_0_9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9" name="Google Shape;179;g3d34d084623_0_99"/>
          <p:cNvSpPr txBox="1"/>
          <p:nvPr/>
        </p:nvSpPr>
        <p:spPr>
          <a:xfrm>
            <a:off x="828300" y="4590525"/>
            <a:ext cx="4125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00"/>
                </a:solidFill>
              </a:rPr>
              <a:t>ENIAC - </a:t>
            </a:r>
            <a:r>
              <a:rPr lang="pt-BR" sz="1800">
                <a:solidFill>
                  <a:srgbClr val="202122"/>
                </a:solidFill>
              </a:rPr>
              <a:t>5000 Op. Segundo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descr="File:Eniac.jpg" id="180" name="Google Shape;180;g3d34d084623_0_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6975" y="1746175"/>
            <a:ext cx="3656620" cy="27948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l Capitan: NNSA's first exascale machine | Advanced Simulation and  Computing" id="181" name="Google Shape;181;g3d34d084623_0_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02026" y="1944537"/>
            <a:ext cx="5149296" cy="2463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g3d34d084623_0_9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42111" y="4879766"/>
            <a:ext cx="7164082" cy="186255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d34d084623_0_99"/>
          <p:cNvSpPr txBox="1"/>
          <p:nvPr/>
        </p:nvSpPr>
        <p:spPr>
          <a:xfrm>
            <a:off x="5647300" y="4590518"/>
            <a:ext cx="42585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79" u="sng">
                <a:solidFill>
                  <a:srgbClr val="0097A7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https://asc.llnl.gov/exascale/el-capitan</a:t>
            </a:r>
            <a:r>
              <a:rPr lang="pt-BR" sz="1879">
                <a:solidFill>
                  <a:srgbClr val="000000"/>
                </a:solidFill>
              </a:rPr>
              <a:t>  </a:t>
            </a:r>
            <a:endParaRPr sz="1879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79">
              <a:solidFill>
                <a:srgbClr val="000000"/>
              </a:solidFill>
            </a:endParaRPr>
          </a:p>
        </p:txBody>
      </p:sp>
      <p:sp>
        <p:nvSpPr>
          <p:cNvPr id="184" name="Google Shape;184;g3d34d084623_0_99"/>
          <p:cNvSpPr txBox="1"/>
          <p:nvPr/>
        </p:nvSpPr>
        <p:spPr>
          <a:xfrm>
            <a:off x="9634525" y="5460875"/>
            <a:ext cx="1285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Quintilhão de operações 10^18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34d084623_0_118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História da IA - Supercomputadores</a:t>
            </a:r>
            <a:endParaRPr/>
          </a:p>
        </p:txBody>
      </p:sp>
      <p:sp>
        <p:nvSpPr>
          <p:cNvPr id="191" name="Google Shape;191;g3d34d084623_0_118"/>
          <p:cNvSpPr txBox="1"/>
          <p:nvPr/>
        </p:nvSpPr>
        <p:spPr>
          <a:xfrm>
            <a:off x="948818" y="6287848"/>
            <a:ext cx="102039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51" u="sng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https://www.networkworld.com/article/3531613/microsoft-blackrock-form-group-to-raise-100-billion-for-ai-data-centers.html</a:t>
            </a:r>
            <a:r>
              <a:rPr lang="pt-BR" sz="1851">
                <a:solidFill>
                  <a:srgbClr val="000000"/>
                </a:solidFill>
              </a:rPr>
              <a:t> </a:t>
            </a:r>
            <a:endParaRPr sz="1851">
              <a:solidFill>
                <a:srgbClr val="000000"/>
              </a:solidFill>
            </a:endParaRPr>
          </a:p>
        </p:txBody>
      </p:sp>
      <p:pic>
        <p:nvPicPr>
          <p:cNvPr id="192" name="Google Shape;192;g3d34d084623_0_1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4883" y="1790675"/>
            <a:ext cx="5982318" cy="4422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34d084623_0_9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História Recente da IA Generativa</a:t>
            </a:r>
            <a:endParaRPr/>
          </a:p>
        </p:txBody>
      </p:sp>
      <p:sp>
        <p:nvSpPr>
          <p:cNvPr id="199" name="Google Shape;199;g3d34d084623_0_9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00" name="Google Shape;200;g3d34d084623_0_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2325" y="1804300"/>
            <a:ext cx="9265869" cy="5053699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g3d34d084623_0_90"/>
          <p:cNvSpPr txBox="1"/>
          <p:nvPr/>
        </p:nvSpPr>
        <p:spPr>
          <a:xfrm>
            <a:off x="10795000" y="4485975"/>
            <a:ext cx="1233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Segundo Gemini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34d084623_0_132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Áreas de Pesquisa da IA</a:t>
            </a:r>
            <a:endParaRPr/>
          </a:p>
        </p:txBody>
      </p:sp>
      <p:sp>
        <p:nvSpPr>
          <p:cNvPr id="208" name="Google Shape;208;g3d34d084623_0_13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Imagem" id="209" name="Google Shape;209;g3d34d084623_0_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575" y="1715075"/>
            <a:ext cx="9880500" cy="494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34d084623_0_142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A IA Atual</a:t>
            </a:r>
            <a:endParaRPr/>
          </a:p>
        </p:txBody>
      </p:sp>
      <p:sp>
        <p:nvSpPr>
          <p:cNvPr id="216" name="Google Shape;216;g3d34d084623_0_14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217" name="Google Shape;217;g3d34d084623_0_142"/>
          <p:cNvGrpSpPr/>
          <p:nvPr/>
        </p:nvGrpSpPr>
        <p:grpSpPr>
          <a:xfrm>
            <a:off x="3059444" y="1883334"/>
            <a:ext cx="6073096" cy="4670354"/>
            <a:chOff x="3158066" y="1549400"/>
            <a:chExt cx="5681100" cy="4368900"/>
          </a:xfrm>
        </p:grpSpPr>
        <p:sp>
          <p:nvSpPr>
            <p:cNvPr id="218" name="Google Shape;218;g3d34d084623_0_142"/>
            <p:cNvSpPr/>
            <p:nvPr/>
          </p:nvSpPr>
          <p:spPr>
            <a:xfrm>
              <a:off x="3158066" y="1549400"/>
              <a:ext cx="5681100" cy="4368900"/>
            </a:xfrm>
            <a:prstGeom prst="ellipse">
              <a:avLst/>
            </a:prstGeom>
            <a:solidFill>
              <a:srgbClr val="955A03"/>
            </a:solidFill>
            <a:ln cap="flat" cmpd="sng" w="27175">
              <a:solidFill>
                <a:srgbClr val="0F465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8875" lIns="97725" spcFirstLastPara="1" rIns="97725" wrap="square" tIns="488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99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Inteligência Artificial</a:t>
              </a:r>
              <a:endParaRPr sz="1567"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g3d34d084623_0_142"/>
            <p:cNvSpPr/>
            <p:nvPr/>
          </p:nvSpPr>
          <p:spPr>
            <a:xfrm>
              <a:off x="3797299" y="3022600"/>
              <a:ext cx="4402800" cy="2895600"/>
            </a:xfrm>
            <a:prstGeom prst="ellipse">
              <a:avLst/>
            </a:prstGeom>
            <a:solidFill>
              <a:srgbClr val="FFC000"/>
            </a:solidFill>
            <a:ln cap="flat" cmpd="sng" w="27175">
              <a:solidFill>
                <a:srgbClr val="0F465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8875" lIns="97725" spcFirstLastPara="1" rIns="97725" wrap="square" tIns="488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99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Aprendizado de Máquina</a:t>
              </a:r>
              <a:endParaRPr sz="1567"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g3d34d084623_0_142"/>
            <p:cNvSpPr/>
            <p:nvPr/>
          </p:nvSpPr>
          <p:spPr>
            <a:xfrm>
              <a:off x="4292599" y="4131734"/>
              <a:ext cx="3530700" cy="1786500"/>
            </a:xfrm>
            <a:prstGeom prst="ellipse">
              <a:avLst/>
            </a:prstGeom>
            <a:solidFill>
              <a:srgbClr val="FAE02B"/>
            </a:solidFill>
            <a:ln cap="flat" cmpd="sng" w="27175">
              <a:solidFill>
                <a:srgbClr val="0F465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8875" lIns="97725" spcFirstLastPara="1" rIns="97725" wrap="square" tIns="488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pt-BR" sz="199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Deep Learning</a:t>
              </a:r>
              <a:endParaRPr sz="1567"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9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9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9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34d084623_0_153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A IA Atual</a:t>
            </a:r>
            <a:endParaRPr/>
          </a:p>
        </p:txBody>
      </p:sp>
      <p:sp>
        <p:nvSpPr>
          <p:cNvPr id="227" name="Google Shape;227;g3d34d084623_0_15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228" name="Google Shape;228;g3d34d084623_0_153"/>
          <p:cNvGrpSpPr/>
          <p:nvPr/>
        </p:nvGrpSpPr>
        <p:grpSpPr>
          <a:xfrm>
            <a:off x="352416" y="2005515"/>
            <a:ext cx="6050372" cy="4652879"/>
            <a:chOff x="3158066" y="1549400"/>
            <a:chExt cx="5681100" cy="4368900"/>
          </a:xfrm>
        </p:grpSpPr>
        <p:sp>
          <p:nvSpPr>
            <p:cNvPr id="229" name="Google Shape;229;g3d34d084623_0_153"/>
            <p:cNvSpPr/>
            <p:nvPr/>
          </p:nvSpPr>
          <p:spPr>
            <a:xfrm>
              <a:off x="3158066" y="1549400"/>
              <a:ext cx="5681100" cy="4368900"/>
            </a:xfrm>
            <a:prstGeom prst="ellipse">
              <a:avLst/>
            </a:prstGeom>
            <a:solidFill>
              <a:srgbClr val="955A03"/>
            </a:solidFill>
            <a:ln cap="flat" cmpd="sng" w="27075">
              <a:solidFill>
                <a:srgbClr val="0F465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8675" lIns="97375" spcFirstLastPara="1" rIns="97375" wrap="square" tIns="486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98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Inteligência Artificial</a:t>
              </a:r>
              <a:endParaRPr sz="1561"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8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8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8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8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8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8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8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8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8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8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8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8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8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g3d34d084623_0_153"/>
            <p:cNvSpPr/>
            <p:nvPr/>
          </p:nvSpPr>
          <p:spPr>
            <a:xfrm>
              <a:off x="3797299" y="3022600"/>
              <a:ext cx="4402800" cy="2895600"/>
            </a:xfrm>
            <a:prstGeom prst="ellipse">
              <a:avLst/>
            </a:prstGeom>
            <a:solidFill>
              <a:srgbClr val="FFC000"/>
            </a:solidFill>
            <a:ln cap="flat" cmpd="sng" w="27075">
              <a:solidFill>
                <a:srgbClr val="0F465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8675" lIns="97375" spcFirstLastPara="1" rIns="97375" wrap="square" tIns="486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987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Aprendizado de Máquina</a:t>
              </a:r>
              <a:endParaRPr sz="1561">
                <a:solidFill>
                  <a:srgbClr val="FF0000"/>
                </a:solidFill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8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8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8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8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8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8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8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g3d34d084623_0_153"/>
            <p:cNvSpPr/>
            <p:nvPr/>
          </p:nvSpPr>
          <p:spPr>
            <a:xfrm>
              <a:off x="4292599" y="4131734"/>
              <a:ext cx="3530700" cy="1786500"/>
            </a:xfrm>
            <a:prstGeom prst="ellipse">
              <a:avLst/>
            </a:prstGeom>
            <a:solidFill>
              <a:srgbClr val="FAE02B"/>
            </a:solidFill>
            <a:ln cap="flat" cmpd="sng" w="27075">
              <a:solidFill>
                <a:srgbClr val="0F465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8675" lIns="97375" spcFirstLastPara="1" rIns="97375" wrap="square" tIns="486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pt-BR" sz="198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Deep Learning</a:t>
              </a:r>
              <a:endParaRPr sz="1561"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98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98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98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2" name="Google Shape;232;g3d34d084623_0_153"/>
          <p:cNvSpPr txBox="1"/>
          <p:nvPr/>
        </p:nvSpPr>
        <p:spPr>
          <a:xfrm>
            <a:off x="7286951" y="2071511"/>
            <a:ext cx="4375200" cy="47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3950" lIns="87950" spcFirstLastPara="1" rIns="87950" wrap="square" tIns="43950">
            <a:spAutoFit/>
          </a:bodyPr>
          <a:lstStyle/>
          <a:p>
            <a:pPr indent="-276855" lvl="0" marL="276856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5"/>
              <a:buFont typeface="Arial"/>
              <a:buChar char="•"/>
            </a:pPr>
            <a:r>
              <a:rPr lang="pt-BR" sz="17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Computadores com capacidade de “aprender”, no lugar de serem explicitamente programados</a:t>
            </a:r>
            <a:endParaRPr sz="1410"/>
          </a:p>
          <a:p>
            <a:pPr indent="-162855" lvl="0" marL="276856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5"/>
              <a:buFont typeface="Arial"/>
              <a:buNone/>
            </a:pPr>
            <a:r>
              <a:t/>
            </a:r>
            <a:endParaRPr sz="179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6855" lvl="0" marL="276856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5"/>
              <a:buFont typeface="Arial"/>
              <a:buChar char="•"/>
            </a:pPr>
            <a:r>
              <a:rPr lang="pt-BR" sz="17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Envolve a construção de modelos baseados em exemplos (dados de treinamento)</a:t>
            </a:r>
            <a:endParaRPr sz="1410"/>
          </a:p>
          <a:p>
            <a:pPr indent="-162855" lvl="0" marL="276856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5"/>
              <a:buFont typeface="Arial"/>
              <a:buNone/>
            </a:pPr>
            <a:r>
              <a:t/>
            </a:r>
            <a:endParaRPr sz="179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6855" lvl="0" marL="276856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5"/>
              <a:buFont typeface="Arial"/>
              <a:buChar char="•"/>
            </a:pPr>
            <a:r>
              <a:rPr lang="pt-BR" sz="17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Aprendizado pode ser:</a:t>
            </a:r>
            <a:endParaRPr sz="1410"/>
          </a:p>
          <a:p>
            <a:pPr indent="-276856" lvl="1" marL="71656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5"/>
              <a:buFont typeface="Arial"/>
              <a:buChar char="•"/>
            </a:pPr>
            <a:r>
              <a:rPr b="0" i="0" lang="pt-BR" sz="17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Supervisionado (ex: amostras com o resultado desejado) </a:t>
            </a:r>
            <a:endParaRPr sz="1410"/>
          </a:p>
          <a:p>
            <a:pPr indent="-276856" lvl="1" marL="71656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5"/>
              <a:buFont typeface="Arial"/>
              <a:buChar char="•"/>
            </a:pPr>
            <a:r>
              <a:rPr b="0" i="0" lang="pt-BR" sz="17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Não supervisionado (ex: descobre padrões)</a:t>
            </a:r>
            <a:endParaRPr sz="1410"/>
          </a:p>
          <a:p>
            <a:pPr indent="-162857" lvl="1" marL="71656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5"/>
              <a:buFont typeface="Arial"/>
              <a:buNone/>
            </a:pPr>
            <a:r>
              <a:t/>
            </a:r>
            <a:endParaRPr b="0" i="0" sz="17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6855" lvl="0" marL="276856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5"/>
              <a:buFont typeface="Arial"/>
              <a:buChar char="•"/>
            </a:pPr>
            <a:r>
              <a:rPr lang="pt-BR" sz="17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Alguns algoritmos utilizados</a:t>
            </a:r>
            <a:endParaRPr sz="1410"/>
          </a:p>
          <a:p>
            <a:pPr indent="-276856" lvl="1" marL="71656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5"/>
              <a:buFont typeface="Arial"/>
              <a:buChar char="•"/>
            </a:pPr>
            <a:r>
              <a:rPr b="0" i="0" lang="pt-BR" sz="17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SVM, NaiveBayes, RandomForest  ANN</a:t>
            </a:r>
            <a:endParaRPr sz="1410"/>
          </a:p>
        </p:txBody>
      </p:sp>
      <p:sp>
        <p:nvSpPr>
          <p:cNvPr id="233" name="Google Shape;233;g3d34d084623_0_153"/>
          <p:cNvSpPr/>
          <p:nvPr/>
        </p:nvSpPr>
        <p:spPr>
          <a:xfrm>
            <a:off x="7075238" y="1805775"/>
            <a:ext cx="301200" cy="46527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6650">
            <a:solidFill>
              <a:srgbClr val="4285F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3950" lIns="87950" spcFirstLastPara="1" rIns="87950" wrap="square" tIns="43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4" name="Google Shape;234;g3d34d084623_0_153"/>
          <p:cNvCxnSpPr/>
          <p:nvPr/>
        </p:nvCxnSpPr>
        <p:spPr>
          <a:xfrm flipH="1" rot="10800000">
            <a:off x="4982529" y="4131753"/>
            <a:ext cx="2007300" cy="300"/>
          </a:xfrm>
          <a:prstGeom prst="straightConnector1">
            <a:avLst/>
          </a:prstGeom>
          <a:noFill/>
          <a:ln cap="flat" cmpd="sng" w="97725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d34d084623_0_17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A IA Atual</a:t>
            </a:r>
            <a:endParaRPr/>
          </a:p>
        </p:txBody>
      </p:sp>
      <p:sp>
        <p:nvSpPr>
          <p:cNvPr id="241" name="Google Shape;241;g3d34d084623_0_17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242" name="Google Shape;242;g3d34d084623_0_170"/>
          <p:cNvGrpSpPr/>
          <p:nvPr/>
        </p:nvGrpSpPr>
        <p:grpSpPr>
          <a:xfrm>
            <a:off x="163773" y="2028750"/>
            <a:ext cx="5750409" cy="4713606"/>
            <a:chOff x="3158066" y="1549400"/>
            <a:chExt cx="5681100" cy="4368900"/>
          </a:xfrm>
        </p:grpSpPr>
        <p:sp>
          <p:nvSpPr>
            <p:cNvPr id="243" name="Google Shape;243;g3d34d084623_0_170"/>
            <p:cNvSpPr/>
            <p:nvPr/>
          </p:nvSpPr>
          <p:spPr>
            <a:xfrm>
              <a:off x="3158066" y="1549400"/>
              <a:ext cx="5681100" cy="4368900"/>
            </a:xfrm>
            <a:prstGeom prst="ellipse">
              <a:avLst/>
            </a:prstGeom>
            <a:solidFill>
              <a:srgbClr val="955A03"/>
            </a:solidFill>
            <a:ln cap="flat" cmpd="sng" w="24650">
              <a:solidFill>
                <a:srgbClr val="0F465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4375" lIns="88750" spcFirstLastPara="1" rIns="88750" wrap="square" tIns="44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81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Inteligência Artificial</a:t>
              </a:r>
              <a:endParaRPr sz="1423"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1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1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1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1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1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1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1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1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1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1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1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1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1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g3d34d084623_0_170"/>
            <p:cNvSpPr/>
            <p:nvPr/>
          </p:nvSpPr>
          <p:spPr>
            <a:xfrm>
              <a:off x="3797299" y="3022600"/>
              <a:ext cx="4402800" cy="2895600"/>
            </a:xfrm>
            <a:prstGeom prst="ellipse">
              <a:avLst/>
            </a:prstGeom>
            <a:solidFill>
              <a:srgbClr val="FFC000"/>
            </a:solidFill>
            <a:ln cap="flat" cmpd="sng" w="24650">
              <a:solidFill>
                <a:srgbClr val="0F465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4375" lIns="88750" spcFirstLastPara="1" rIns="88750" wrap="square" tIns="44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81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Aprendizado de Máquina</a:t>
              </a:r>
              <a:endParaRPr sz="1423">
                <a:solidFill>
                  <a:srgbClr val="FFFFFF"/>
                </a:solidFill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1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1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1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1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1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1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1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g3d34d084623_0_170"/>
            <p:cNvSpPr/>
            <p:nvPr/>
          </p:nvSpPr>
          <p:spPr>
            <a:xfrm>
              <a:off x="4292599" y="4131734"/>
              <a:ext cx="3530700" cy="1786500"/>
            </a:xfrm>
            <a:prstGeom prst="ellipse">
              <a:avLst/>
            </a:prstGeom>
            <a:solidFill>
              <a:srgbClr val="FAE02B"/>
            </a:solidFill>
            <a:ln cap="flat" cmpd="sng" w="24650">
              <a:solidFill>
                <a:srgbClr val="0F465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4375" lIns="88750" spcFirstLastPara="1" rIns="88750" wrap="square" tIns="44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pt-BR" sz="1811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Deep Learning</a:t>
              </a:r>
              <a:endParaRPr sz="1423">
                <a:solidFill>
                  <a:srgbClr val="FF0000"/>
                </a:solidFill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81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81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81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6" name="Google Shape;246;g3d34d084623_0_170"/>
          <p:cNvSpPr/>
          <p:nvPr/>
        </p:nvSpPr>
        <p:spPr>
          <a:xfrm>
            <a:off x="6604671" y="1818825"/>
            <a:ext cx="286200" cy="47136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3400">
            <a:solidFill>
              <a:srgbClr val="4285F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0075" lIns="80150" spcFirstLastPara="1" rIns="80150" wrap="square" tIns="40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7" name="Google Shape;247;g3d34d084623_0_170"/>
          <p:cNvCxnSpPr/>
          <p:nvPr/>
        </p:nvCxnSpPr>
        <p:spPr>
          <a:xfrm flipH="1" rot="10800000">
            <a:off x="4067057" y="4175728"/>
            <a:ext cx="2456400" cy="1015200"/>
          </a:xfrm>
          <a:prstGeom prst="straightConnector1">
            <a:avLst/>
          </a:prstGeom>
          <a:noFill/>
          <a:ln cap="flat" cmpd="sng" w="8905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48" name="Google Shape;248;g3d34d084623_0_170"/>
          <p:cNvSpPr txBox="1"/>
          <p:nvPr/>
        </p:nvSpPr>
        <p:spPr>
          <a:xfrm>
            <a:off x="6751722" y="2088037"/>
            <a:ext cx="4357500" cy="41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0075" lIns="80150" spcFirstLastPara="1" rIns="80150" wrap="square" tIns="40075">
            <a:spAutoFit/>
          </a:bodyPr>
          <a:lstStyle/>
          <a:p>
            <a:pPr indent="-252337" lvl="0" marL="252337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6"/>
              <a:buFont typeface="Arial"/>
              <a:buChar char="•"/>
            </a:pPr>
            <a:r>
              <a:rPr lang="pt-BR" sz="163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Utilizam arquiteturas baseadas em redes neurais com várias camadas (DNN)</a:t>
            </a:r>
            <a:endParaRPr sz="1285"/>
          </a:p>
          <a:p>
            <a:pPr indent="-148433" lvl="0" marL="252337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6"/>
              <a:buFont typeface="Arial"/>
              <a:buNone/>
            </a:pPr>
            <a:r>
              <a:t/>
            </a:r>
            <a:endParaRPr sz="163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8433" lvl="0" marL="252337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6"/>
              <a:buFont typeface="Arial"/>
              <a:buNone/>
            </a:pPr>
            <a:r>
              <a:t/>
            </a:r>
            <a:endParaRPr sz="163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2337" lvl="0" marL="252337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6"/>
              <a:buFont typeface="Arial"/>
              <a:buChar char="•"/>
            </a:pPr>
            <a:r>
              <a:rPr lang="pt-BR" sz="163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Normalmente aplicados a grandes massas de dados (conjunto de treinamento grande)</a:t>
            </a:r>
            <a:endParaRPr sz="1285"/>
          </a:p>
          <a:p>
            <a:pPr indent="-148433" lvl="0" marL="252337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6"/>
              <a:buFont typeface="Arial"/>
              <a:buNone/>
            </a:pPr>
            <a:r>
              <a:t/>
            </a:r>
            <a:endParaRPr sz="163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8433" lvl="0" marL="252337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6"/>
              <a:buFont typeface="Arial"/>
              <a:buNone/>
            </a:pPr>
            <a:r>
              <a:t/>
            </a:r>
            <a:endParaRPr sz="163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2337" lvl="0" marL="252337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6"/>
              <a:buFont typeface="Arial"/>
              <a:buChar char="•"/>
            </a:pPr>
            <a:r>
              <a:rPr lang="pt-BR" sz="163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Requer grande capacidade de processamento (GPUs)</a:t>
            </a:r>
            <a:endParaRPr sz="1285"/>
          </a:p>
          <a:p>
            <a:pPr indent="-148433" lvl="0" marL="252337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6"/>
              <a:buFont typeface="Arial"/>
              <a:buNone/>
            </a:pPr>
            <a:r>
              <a:t/>
            </a:r>
            <a:endParaRPr sz="163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8433" lvl="0" marL="252337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6"/>
              <a:buFont typeface="Arial"/>
              <a:buNone/>
            </a:pPr>
            <a:r>
              <a:t/>
            </a:r>
            <a:endParaRPr sz="163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2337" lvl="0" marL="252337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6"/>
              <a:buFont typeface="Arial"/>
              <a:buChar char="•"/>
            </a:pPr>
            <a:r>
              <a:rPr lang="pt-BR" sz="163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Tipos de redes comuns</a:t>
            </a:r>
            <a:endParaRPr sz="1285"/>
          </a:p>
          <a:p>
            <a:pPr indent="-252337" lvl="1" marL="653107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6"/>
              <a:buFont typeface="Arial"/>
              <a:buChar char="•"/>
            </a:pPr>
            <a:r>
              <a:rPr b="0" i="0" lang="pt-BR" sz="163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CNN - </a:t>
            </a:r>
            <a:r>
              <a:rPr b="0" i="1" lang="pt-BR" sz="163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Convolutional Neural Network</a:t>
            </a:r>
            <a:endParaRPr sz="1285"/>
          </a:p>
          <a:p>
            <a:pPr indent="-252337" lvl="1" marL="653107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6"/>
              <a:buFont typeface="Arial"/>
              <a:buChar char="•"/>
            </a:pPr>
            <a:r>
              <a:rPr b="0" i="0" lang="pt-BR" sz="163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RNN - </a:t>
            </a:r>
            <a:r>
              <a:rPr b="0" i="1" lang="pt-BR" sz="163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Recurrent Neural Network</a:t>
            </a:r>
            <a:endParaRPr sz="1285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d34d084623_0_19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A IA Generativa e a LLMs </a:t>
            </a:r>
            <a:r>
              <a:rPr lang="pt-BR" sz="2800"/>
              <a:t>(simplificadamente)</a:t>
            </a:r>
            <a:endParaRPr sz="2800"/>
          </a:p>
        </p:txBody>
      </p:sp>
      <p:grpSp>
        <p:nvGrpSpPr>
          <p:cNvPr id="255" name="Google Shape;255;g3d34d084623_0_190"/>
          <p:cNvGrpSpPr/>
          <p:nvPr/>
        </p:nvGrpSpPr>
        <p:grpSpPr>
          <a:xfrm>
            <a:off x="196473" y="1821346"/>
            <a:ext cx="6255459" cy="4810596"/>
            <a:chOff x="3158066" y="1549400"/>
            <a:chExt cx="5681100" cy="4368900"/>
          </a:xfrm>
        </p:grpSpPr>
        <p:sp>
          <p:nvSpPr>
            <p:cNvPr id="256" name="Google Shape;256;g3d34d084623_0_190"/>
            <p:cNvSpPr/>
            <p:nvPr/>
          </p:nvSpPr>
          <p:spPr>
            <a:xfrm>
              <a:off x="3158066" y="1549400"/>
              <a:ext cx="5681100" cy="4368900"/>
            </a:xfrm>
            <a:prstGeom prst="ellipse">
              <a:avLst/>
            </a:prstGeom>
            <a:solidFill>
              <a:srgbClr val="955A03"/>
            </a:solidFill>
            <a:ln cap="flat" cmpd="sng" w="27975">
              <a:solidFill>
                <a:srgbClr val="0F465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350" lIns="100675" spcFirstLastPara="1" rIns="100675" wrap="square" tIns="503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05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Inteligência Artificial</a:t>
              </a:r>
              <a:endParaRPr sz="1614"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5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5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5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5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5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5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5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5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5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5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5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5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5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g3d34d084623_0_190"/>
            <p:cNvSpPr/>
            <p:nvPr/>
          </p:nvSpPr>
          <p:spPr>
            <a:xfrm>
              <a:off x="3797299" y="3022600"/>
              <a:ext cx="4402800" cy="2895600"/>
            </a:xfrm>
            <a:prstGeom prst="ellipse">
              <a:avLst/>
            </a:prstGeom>
            <a:solidFill>
              <a:srgbClr val="FFC000"/>
            </a:solidFill>
            <a:ln cap="flat" cmpd="sng" w="27975">
              <a:solidFill>
                <a:srgbClr val="0F465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350" lIns="100675" spcFirstLastPara="1" rIns="100675" wrap="square" tIns="503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05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Aprendizado de Máquina</a:t>
              </a:r>
              <a:endParaRPr sz="1614">
                <a:solidFill>
                  <a:srgbClr val="FFFFFF"/>
                </a:solidFill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5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5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5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5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5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5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5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g3d34d084623_0_190"/>
            <p:cNvSpPr/>
            <p:nvPr/>
          </p:nvSpPr>
          <p:spPr>
            <a:xfrm>
              <a:off x="4292599" y="4131734"/>
              <a:ext cx="3530700" cy="1786500"/>
            </a:xfrm>
            <a:prstGeom prst="ellipse">
              <a:avLst/>
            </a:prstGeom>
            <a:solidFill>
              <a:srgbClr val="FAE02B"/>
            </a:solidFill>
            <a:ln cap="flat" cmpd="sng" w="27975">
              <a:solidFill>
                <a:srgbClr val="0F465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0350" lIns="100675" spcFirstLastPara="1" rIns="100675" wrap="square" tIns="503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pt-BR" sz="2055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Deep Learning</a:t>
              </a:r>
              <a:endParaRPr sz="1614">
                <a:solidFill>
                  <a:srgbClr val="FF0000"/>
                </a:solidFill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05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05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05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59" name="Google Shape;259;g3d34d084623_0_190"/>
          <p:cNvCxnSpPr/>
          <p:nvPr/>
        </p:nvCxnSpPr>
        <p:spPr>
          <a:xfrm flipH="1" rot="10800000">
            <a:off x="4215073" y="4566037"/>
            <a:ext cx="2871300" cy="1194000"/>
          </a:xfrm>
          <a:prstGeom prst="straightConnector1">
            <a:avLst/>
          </a:prstGeom>
          <a:noFill/>
          <a:ln cap="flat" cmpd="sng" w="101025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60" name="Google Shape;260;g3d34d084623_0_190"/>
          <p:cNvSpPr/>
          <p:nvPr/>
        </p:nvSpPr>
        <p:spPr>
          <a:xfrm>
            <a:off x="7208990" y="2054509"/>
            <a:ext cx="4668600" cy="4344000"/>
          </a:xfrm>
          <a:prstGeom prst="ellipse">
            <a:avLst/>
          </a:prstGeom>
          <a:solidFill>
            <a:srgbClr val="BF4F14"/>
          </a:solidFill>
          <a:ln cap="flat" cmpd="sng" w="252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450" lIns="90900" spcFirstLastPara="1" rIns="90900" wrap="square" tIns="45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Inteligência Artificial</a:t>
            </a:r>
            <a:endParaRPr sz="1458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Generativa</a:t>
            </a:r>
            <a:endParaRPr sz="1458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6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6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6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6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6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6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6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6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6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6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6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6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d34d084623_0_190"/>
          <p:cNvSpPr/>
          <p:nvPr/>
        </p:nvSpPr>
        <p:spPr>
          <a:xfrm>
            <a:off x="7734298" y="3519395"/>
            <a:ext cx="3617700" cy="2879100"/>
          </a:xfrm>
          <a:prstGeom prst="ellipse">
            <a:avLst/>
          </a:prstGeom>
          <a:solidFill>
            <a:srgbClr val="F2A982"/>
          </a:solidFill>
          <a:ln cap="flat" cmpd="sng" w="252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450" lIns="90900" spcFirstLastPara="1" rIns="90900" wrap="square" tIns="45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56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56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Modelos de Linguagem em Larga Escala</a:t>
            </a:r>
            <a:endParaRPr sz="1458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6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6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6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6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6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6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6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d34d084623_0_21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A IA Generativa e a LLMs </a:t>
            </a:r>
            <a:r>
              <a:rPr lang="pt-BR" sz="2800"/>
              <a:t>(simplificadamente)</a:t>
            </a:r>
            <a:endParaRPr sz="2800"/>
          </a:p>
        </p:txBody>
      </p:sp>
      <p:sp>
        <p:nvSpPr>
          <p:cNvPr id="268" name="Google Shape;268;g3d34d084623_0_210"/>
          <p:cNvSpPr/>
          <p:nvPr/>
        </p:nvSpPr>
        <p:spPr>
          <a:xfrm>
            <a:off x="237225" y="2018955"/>
            <a:ext cx="4589100" cy="4323900"/>
          </a:xfrm>
          <a:prstGeom prst="ellipse">
            <a:avLst/>
          </a:prstGeom>
          <a:solidFill>
            <a:srgbClr val="BF4F14"/>
          </a:solidFill>
          <a:ln cap="flat" cmpd="sng" w="244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000" lIns="88025" spcFirstLastPara="1" rIns="88025" wrap="square" tIns="4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9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Inteligência Artificial</a:t>
            </a:r>
            <a:endParaRPr sz="1412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9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Generativa</a:t>
            </a:r>
            <a:endParaRPr sz="1412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d34d084623_0_210"/>
          <p:cNvSpPr/>
          <p:nvPr/>
        </p:nvSpPr>
        <p:spPr>
          <a:xfrm>
            <a:off x="745829" y="3554913"/>
            <a:ext cx="3502800" cy="2787600"/>
          </a:xfrm>
          <a:prstGeom prst="ellipse">
            <a:avLst/>
          </a:prstGeom>
          <a:solidFill>
            <a:srgbClr val="F2A982"/>
          </a:solidFill>
          <a:ln cap="flat" cmpd="sng" w="244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000" lIns="88025" spcFirstLastPara="1" rIns="88025" wrap="square" tIns="4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9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9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9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Modelos de Linguagem em Larga Escala</a:t>
            </a:r>
            <a:endParaRPr sz="1412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0" name="Google Shape;270;g3d34d084623_0_210"/>
          <p:cNvCxnSpPr/>
          <p:nvPr/>
        </p:nvCxnSpPr>
        <p:spPr>
          <a:xfrm>
            <a:off x="4789526" y="4216735"/>
            <a:ext cx="1992000" cy="0"/>
          </a:xfrm>
          <a:prstGeom prst="straightConnector1">
            <a:avLst/>
          </a:prstGeom>
          <a:noFill/>
          <a:ln cap="flat" cmpd="sng" w="97825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71" name="Google Shape;271;g3d34d084623_0_210"/>
          <p:cNvSpPr/>
          <p:nvPr/>
        </p:nvSpPr>
        <p:spPr>
          <a:xfrm>
            <a:off x="6822244" y="1759876"/>
            <a:ext cx="301500" cy="49320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6675">
            <a:solidFill>
              <a:srgbClr val="4285F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000" lIns="88025" spcFirstLastPara="1" rIns="88025" wrap="square" tIns="4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3d34d084623_0_210"/>
          <p:cNvSpPr txBox="1"/>
          <p:nvPr/>
        </p:nvSpPr>
        <p:spPr>
          <a:xfrm>
            <a:off x="7008700" y="1843650"/>
            <a:ext cx="4941300" cy="50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000" lIns="88025" spcFirstLastPara="1" rIns="88025" wrap="square" tIns="44000">
            <a:spAutoFit/>
          </a:bodyPr>
          <a:lstStyle/>
          <a:p>
            <a:pPr indent="-283493" lvl="0" marL="277143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7"/>
              <a:buFont typeface="Arial"/>
              <a:buChar char="•"/>
            </a:pPr>
            <a:r>
              <a:rPr lang="pt-BR" sz="189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IA generativa é uma forma de inteligência artificial que cria novos textos, imagens, vídeos, áudios ou outros conteúdos com base nas vastas quantidades de dados com as quais o modelo generativo foi treinado.</a:t>
            </a:r>
            <a:endParaRPr sz="1512"/>
          </a:p>
          <a:p>
            <a:pPr indent="-163026" lvl="0" marL="277143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7"/>
              <a:buFont typeface="Arial"/>
              <a:buNone/>
            </a:pPr>
            <a:r>
              <a:t/>
            </a:r>
            <a:endParaRPr sz="189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3493" lvl="0" marL="277143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7"/>
              <a:buFont typeface="Arial"/>
              <a:buChar char="•"/>
            </a:pPr>
            <a:r>
              <a:rPr lang="pt-BR" sz="189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Modelos de linguagem de grande escala são uma forma de IAG que se concentra na compreensão de entradas de texto e na </a:t>
            </a:r>
            <a:r>
              <a:rPr lang="pt-BR" sz="1897"/>
              <a:t>geração</a:t>
            </a:r>
            <a:r>
              <a:rPr lang="pt-BR" sz="189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textos com aparência humana. Os LLMs são um subconjunto da IA generativa</a:t>
            </a:r>
            <a:endParaRPr sz="1512"/>
          </a:p>
          <a:p>
            <a:pPr indent="-163026" lvl="0" marL="277143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7"/>
              <a:buFont typeface="Arial"/>
              <a:buNone/>
            </a:pPr>
            <a:r>
              <a:t/>
            </a:r>
            <a:endParaRPr sz="189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3493" lvl="0" marL="277143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7"/>
              <a:buFont typeface="Arial"/>
              <a:buChar char="•"/>
            </a:pPr>
            <a:r>
              <a:rPr lang="pt-BR" sz="189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Tecnologias: Transformers, Autoaprendizado, Aprendizado por Reforço, Ajuste Fino, RAG ... </a:t>
            </a:r>
            <a:endParaRPr sz="1512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d34d084623_0_232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A IA Generativa e a LLMs </a:t>
            </a:r>
            <a:endParaRPr sz="2800"/>
          </a:p>
        </p:txBody>
      </p:sp>
      <p:pic>
        <p:nvPicPr>
          <p:cNvPr id="279" name="Google Shape;279;g3d34d084623_0_2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900" y="1898375"/>
            <a:ext cx="12012925" cy="4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g3d34d084623_0_232"/>
          <p:cNvSpPr txBox="1"/>
          <p:nvPr/>
        </p:nvSpPr>
        <p:spPr>
          <a:xfrm>
            <a:off x="732725" y="6270950"/>
            <a:ext cx="11043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Raschka, S. Build a Large Language Model from Scratch; Manning Publications: Shelter Island, NY, USA, 2024; 400p</a:t>
            </a:r>
            <a:endParaRPr sz="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d34d084623_0_246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Construindo uma LLMs </a:t>
            </a:r>
            <a:endParaRPr sz="2800"/>
          </a:p>
        </p:txBody>
      </p:sp>
      <p:sp>
        <p:nvSpPr>
          <p:cNvPr id="287" name="Google Shape;287;g3d34d084623_0_246"/>
          <p:cNvSpPr txBox="1"/>
          <p:nvPr/>
        </p:nvSpPr>
        <p:spPr>
          <a:xfrm>
            <a:off x="732725" y="6270950"/>
            <a:ext cx="11043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Raschka, S. Build a Large Language Model from Scratch; Manning Publications: Shelter Island, NY, USA, 2024; 400p</a:t>
            </a:r>
            <a:endParaRPr sz="200"/>
          </a:p>
        </p:txBody>
      </p:sp>
      <p:pic>
        <p:nvPicPr>
          <p:cNvPr id="288" name="Google Shape;288;g3d34d084623_0_2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8350" y="1695400"/>
            <a:ext cx="9313825" cy="467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d34d084623_0_254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Funcionamento interno de uma LLMs </a:t>
            </a:r>
            <a:endParaRPr sz="2800"/>
          </a:p>
        </p:txBody>
      </p:sp>
      <p:sp>
        <p:nvSpPr>
          <p:cNvPr id="295" name="Google Shape;295;g3d34d084623_0_254"/>
          <p:cNvSpPr txBox="1"/>
          <p:nvPr/>
        </p:nvSpPr>
        <p:spPr>
          <a:xfrm>
            <a:off x="732725" y="6270950"/>
            <a:ext cx="11043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Raschka, S. Build a Large Language Model from Scratch; Manning Publications: Shelter Island, NY, USA, 2024; 400p</a:t>
            </a:r>
            <a:endParaRPr sz="200"/>
          </a:p>
        </p:txBody>
      </p:sp>
      <p:pic>
        <p:nvPicPr>
          <p:cNvPr id="296" name="Google Shape;296;g3d34d084623_0_2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1110" y="1724400"/>
            <a:ext cx="6289773" cy="446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2023-07-05T20:15:16Z</dcterms:created>
  <dc:creator>Patrick Bonnereau</dc:creator>
</cp:coreProperties>
</file>