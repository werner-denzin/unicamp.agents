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y="6858000" cx="12192000"/>
  <p:notesSz cx="6858000" cy="9144000"/>
  <p:embeddedFontLst>
    <p:embeddedFont>
      <p:font typeface="Roboto"/>
      <p:regular r:id="rId68"/>
      <p:bold r:id="rId69"/>
      <p:italic r:id="rId70"/>
      <p:boldItalic r:id="rId71"/>
    </p:embeddedFont>
    <p:embeddedFont>
      <p:font typeface="Merriweather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6" roundtripDataSignature="AMtx7mjo6va/861H/y6l4SAkC22iQWx1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5C0927-830D-4B83-ADFF-2284A5616E9B}">
  <a:tblStyle styleId="{FA5C0927-830D-4B83-ADFF-2284A5616E9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Merriweather-bold.fntdata"/><Relationship Id="rId72" Type="http://schemas.openxmlformats.org/officeDocument/2006/relationships/font" Target="fonts/Merriweather-regular.fntdata"/><Relationship Id="rId31" Type="http://schemas.openxmlformats.org/officeDocument/2006/relationships/slide" Target="slides/slide26.xml"/><Relationship Id="rId75" Type="http://schemas.openxmlformats.org/officeDocument/2006/relationships/font" Target="fonts/Merriweather-boldItalic.fntdata"/><Relationship Id="rId30" Type="http://schemas.openxmlformats.org/officeDocument/2006/relationships/slide" Target="slides/slide25.xml"/><Relationship Id="rId74" Type="http://schemas.openxmlformats.org/officeDocument/2006/relationships/font" Target="fonts/Merriweather-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76" Type="http://customschemas.google.com/relationships/presentationmetadata" Target="meta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Roboto-boldItalic.fntdata"/><Relationship Id="rId70" Type="http://schemas.openxmlformats.org/officeDocument/2006/relationships/font" Target="fonts/Roboto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Roboto-regular.fntdata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5b3c3f15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" name="Google Shape;72;g1e5b3c3f154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533c25ad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2d533c25ad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2d533c25ad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6a27ec8f6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96a27ec8f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96a27ec8f6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9898bee09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89898bee09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89898bee09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898bee09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89898bee09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89898bee09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9898bee09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89898bee09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89898bee09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6a27ec8f6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96a27ec8f6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96a27ec8f6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6a27ec8f6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96a27ec8f6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96a27ec8f6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6a27ec8f6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96a27ec8f6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96a27ec8f6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6a27ec8f6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96a27ec8f6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96a27ec8f6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6a27ec8f6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96a27ec8f6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96a27ec8f6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6a27ec8f6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96a27ec8f6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96a27ec8f6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6a27ec8f6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96a27ec8f6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96a27ec8f6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6a27ec8f6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96a27ec8f6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96a27ec8f6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6a27ec8f6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96a27ec8f6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96a27ec8f6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a27ec8f6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96a27ec8f6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96a27ec8f6_0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6a27ec8f6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96a27ec8f6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96a27ec8f6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6a27ec8f6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96a27ec8f6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96a27ec8f6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6a27ec8f6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96a27ec8f6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96a27ec8f6_0_1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6a27ec8f6_0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96a27ec8f6_0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96a27ec8f6_0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6a27ec8f6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96a27ec8f6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96a27ec8f6_0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6a27ec8f6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96a27ec8f6_0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396a27ec8f6_0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6a27ec8f6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96a27ec8f6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396a27ec8f6_0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6a27ec8f6_0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96a27ec8f6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g396a27ec8f6_0_1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6a27ec8f6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96a27ec8f6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96a27ec8f6_0_2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6a27ec8f6_0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96a27ec8f6_0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396a27ec8f6_0_2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6a27ec8f6_0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96a27ec8f6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g396a27ec8f6_0_2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6a27ec8f6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96a27ec8f6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396a27ec8f6_0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89898bee09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89898bee09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g389898bee09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6a40c76c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96a40c76c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396a40c76c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89898bee09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89898bee09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g389898bee09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6a40c76c2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96a40c76c2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96a40c76c2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6a40c76c2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96a40c76c2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g396a40c76c2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6a40c76c2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96a40c76c2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g396a40c76c2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6a40c76c2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96a40c76c2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g396a40c76c2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6a40c76c2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96a40c76c2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96a40c76c2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6a40c76c2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96a40c76c2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g396a40c76c2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6a40c76c2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96a40c76c2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g396a40c76c2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6a40c76c2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96a40c76c2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g396a40c76c2_0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6a40c76c2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96a40c76c2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g396a40c76c2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96a40c76c2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396a40c76c2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g396a40c76c2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6a40c76c2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g396a40c76c2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96a40c76c2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96a40c76c2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96a40c76c2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96a40c76c2_0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96a40c76c2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96a40c76c2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g396a40c76c2_0_1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96a40c76c2_0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96a40c76c2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g396a40c76c2_0_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6a40c76c2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96a40c76c2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g396a40c76c2_0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96a40c76c2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96a40c76c2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g396a40c76c2_0_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96a40c76c2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96a40c76c2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g396a40c76c2_0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96a40c76c2_0_1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96a40c76c2_0_1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g396a40c76c2_0_1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96a40c76c2_0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96a40c76c2_0_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g396a40c76c2_0_2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6a40c76c2_0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396a40c76c2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g396a40c76c2_0_2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96a40c76c2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96a40c76c2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96a40c76c2_0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96a40c76c2_0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396a40c76c2_0_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96a40c76c2_0_2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96a40c76c2_0_2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396a40c76c2_0_2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2" name="Google Shape;552;g396a40c76c2_0_2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96a40c76c2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396a40c76c2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96a40c76c2_0_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96a40c76c2_0_2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396a40c76c2_0_2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0" name="Google Shape;570;g396a40c76c2_0_2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96a40c76c2_0_3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g396a40c76c2_0_3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7" name="Google Shape;577;g396a40c76c2_0_3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96a40c76c2_0_3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396a40c76c2_0_3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g396a40c76c2_0_3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96a40c76c2_0_3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396a40c76c2_0_3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g396a40c76c2_0_3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96a40c76c2_0_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96a40c76c2_0_3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96a40c76c2_0_3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96a40c76c2_0_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96a40c76c2_0_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g396a40c76c2_0_3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96a40c76c2_0_3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96a40c76c2_0_3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9" name="Google Shape;619;g396a40c76c2_0_3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e5b3c3f154_0_446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1e5b3c3f154_0_4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g1e5b3c3f154_0_4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e5b3c3f154_0_4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1e5b3c3f154_0_4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1e5b3c3f154_0_4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1e5b3c3f154_0_4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1e5b3c3f154_0_4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e5b3c3f154_0_423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g1e5b3c3f154_0_423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1e5b3c3f154_0_423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g1e5b3c3f154_0_4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e5b3c3f154_0_428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0" name="Google Shape;30;g1e5b3c3f154_0_428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" name="Google Shape;31;g1e5b3c3f154_0_428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1e5b3c3f154_0_4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5b3c3f154_0_433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1e5b3c3f154_0_433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Google Shape;36;g1e5b3c3f154_0_433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7" name="Google Shape;37;g1e5b3c3f154_0_433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1e5b3c3f154_0_433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1e5b3c3f154_0_4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5b3c3f154_0_440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e5b3c3f154_0_4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g1e5b3c3f154_0_440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4" name="Google Shape;44;g1e5b3c3f154_0_440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5" name="Google Shape;45;g1e5b3c3f154_0_4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5b3c3f154_0_450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1e5b3c3f154_0_450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1e5b3c3f154_0_450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g1e5b3c3f154_0_4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5b3c3f154_0_455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g1e5b3c3f154_0_4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e5b3c3f154_0_45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e5b3c3f154_0_458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g1e5b3c3f154_0_458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g1e5b3c3f154_0_458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9" name="Google Shape;59;g1e5b3c3f154_0_4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5b3c3f154_0_464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1e5b3c3f154_0_464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63" name="Google Shape;63;g1e5b3c3f154_0_4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5b3c3f154_0_468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g1e5b3c3f154_0_468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g1e5b3c3f154_0_4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5b3c3f154_0_4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5b3c3f154_0_4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g1e5b3c3f154_0_4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1e5b3c3f154_0_4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hyperlink" Target="https://psychology-spot.com/types-of-intelligence/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9.png"/><Relationship Id="rId4" Type="http://schemas.openxmlformats.org/officeDocument/2006/relationships/image" Target="../media/image1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Relationship Id="rId6" Type="http://schemas.openxmlformats.org/officeDocument/2006/relationships/image" Target="../media/image3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8.png"/><Relationship Id="rId4" Type="http://schemas.openxmlformats.org/officeDocument/2006/relationships/image" Target="../media/image2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4.png"/><Relationship Id="rId4" Type="http://schemas.openxmlformats.org/officeDocument/2006/relationships/image" Target="../media/image39.png"/><Relationship Id="rId5" Type="http://schemas.openxmlformats.org/officeDocument/2006/relationships/image" Target="../media/image2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www.w3schools.com/python/" TargetMode="External"/><Relationship Id="rId4" Type="http://schemas.openxmlformats.org/officeDocument/2006/relationships/hyperlink" Target="https://www.python.org/about/gettingstarted/" TargetMode="External"/><Relationship Id="rId5" Type="http://schemas.openxmlformats.org/officeDocument/2006/relationships/hyperlink" Target="https://blog.finxter.com/free-python-books/" TargetMode="External"/><Relationship Id="rId6" Type="http://schemas.openxmlformats.org/officeDocument/2006/relationships/image" Target="../media/image4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e5b3c3f154_0_189"/>
          <p:cNvSpPr txBox="1"/>
          <p:nvPr/>
        </p:nvSpPr>
        <p:spPr>
          <a:xfrm>
            <a:off x="108151" y="5088650"/>
            <a:ext cx="9714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Dr. </a:t>
            </a:r>
            <a:r>
              <a:rPr b="1" lang="pt-BR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Rodrigo Bonacin</a:t>
            </a:r>
            <a:endParaRPr b="1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rbonacin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@unicamp.br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1e5b3c3f154_0_189"/>
          <p:cNvSpPr txBox="1"/>
          <p:nvPr>
            <p:ph type="title"/>
          </p:nvPr>
        </p:nvSpPr>
        <p:spPr>
          <a:xfrm>
            <a:off x="108150" y="3100700"/>
            <a:ext cx="11975700" cy="18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Aula Síncrona 1: </a:t>
            </a:r>
            <a:endParaRPr b="1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IA Generativa e PLN</a:t>
            </a:r>
            <a:endParaRPr sz="4000"/>
          </a:p>
        </p:txBody>
      </p:sp>
      <p:pic>
        <p:nvPicPr>
          <p:cNvPr id="76" name="Google Shape;76;g1e5b3c3f154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75" y="270775"/>
            <a:ext cx="977781" cy="1108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1e5b3c3f154_0_189" title="logo-ic-unicamp-slant-line-wht-sky-ora-04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950" y="194775"/>
            <a:ext cx="1471758" cy="12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533c25ad3_0_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Abertura do Curso - Professor</a:t>
            </a:r>
            <a:endParaRPr/>
          </a:p>
        </p:txBody>
      </p:sp>
      <p:sp>
        <p:nvSpPr>
          <p:cNvPr id="84" name="Google Shape;84;g2d533c25ad3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5" name="Google Shape;85;g2d533c25ad3_0_0"/>
          <p:cNvSpPr txBox="1"/>
          <p:nvPr/>
        </p:nvSpPr>
        <p:spPr>
          <a:xfrm>
            <a:off x="347525" y="1997550"/>
            <a:ext cx="114288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Formação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Graduação – Bal. Informática – UFPR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Mestrado em Computação – UFPR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Doutorado em Computação – UNICAMP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Pós-Doutorado – LIST Luxemburgo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Atuação Profissional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Docente – mais de 25 anos (UFPR, UNICAMP, UNIFACCAMP)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Pesquisador – CTI Renato Archer 20 anos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Áreas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Inteligência Artificial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Interação Humano-Computador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6a27ec8f6_0_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Objetivo da Disciplina</a:t>
            </a:r>
            <a:endParaRPr/>
          </a:p>
        </p:txBody>
      </p:sp>
      <p:sp>
        <p:nvSpPr>
          <p:cNvPr id="92" name="Google Shape;92;g396a27ec8f6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" name="Google Shape;93;g396a27ec8f6_0_4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Estudar os fundamentos da Inteligência Artificial generativa e das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técnicas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atuais de Processamento de Linguagem Natural com LLMs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Large Language Models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9898bee09_0_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Objetivos de Aprendizagem</a:t>
            </a:r>
            <a:endParaRPr/>
          </a:p>
        </p:txBody>
      </p:sp>
      <p:sp>
        <p:nvSpPr>
          <p:cNvPr id="100" name="Google Shape;100;g389898bee09_0_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" name="Google Shape;101;g389898bee09_0_1"/>
          <p:cNvSpPr txBox="1"/>
          <p:nvPr/>
        </p:nvSpPr>
        <p:spPr>
          <a:xfrm>
            <a:off x="347525" y="1997550"/>
            <a:ext cx="114288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Introduzir conceitos e técnicas de 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Compreender o funcionamento de modelos e aplicações de Processamento de Linguagem Natural (PLN)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Entender o funcionamento e utilizar  técnicas de ajuste finos de modelos de linguagem de grande escala.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Design e tomada de decisão em produtos digitais considerando a relação entre negócios e tecnologias de 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9898bee09_0_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Conteúdo</a:t>
            </a:r>
            <a:endParaRPr/>
          </a:p>
        </p:txBody>
      </p:sp>
      <p:sp>
        <p:nvSpPr>
          <p:cNvPr id="108" name="Google Shape;108;g389898bee09_0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9" name="Google Shape;109;g389898bee09_0_8"/>
          <p:cNvSpPr txBox="1"/>
          <p:nvPr/>
        </p:nvSpPr>
        <p:spPr>
          <a:xfrm>
            <a:off x="347525" y="1997550"/>
            <a:ext cx="11428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Introdução à Inteligência Artificial e à 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Histórico e evolução da Inteligência Artificial e 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Conceitos básicos e tecnologias da 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Conceitos e técnicas de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embedding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suas aplicações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Tecnologias e aplicações de PLN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Ajuste fino de modelos de linguagem de grande escala (LLM -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Large Language Models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e liderança de projetos com IA generativa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9898bee09_0_1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Dinâmica de ensino aprendizagem</a:t>
            </a:r>
            <a:endParaRPr/>
          </a:p>
        </p:txBody>
      </p:sp>
      <p:sp>
        <p:nvSpPr>
          <p:cNvPr id="116" name="Google Shape;116;g389898bee09_0_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7" name="Google Shape;117;g389898bee09_0_15"/>
          <p:cNvSpPr txBox="1"/>
          <p:nvPr/>
        </p:nvSpPr>
        <p:spPr>
          <a:xfrm>
            <a:off x="347525" y="1997550"/>
            <a:ext cx="11428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b="0" i="0" lang="pt-BR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pt-BR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lassroom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b="0" i="0" lang="pt-BR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Aulas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síncronas</a:t>
            </a:r>
            <a:r>
              <a:rPr b="0" i="0" lang="pt-BR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Aulas assíncronas 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Atividades práticas 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Atividade prática avaliativa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Monitoria síncrona (online) de dúvida com os alunos (quartas-feiras 19:30 às 20:30) 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6a27ec8f6_0_1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Cronogramas de Aulas </a:t>
            </a:r>
            <a:endParaRPr/>
          </a:p>
        </p:txBody>
      </p:sp>
      <p:sp>
        <p:nvSpPr>
          <p:cNvPr id="124" name="Google Shape;124;g396a27ec8f6_0_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5" name="Google Shape;125;g396a27ec8f6_0_12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 aulas estão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divididas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em 4 blocos/semanas </a:t>
            </a:r>
            <a:r>
              <a:rPr b="0" i="0" lang="pt-BR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6" name="Google Shape;126;g396a27ec8f6_0_12"/>
          <p:cNvGraphicFramePr/>
          <p:nvPr/>
        </p:nvGraphicFramePr>
        <p:xfrm>
          <a:off x="558375" y="285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5229700"/>
                <a:gridCol w="5389200"/>
              </a:tblGrid>
              <a:tr h="660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200"/>
                        <a:t>BLOCO 1</a:t>
                      </a:r>
                      <a:endParaRPr b="1" sz="22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/>
                        <a:t>Fundamentos da Inteligência Artificial</a:t>
                      </a:r>
                      <a:endParaRPr sz="2200"/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60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200"/>
                        <a:t>BLOCO 2</a:t>
                      </a:r>
                      <a:endParaRPr b="1" sz="22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/>
                        <a:t>Fundamentos da IA Generativa e do PLN atual</a:t>
                      </a:r>
                      <a:endParaRPr sz="2200"/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817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200"/>
                        <a:t>BLOCO 3</a:t>
                      </a:r>
                      <a:endParaRPr b="1" sz="22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/>
                        <a:t>Fundamentos para uso, construção e ajuste de LLMs</a:t>
                      </a:r>
                      <a:endParaRPr sz="2200"/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97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200"/>
                        <a:t>BLOCO 4</a:t>
                      </a:r>
                      <a:endParaRPr b="1" sz="22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/>
                        <a:t>Fundamentos para concepção e execução de projetos com IA generativa</a:t>
                      </a:r>
                      <a:endParaRPr sz="2200"/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6a27ec8f6_0_2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Cronogramas de Aulas  </a:t>
            </a:r>
            <a:endParaRPr/>
          </a:p>
        </p:txBody>
      </p:sp>
      <p:sp>
        <p:nvSpPr>
          <p:cNvPr id="133" name="Google Shape;133;g396a27ec8f6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" name="Google Shape;134;g396a27ec8f6_0_20"/>
          <p:cNvSpPr txBox="1"/>
          <p:nvPr/>
        </p:nvSpPr>
        <p:spPr>
          <a:xfrm>
            <a:off x="347525" y="1997550"/>
            <a:ext cx="114288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Cada </a:t>
            </a: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contém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aula síncrona de aproximadamente 1:30H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aulas assíncronas de aproximadamente 40 minutos cada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atividade prática em Notebook (podem ser executados no Google Colab)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plantão de dúvidas com o monitor da disciplina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(quarta-feira)</a:t>
            </a:r>
            <a:r>
              <a:rPr b="0" i="0" lang="pt-BR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6a27ec8f6_0_28"/>
          <p:cNvSpPr txBox="1"/>
          <p:nvPr>
            <p:ph type="title"/>
          </p:nvPr>
        </p:nvSpPr>
        <p:spPr>
          <a:xfrm>
            <a:off x="415625" y="179775"/>
            <a:ext cx="11360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pt-BR"/>
              <a:t>Bloco 1 - Fundamentos da Inteligência Artificial  </a:t>
            </a:r>
            <a:endParaRPr b="1"/>
          </a:p>
        </p:txBody>
      </p:sp>
      <p:sp>
        <p:nvSpPr>
          <p:cNvPr id="141" name="Google Shape;141;g396a27ec8f6_0_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2" name="Google Shape;142;g396a27ec8f6_0_28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1 - Fundamentos da Inteligência Artificial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síncrona - esta aula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3" name="Google Shape;143;g396a27ec8f6_0_28"/>
          <p:cNvGraphicFramePr/>
          <p:nvPr/>
        </p:nvGraphicFramePr>
        <p:xfrm>
          <a:off x="2428750" y="30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6809275"/>
              </a:tblGrid>
              <a:tr h="296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917525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Apresentação da disciplina, do cronograma, do plano de aulas e da avaliação. Conceitos básicos de IA, aprendizado de máquina e IA Generativa. Metodologia de estudo/aprendizagem. Pré-requisitos da disciplina.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74650">
                <a:tc vMerge="1"/>
              </a:tr>
              <a:tr h="674650"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6a27ec8f6_0_37"/>
          <p:cNvSpPr txBox="1"/>
          <p:nvPr>
            <p:ph type="title"/>
          </p:nvPr>
        </p:nvSpPr>
        <p:spPr>
          <a:xfrm>
            <a:off x="415625" y="179775"/>
            <a:ext cx="11360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pt-BR"/>
              <a:t>Bloco 1 - Fundamentos da Inteligência Artificial  </a:t>
            </a:r>
            <a:endParaRPr b="1"/>
          </a:p>
        </p:txBody>
      </p:sp>
      <p:sp>
        <p:nvSpPr>
          <p:cNvPr id="150" name="Google Shape;150;g396a27ec8f6_0_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1" name="Google Shape;151;g396a27ec8f6_0_37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1 - Fundamentos da Inteligência Artificial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assíncrona 1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2" name="Google Shape;152;g396a27ec8f6_0_37"/>
          <p:cNvGraphicFramePr/>
          <p:nvPr/>
        </p:nvGraphicFramePr>
        <p:xfrm>
          <a:off x="312450" y="29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1633400"/>
                <a:gridCol w="4932775"/>
                <a:gridCol w="4932775"/>
              </a:tblGrid>
              <a:tr h="44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Aula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Título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96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B1.</a:t>
                      </a:r>
                      <a:r>
                        <a:rPr lang="pt-BR" sz="1800"/>
                        <a:t>A1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Introdução à IA Generativa, histórico e evolução.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 aula apresenta o histórico da IA, desde os primeiros pesquisadores e sistemas, com destaque para o surgimento do primeiro chatbot da história, passando pela abordagem simbólica e pela neuronal, até chegar às tecnologias atuais de IA generativa e LLMs. Esta aula também apresenta conceitos e o funcionamento, em alto nível, de IA generativa.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6a27ec8f6_0_60"/>
          <p:cNvSpPr txBox="1"/>
          <p:nvPr>
            <p:ph type="title"/>
          </p:nvPr>
        </p:nvSpPr>
        <p:spPr>
          <a:xfrm>
            <a:off x="415625" y="179775"/>
            <a:ext cx="11360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pt-BR"/>
              <a:t>Bloco 1 - Fundamentos da Inteligência Artificial  </a:t>
            </a:r>
            <a:endParaRPr b="1"/>
          </a:p>
        </p:txBody>
      </p:sp>
      <p:sp>
        <p:nvSpPr>
          <p:cNvPr id="159" name="Google Shape;159;g396a27ec8f6_0_6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0" name="Google Shape;160;g396a27ec8f6_0_60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1 - Fundamentos da Inteligência Artificial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assíncrona 2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1" name="Google Shape;161;g396a27ec8f6_0_60"/>
          <p:cNvGraphicFramePr/>
          <p:nvPr/>
        </p:nvGraphicFramePr>
        <p:xfrm>
          <a:off x="312450" y="29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1633400"/>
                <a:gridCol w="4932775"/>
                <a:gridCol w="4932775"/>
              </a:tblGrid>
              <a:tr h="44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Aula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Título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96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B1.A2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Conceitos básicos de aprendizado de máquina.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Introduz conceitos básicos de aprendizagem de máquina necessários ao entendimento de como as LLMs são treinadas e executadas, incluindo pré-processamento de dados, treinamento e validação. Conceitos de aprendizado supervisionado, não supervisionado, sem supervisão e </a:t>
                      </a:r>
                      <a:r>
                        <a:rPr lang="pt-BR" sz="1800"/>
                        <a:t>auto supervisionado</a:t>
                      </a:r>
                      <a:r>
                        <a:rPr lang="pt-BR" sz="1800"/>
                        <a:t>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6a27ec8f6_0_68"/>
          <p:cNvSpPr txBox="1"/>
          <p:nvPr>
            <p:ph type="title"/>
          </p:nvPr>
        </p:nvSpPr>
        <p:spPr>
          <a:xfrm>
            <a:off x="415625" y="179775"/>
            <a:ext cx="11360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pt-BR"/>
              <a:t>Bloco 1 - Fundamentos da Inteligência Artificial  </a:t>
            </a:r>
            <a:endParaRPr b="1"/>
          </a:p>
        </p:txBody>
      </p:sp>
      <p:sp>
        <p:nvSpPr>
          <p:cNvPr id="168" name="Google Shape;168;g396a27ec8f6_0_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9" name="Google Shape;169;g396a27ec8f6_0_68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1 - Fundamentos da Inteligência Artificial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assíncrona 3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0" name="Google Shape;170;g396a27ec8f6_0_68"/>
          <p:cNvGraphicFramePr/>
          <p:nvPr/>
        </p:nvGraphicFramePr>
        <p:xfrm>
          <a:off x="312450" y="29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1633400"/>
                <a:gridCol w="4932775"/>
                <a:gridCol w="4932775"/>
              </a:tblGrid>
              <a:tr h="44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Aula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Título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96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B1.A3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Redes Neurais Artificiais (FF, CNN, RNN) e aprendizado profundo.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Introdução às redes neurais artificiais, incluindo rede FF (feedforward)  e MLP (Multilayer Perceptron), redes CNN (Convolutional Neural network) e redes RNN (Recurrent Neural Networks). Conceitos de aprendizado profundo e transfer learning.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6a27ec8f6_0_92"/>
          <p:cNvSpPr txBox="1"/>
          <p:nvPr>
            <p:ph type="title"/>
          </p:nvPr>
        </p:nvSpPr>
        <p:spPr>
          <a:xfrm>
            <a:off x="415625" y="179775"/>
            <a:ext cx="11360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pt-BR"/>
              <a:t>Bloco 1 - Fundamentos da Inteligência Artificial  </a:t>
            </a:r>
            <a:endParaRPr b="1"/>
          </a:p>
        </p:txBody>
      </p:sp>
      <p:sp>
        <p:nvSpPr>
          <p:cNvPr id="177" name="Google Shape;177;g396a27ec8f6_0_9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8" name="Google Shape;178;g396a27ec8f6_0_92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1 - Fundamentos da Inteligência Artificial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Atividade Prática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9" name="Google Shape;179;g396a27ec8f6_0_92"/>
          <p:cNvGraphicFramePr/>
          <p:nvPr/>
        </p:nvGraphicFramePr>
        <p:xfrm>
          <a:off x="2077013" y="315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8037975"/>
              </a:tblGrid>
              <a:tr h="342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Prática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980250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Notebook com treinamento de um modelo de modelos de IA e rede neurais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777975">
                <a:tc vMerge="1"/>
              </a:tr>
              <a:tr h="777975"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6a27ec8f6_0_10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6" name="Google Shape;186;g396a27ec8f6_0_102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2 -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Fundamentos da IA Generativa e do PLN atual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síncrona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7" name="Google Shape;187;g396a27ec8f6_0_102"/>
          <p:cNvGraphicFramePr/>
          <p:nvPr/>
        </p:nvGraphicFramePr>
        <p:xfrm>
          <a:off x="2428750" y="30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6809275"/>
              </a:tblGrid>
              <a:tr h="296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917525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Introdução às LLMs, incluindo a execução de um notebook com o exemplo “Generating Your First Text”. Dúvidas sobre as aulas assíncronas.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674650">
                <a:tc vMerge="1"/>
              </a:tr>
              <a:tr h="674650">
                <a:tc vMerge="1"/>
              </a:tr>
            </a:tbl>
          </a:graphicData>
        </a:graphic>
      </p:graphicFrame>
      <p:sp>
        <p:nvSpPr>
          <p:cNvPr id="188" name="Google Shape;188;g396a27ec8f6_0_102"/>
          <p:cNvSpPr txBox="1"/>
          <p:nvPr>
            <p:ph type="title"/>
          </p:nvPr>
        </p:nvSpPr>
        <p:spPr>
          <a:xfrm>
            <a:off x="415625" y="179775"/>
            <a:ext cx="11360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6390"/>
              <a:buNone/>
            </a:pPr>
            <a:r>
              <a:rPr b="1" lang="pt-BR"/>
              <a:t>Bloco 2 - </a:t>
            </a:r>
            <a:r>
              <a:rPr b="1" lang="pt-BR" sz="3478"/>
              <a:t>Fundamentos da IA Generativa e do PLN atual  </a:t>
            </a:r>
            <a:endParaRPr b="1" sz="3478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6a27ec8f6_0_76"/>
          <p:cNvSpPr txBox="1"/>
          <p:nvPr>
            <p:ph type="title"/>
          </p:nvPr>
        </p:nvSpPr>
        <p:spPr>
          <a:xfrm>
            <a:off x="415625" y="179775"/>
            <a:ext cx="11360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6390"/>
              <a:buNone/>
            </a:pPr>
            <a:r>
              <a:rPr b="1" lang="pt-BR"/>
              <a:t>Bloco 2 - </a:t>
            </a:r>
            <a:r>
              <a:rPr b="1" lang="pt-BR" sz="3478"/>
              <a:t>Fundamentos da IA Generativa e do PLN atual</a:t>
            </a:r>
            <a:r>
              <a:rPr b="1" lang="pt-BR" sz="3478"/>
              <a:t>  </a:t>
            </a:r>
            <a:endParaRPr b="1" sz="3478"/>
          </a:p>
        </p:txBody>
      </p:sp>
      <p:sp>
        <p:nvSpPr>
          <p:cNvPr id="195" name="Google Shape;195;g396a27ec8f6_0_7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6" name="Google Shape;196;g396a27ec8f6_0_76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2 -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Fundamentos da IA Generativa e do PLN atual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assíncrona 1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97" name="Google Shape;197;g396a27ec8f6_0_76"/>
          <p:cNvGraphicFramePr/>
          <p:nvPr/>
        </p:nvGraphicFramePr>
        <p:xfrm>
          <a:off x="312450" y="29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1633400"/>
                <a:gridCol w="4932775"/>
                <a:gridCol w="4932775"/>
              </a:tblGrid>
              <a:tr h="44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Aula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Título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96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B2.A1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Mecanismos de atenção, transformadores e arquiteturas decoder-only.  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Introdução e funcionamento do mecanismo de atenção e do multi-head attention. Arquitetura decoder-only. </a:t>
                      </a:r>
                      <a:r>
                        <a:rPr lang="pt-BR" sz="1800"/>
                        <a:t>  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6a27ec8f6_0_115"/>
          <p:cNvSpPr txBox="1"/>
          <p:nvPr>
            <p:ph type="title"/>
          </p:nvPr>
        </p:nvSpPr>
        <p:spPr>
          <a:xfrm>
            <a:off x="415625" y="179775"/>
            <a:ext cx="11360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6390"/>
              <a:buNone/>
            </a:pPr>
            <a:r>
              <a:rPr b="1" lang="pt-BR"/>
              <a:t>Bloco 2 - </a:t>
            </a:r>
            <a:r>
              <a:rPr b="1" lang="pt-BR" sz="3478"/>
              <a:t>Fundamentos da IA Generativa e do PLN atual  </a:t>
            </a:r>
            <a:endParaRPr b="1" sz="3478"/>
          </a:p>
        </p:txBody>
      </p:sp>
      <p:sp>
        <p:nvSpPr>
          <p:cNvPr id="204" name="Google Shape;204;g396a27ec8f6_0_1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5" name="Google Shape;205;g396a27ec8f6_0_115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2 - Fundamentos da IA Generativa e do PLN atual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assíncrona 2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06" name="Google Shape;206;g396a27ec8f6_0_115"/>
          <p:cNvGraphicFramePr/>
          <p:nvPr/>
        </p:nvGraphicFramePr>
        <p:xfrm>
          <a:off x="312450" y="29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1633400"/>
                <a:gridCol w="4932775"/>
                <a:gridCol w="4932775"/>
              </a:tblGrid>
              <a:tr h="44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Aula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Título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96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B2.A2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Tokens e Embeddings 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Apresentar o processo de tokenização em LLMs, incluindo um exemplo de como as LLMs tratam os tokens e de como o “tokenizador” divide o texto. Comparação entre os tokenizadores (BERT, GPT-2, Flan-T5, GPT-4, StarCoder2,Galactica,Phi-3). Como criar Word Embeddings contextualizados com modelos de linguagem. Introdução a text embeddings. Técnicas de embeddings além das LLMs (ex: com Word2vec).</a:t>
                      </a:r>
                      <a:r>
                        <a:rPr lang="pt-BR" sz="1800"/>
                        <a:t> 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6a27ec8f6_0_125"/>
          <p:cNvSpPr txBox="1"/>
          <p:nvPr>
            <p:ph type="title"/>
          </p:nvPr>
        </p:nvSpPr>
        <p:spPr>
          <a:xfrm>
            <a:off x="415625" y="179775"/>
            <a:ext cx="11360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6390"/>
              <a:buNone/>
            </a:pPr>
            <a:r>
              <a:rPr b="1" lang="pt-BR"/>
              <a:t>Bloco 2 - </a:t>
            </a:r>
            <a:r>
              <a:rPr b="1" lang="pt-BR" sz="3478"/>
              <a:t>Fundamentos da IA Generativa e do PLN atual  </a:t>
            </a:r>
            <a:endParaRPr b="1" sz="3478"/>
          </a:p>
        </p:txBody>
      </p:sp>
      <p:sp>
        <p:nvSpPr>
          <p:cNvPr id="213" name="Google Shape;213;g396a27ec8f6_0_1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4" name="Google Shape;214;g396a27ec8f6_0_125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2 - Fundamentos da IA Generativa e do PLN atual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assíncrona 3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15" name="Google Shape;215;g396a27ec8f6_0_125"/>
          <p:cNvGraphicFramePr/>
          <p:nvPr/>
        </p:nvGraphicFramePr>
        <p:xfrm>
          <a:off x="312450" y="29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1633400"/>
                <a:gridCol w="4932775"/>
                <a:gridCol w="4932775"/>
              </a:tblGrid>
              <a:tr h="44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Aula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Título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96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B2.A3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Arquiteturas e funcionamento interno dos LLMs.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O uso de transformers em LLMs para geração de texto: como escolher um único token a partir de uma distribuição de probabilidade.  Processamento de tokens em paralelo e tamanho de contexto. Melhorias no mecanismo de atenção.    </a:t>
                      </a:r>
                      <a:r>
                        <a:rPr lang="pt-BR" sz="1800"/>
                        <a:t> 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6a27ec8f6_0_13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2" name="Google Shape;222;g396a27ec8f6_0_138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2 -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Fundamentos da IA Generativa e do PLN atual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Atividade Prática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23" name="Google Shape;223;g396a27ec8f6_0_138"/>
          <p:cNvGraphicFramePr/>
          <p:nvPr/>
        </p:nvGraphicFramePr>
        <p:xfrm>
          <a:off x="2077013" y="315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8037975"/>
              </a:tblGrid>
              <a:tr h="342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Prática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980250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Notebooks com exemplos de tokenização, embeddings e geração com transformers.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777975">
                <a:tc vMerge="1"/>
              </a:tr>
              <a:tr h="777975">
                <a:tc vMerge="1"/>
              </a:tr>
            </a:tbl>
          </a:graphicData>
        </a:graphic>
      </p:graphicFrame>
      <p:sp>
        <p:nvSpPr>
          <p:cNvPr id="224" name="Google Shape;224;g396a27ec8f6_0_138"/>
          <p:cNvSpPr txBox="1"/>
          <p:nvPr>
            <p:ph type="title"/>
          </p:nvPr>
        </p:nvSpPr>
        <p:spPr>
          <a:xfrm>
            <a:off x="415625" y="179775"/>
            <a:ext cx="11360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6390"/>
              <a:buNone/>
            </a:pPr>
            <a:r>
              <a:rPr b="1" lang="pt-BR"/>
              <a:t>Bloco 2 - </a:t>
            </a:r>
            <a:r>
              <a:rPr b="1" lang="pt-BR" sz="3478"/>
              <a:t>Fundamentos da IA Generativa e do PLN atual  </a:t>
            </a:r>
            <a:endParaRPr b="1" sz="3478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6a27ec8f6_0_14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1" name="Google Shape;231;g396a27ec8f6_0_148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3 -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Fundamentos para uso, construção e ajuste de LLMs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síncrona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32" name="Google Shape;232;g396a27ec8f6_0_148"/>
          <p:cNvGraphicFramePr/>
          <p:nvPr/>
        </p:nvGraphicFramePr>
        <p:xfrm>
          <a:off x="2428750" y="30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6809275"/>
              </a:tblGrid>
              <a:tr h="296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917525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Apresentar uma visão geral dos diferentes usos de modelos pré-treinados, incluindo classificação de texto, clusterização, modelagem de tópicos, engenharia de prompts, busca semântica, RAG e modelos multimodais. </a:t>
                      </a:r>
                      <a:r>
                        <a:rPr lang="pt-BR" sz="1800"/>
                        <a:t> Dúvidas sobre as aulas assíncronas.</a:t>
                      </a:r>
                      <a:r>
                        <a:rPr lang="pt-BR" sz="1800"/>
                        <a:t>  </a:t>
                      </a:r>
                      <a:r>
                        <a:rPr lang="pt-BR" sz="1800"/>
                        <a:t>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74650">
                <a:tc vMerge="1"/>
              </a:tr>
              <a:tr h="674650">
                <a:tc vMerge="1"/>
              </a:tr>
            </a:tbl>
          </a:graphicData>
        </a:graphic>
      </p:graphicFrame>
      <p:sp>
        <p:nvSpPr>
          <p:cNvPr id="233" name="Google Shape;233;g396a27ec8f6_0_148"/>
          <p:cNvSpPr txBox="1"/>
          <p:nvPr>
            <p:ph type="title"/>
          </p:nvPr>
        </p:nvSpPr>
        <p:spPr>
          <a:xfrm>
            <a:off x="415625" y="179775"/>
            <a:ext cx="11612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68"/>
              <a:buNone/>
            </a:pPr>
            <a:r>
              <a:rPr b="1" lang="pt-BR"/>
              <a:t>Bloco 3 - </a:t>
            </a:r>
            <a:r>
              <a:rPr b="1" lang="pt-BR" sz="3144"/>
              <a:t>Fundamentos para uso, construção e ajuste de LLMs</a:t>
            </a:r>
            <a:r>
              <a:rPr b="1" lang="pt-BR" sz="3144"/>
              <a:t>  </a:t>
            </a:r>
            <a:endParaRPr b="1" sz="3144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6a27ec8f6_0_15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0" name="Google Shape;240;g396a27ec8f6_0_157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3 -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Fundamentos para uso, construção e ajuste de LLMs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assíncrona 1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41" name="Google Shape;241;g396a27ec8f6_0_157"/>
          <p:cNvGraphicFramePr/>
          <p:nvPr/>
        </p:nvGraphicFramePr>
        <p:xfrm>
          <a:off x="312450" y="29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1633400"/>
                <a:gridCol w="4932775"/>
                <a:gridCol w="4932775"/>
              </a:tblGrid>
              <a:tr h="44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Aula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Título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96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B3.A1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Práticas de uso de modelos pré-treinados.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Estudar exemplos práticos de aplicações de LLMs para diferentes tarefas, tais como classificação de texto com modelos generativos (ex: análise de sentimentos) e modelagem de tópicos. Conceitos básicos de prompts e LangChain.   </a:t>
                      </a:r>
                      <a:r>
                        <a:rPr lang="pt-BR" sz="1800"/>
                        <a:t> 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g396a27ec8f6_0_157"/>
          <p:cNvSpPr txBox="1"/>
          <p:nvPr>
            <p:ph type="title"/>
          </p:nvPr>
        </p:nvSpPr>
        <p:spPr>
          <a:xfrm>
            <a:off x="415625" y="179775"/>
            <a:ext cx="11612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68"/>
              <a:buNone/>
            </a:pPr>
            <a:r>
              <a:rPr b="1" lang="pt-BR"/>
              <a:t>Bloco 3 - </a:t>
            </a:r>
            <a:r>
              <a:rPr b="1" lang="pt-BR" sz="3144"/>
              <a:t>Fundamentos para uso, construção e ajuste de LLMs  </a:t>
            </a:r>
            <a:endParaRPr b="1" sz="3144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6a27ec8f6_0_1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9" name="Google Shape;249;g396a27ec8f6_0_168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3 - Fundamentos para uso, construção e ajuste de LLMs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assíncrona 2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50" name="Google Shape;250;g396a27ec8f6_0_168"/>
          <p:cNvGraphicFramePr/>
          <p:nvPr/>
        </p:nvGraphicFramePr>
        <p:xfrm>
          <a:off x="312450" y="29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1633400"/>
                <a:gridCol w="4932775"/>
                <a:gridCol w="4932775"/>
              </a:tblGrid>
              <a:tr h="44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Aula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Título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96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B3.A2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Conceitos de </a:t>
                      </a:r>
                      <a:r>
                        <a:rPr lang="pt-BR" sz="1800"/>
                        <a:t>pré</a:t>
                      </a:r>
                      <a:r>
                        <a:rPr lang="pt-BR" sz="1800"/>
                        <a:t>-treinamento e ajustes finos.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Descrever o funcionamento e o propósito das etapas de treinamento (Pré-treinamento, Ajuste fino supervisionado e Ajuste de preferências) e aprofundar em conceitos e técnicas de ajuste fino supervisionado.  Indução aos conceitos de Parameter-Efficient Fine-Tuning (PEFT) e Low-Rank Adaptation (LoRA). Introdução à avaliação de modelos, incluindo métricas a nível de palavra e benchmarks. Ajustes por recompensa.</a:t>
                      </a:r>
                      <a:r>
                        <a:rPr lang="pt-BR" sz="1800"/>
                        <a:t> 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251" name="Google Shape;251;g396a27ec8f6_0_168"/>
          <p:cNvSpPr txBox="1"/>
          <p:nvPr>
            <p:ph type="title"/>
          </p:nvPr>
        </p:nvSpPr>
        <p:spPr>
          <a:xfrm>
            <a:off x="415625" y="179775"/>
            <a:ext cx="11612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68"/>
              <a:buNone/>
            </a:pPr>
            <a:r>
              <a:rPr b="1" lang="pt-BR"/>
              <a:t>Bloco 3 - </a:t>
            </a:r>
            <a:r>
              <a:rPr b="1" lang="pt-BR" sz="3144"/>
              <a:t>Fundamentos para uso, construção e ajuste de LLMs  </a:t>
            </a:r>
            <a:endParaRPr b="1" sz="3144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6a27ec8f6_0_17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8" name="Google Shape;258;g396a27ec8f6_0_178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3 - Fundamentos para uso, construção e ajuste de LLMs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assíncrona 3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59" name="Google Shape;259;g396a27ec8f6_0_178"/>
          <p:cNvGraphicFramePr/>
          <p:nvPr/>
        </p:nvGraphicFramePr>
        <p:xfrm>
          <a:off x="312450" y="29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1633400"/>
                <a:gridCol w="4932775"/>
                <a:gridCol w="4932775"/>
              </a:tblGrid>
              <a:tr h="44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Aula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Título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96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B3.A3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Ajuste fino de modelos de LLM.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Introduzir aspectos práticos de ajuste fino com o QLoRA (Quantized Low-Rank Adaptation). Funcionamento do QLoRA e exemplos práticos.</a:t>
                      </a:r>
                      <a:r>
                        <a:rPr lang="pt-BR" sz="1800"/>
                        <a:t>    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260" name="Google Shape;260;g396a27ec8f6_0_178"/>
          <p:cNvSpPr txBox="1"/>
          <p:nvPr>
            <p:ph type="title"/>
          </p:nvPr>
        </p:nvSpPr>
        <p:spPr>
          <a:xfrm>
            <a:off x="415625" y="179775"/>
            <a:ext cx="11612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68"/>
              <a:buNone/>
            </a:pPr>
            <a:r>
              <a:rPr b="1" lang="pt-BR"/>
              <a:t>Bloco 3 - </a:t>
            </a:r>
            <a:r>
              <a:rPr b="1" lang="pt-BR" sz="3144"/>
              <a:t>Fundamentos para uso, construção e ajuste de LLMs  </a:t>
            </a:r>
            <a:endParaRPr b="1" sz="3144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6a27ec8f6_0_18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7" name="Google Shape;267;g396a27ec8f6_0_188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3 -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Fundamentos para uso, construção e ajuste de LLMs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Atividade Prática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68" name="Google Shape;268;g396a27ec8f6_0_188"/>
          <p:cNvGraphicFramePr/>
          <p:nvPr/>
        </p:nvGraphicFramePr>
        <p:xfrm>
          <a:off x="2077013" y="315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8037975"/>
              </a:tblGrid>
              <a:tr h="342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Prática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980250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Notebooks com uso de LLMs pré-treinadas e ajuste fino com o QLoRA.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777975">
                <a:tc vMerge="1"/>
              </a:tr>
              <a:tr h="777975">
                <a:tc vMerge="1"/>
              </a:tr>
            </a:tbl>
          </a:graphicData>
        </a:graphic>
      </p:graphicFrame>
      <p:sp>
        <p:nvSpPr>
          <p:cNvPr id="269" name="Google Shape;269;g396a27ec8f6_0_188"/>
          <p:cNvSpPr txBox="1"/>
          <p:nvPr>
            <p:ph type="title"/>
          </p:nvPr>
        </p:nvSpPr>
        <p:spPr>
          <a:xfrm>
            <a:off x="415625" y="179775"/>
            <a:ext cx="11612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68"/>
              <a:buNone/>
            </a:pPr>
            <a:r>
              <a:rPr b="1" lang="pt-BR"/>
              <a:t>Bloco 3 - </a:t>
            </a:r>
            <a:r>
              <a:rPr b="1" lang="pt-BR" sz="3144"/>
              <a:t>Fundamentos para uso, construção e ajuste de LLMs  </a:t>
            </a:r>
            <a:endParaRPr b="1" sz="3144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6a27ec8f6_0_19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6" name="Google Shape;276;g396a27ec8f6_0_198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4 - </a:t>
            </a:r>
            <a:r>
              <a:rPr lang="pt-BR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Fundamentos para concepção e execução de projetos com IA generativa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síncrona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77" name="Google Shape;277;g396a27ec8f6_0_198"/>
          <p:cNvGraphicFramePr/>
          <p:nvPr/>
        </p:nvGraphicFramePr>
        <p:xfrm>
          <a:off x="2428750" y="30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6809275"/>
              </a:tblGrid>
              <a:tr h="296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917525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Compreensão dos impactos da IA generativa nos negócios, na vida, no mercado de trabalho e na sociedade. Aspectos éticos. O uso de IA generativa, LLMs e agentes inteligentes para impulsionar a inovação e o surgimento de novos negócios. Mecanismos de apoio à inovação, planos, incentivos e agências de fomento.</a:t>
                      </a:r>
                      <a:r>
                        <a:rPr lang="pt-BR" sz="1800"/>
                        <a:t> </a:t>
                      </a:r>
                      <a:r>
                        <a:rPr lang="pt-BR" sz="1800"/>
                        <a:t>Dúvidas sobre as aulas assíncronas.</a:t>
                      </a:r>
                      <a:r>
                        <a:rPr lang="pt-BR" sz="1800"/>
                        <a:t>  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674650">
                <a:tc vMerge="1"/>
              </a:tr>
              <a:tr h="674650">
                <a:tc vMerge="1"/>
              </a:tr>
            </a:tbl>
          </a:graphicData>
        </a:graphic>
      </p:graphicFrame>
      <p:sp>
        <p:nvSpPr>
          <p:cNvPr id="278" name="Google Shape;278;g396a27ec8f6_0_198"/>
          <p:cNvSpPr txBox="1"/>
          <p:nvPr>
            <p:ph type="title"/>
          </p:nvPr>
        </p:nvSpPr>
        <p:spPr>
          <a:xfrm>
            <a:off x="415625" y="179775"/>
            <a:ext cx="11612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68"/>
              <a:buNone/>
            </a:pPr>
            <a:r>
              <a:rPr b="1" lang="pt-BR"/>
              <a:t>Bloco 4 - </a:t>
            </a:r>
            <a:r>
              <a:rPr b="1" lang="pt-BR" sz="2256"/>
              <a:t>Fundamentos para concepção e execução de projetos com IA generativa</a:t>
            </a:r>
            <a:r>
              <a:rPr b="1" lang="pt-BR" sz="3144"/>
              <a:t>  </a:t>
            </a:r>
            <a:endParaRPr b="1" sz="3144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6a27ec8f6_0_20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5" name="Google Shape;285;g396a27ec8f6_0_206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4 -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Fundamentos para concepção e execução de projetos com 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assíncrona 1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86" name="Google Shape;286;g396a27ec8f6_0_206"/>
          <p:cNvGraphicFramePr/>
          <p:nvPr/>
        </p:nvGraphicFramePr>
        <p:xfrm>
          <a:off x="312450" y="29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1633400"/>
                <a:gridCol w="4932775"/>
                <a:gridCol w="4932775"/>
              </a:tblGrid>
              <a:tr h="44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Aula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Título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96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B4.A1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Gestão e liderança de projetos com IA Generativa.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Gestão de projetos com IA: o papel da IA na gestão de projetos, o gestor como líder no uso da IA, os benefícios da IA para a gestão de projetos, os desafios da IA na gestão de projetos e as ferramentas de IA de apoio à gestão.  Gestão de projetos de IA: gestão de projetos inovadores, gerenciamento ágil e gestão de equipes inovadoras. </a:t>
                      </a:r>
                      <a:r>
                        <a:rPr lang="pt-BR" sz="1800"/>
                        <a:t>    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287" name="Google Shape;287;g396a27ec8f6_0_206"/>
          <p:cNvSpPr txBox="1"/>
          <p:nvPr>
            <p:ph type="title"/>
          </p:nvPr>
        </p:nvSpPr>
        <p:spPr>
          <a:xfrm>
            <a:off x="415625" y="179775"/>
            <a:ext cx="11612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68"/>
              <a:buNone/>
            </a:pPr>
            <a:r>
              <a:rPr b="1" lang="pt-BR"/>
              <a:t>Bloco 4 - </a:t>
            </a:r>
            <a:r>
              <a:rPr b="1" lang="pt-BR" sz="2256"/>
              <a:t>Fundamentos para concepção e execução de projetos com IA generativa</a:t>
            </a:r>
            <a:r>
              <a:rPr b="1" lang="pt-BR" sz="3144"/>
              <a:t>  </a:t>
            </a:r>
            <a:endParaRPr b="1" sz="3144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6a27ec8f6_0_2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4" name="Google Shape;294;g396a27ec8f6_0_220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4 -  </a:t>
            </a:r>
            <a:r>
              <a:rPr lang="pt-BR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Fundamentos para concepção e execução de projetos com 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assíncrona 2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95" name="Google Shape;295;g396a27ec8f6_0_220"/>
          <p:cNvGraphicFramePr/>
          <p:nvPr/>
        </p:nvGraphicFramePr>
        <p:xfrm>
          <a:off x="312450" y="29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1633400"/>
                <a:gridCol w="4932775"/>
                <a:gridCol w="4932775"/>
              </a:tblGrid>
              <a:tr h="44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Aula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Título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96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B4.A2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Elicitação e resolução criativa de problemas com IA Generativa.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Introdução ao design thinking. Como usar IA generativa para impulsionar o design thinking. Como usar design thinking para eliciar e resolver problemas de forma criativa com IA generativa.   </a:t>
                      </a:r>
                      <a:r>
                        <a:rPr lang="pt-BR" sz="1800"/>
                        <a:t>     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296" name="Google Shape;296;g396a27ec8f6_0_220"/>
          <p:cNvSpPr txBox="1"/>
          <p:nvPr>
            <p:ph type="title"/>
          </p:nvPr>
        </p:nvSpPr>
        <p:spPr>
          <a:xfrm>
            <a:off x="415625" y="179775"/>
            <a:ext cx="11612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68"/>
              <a:buNone/>
            </a:pPr>
            <a:r>
              <a:rPr b="1" lang="pt-BR"/>
              <a:t>Bloco 4 - </a:t>
            </a:r>
            <a:r>
              <a:rPr b="1" lang="pt-BR" sz="2256"/>
              <a:t>Fundamentos para concepção e execução de projetos com IA generativa</a:t>
            </a:r>
            <a:r>
              <a:rPr b="1" lang="pt-BR" sz="3144"/>
              <a:t>  </a:t>
            </a:r>
            <a:endParaRPr b="1" sz="3144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6a27ec8f6_0_2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3" name="Google Shape;303;g396a27ec8f6_0_228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4 -  </a:t>
            </a:r>
            <a:r>
              <a:rPr lang="pt-BR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Fundamentos para concepção e execução de projetos com 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Aula assíncrona 3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04" name="Google Shape;304;g396a27ec8f6_0_228"/>
          <p:cNvGraphicFramePr/>
          <p:nvPr/>
        </p:nvGraphicFramePr>
        <p:xfrm>
          <a:off x="312450" y="29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1633400"/>
                <a:gridCol w="4932775"/>
                <a:gridCol w="4932775"/>
              </a:tblGrid>
              <a:tr h="440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Aula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Título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Conteúdo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96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B4.A3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Tendências da IA, perspectivas, oportunidades e ameaças.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Apresentar as tendências atuais da IA, evolução, a IA generativa e agentes inteligentes, desafios científicos, tecnológicos e ambientais.   </a:t>
                      </a:r>
                      <a:r>
                        <a:rPr lang="pt-BR" sz="1800"/>
                        <a:t>      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305" name="Google Shape;305;g396a27ec8f6_0_228"/>
          <p:cNvSpPr txBox="1"/>
          <p:nvPr>
            <p:ph type="title"/>
          </p:nvPr>
        </p:nvSpPr>
        <p:spPr>
          <a:xfrm>
            <a:off x="415625" y="179775"/>
            <a:ext cx="11612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68"/>
              <a:buNone/>
            </a:pPr>
            <a:r>
              <a:rPr b="1" lang="pt-BR"/>
              <a:t>Bloco 4 - </a:t>
            </a:r>
            <a:r>
              <a:rPr b="1" lang="pt-BR" sz="2256"/>
              <a:t>Fundamentos para concepção e execução de projetos com IA generativa</a:t>
            </a:r>
            <a:r>
              <a:rPr b="1" lang="pt-BR" sz="3144"/>
              <a:t>  </a:t>
            </a:r>
            <a:endParaRPr b="1" sz="3144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6a27ec8f6_0_2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2" name="Google Shape;312;g396a27ec8f6_0_241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Bloco 4 - </a:t>
            </a:r>
            <a:r>
              <a:rPr lang="pt-BR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Fundamentos para concepção e execução de projetos com 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Atividade Prática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13" name="Google Shape;313;g396a27ec8f6_0_241"/>
          <p:cNvGraphicFramePr/>
          <p:nvPr/>
        </p:nvGraphicFramePr>
        <p:xfrm>
          <a:off x="2077013" y="315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{FA5C0927-830D-4B83-ADFF-2284A5616E9B}</a:tableStyleId>
              </a:tblPr>
              <a:tblGrid>
                <a:gridCol w="8037975"/>
              </a:tblGrid>
              <a:tr h="342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FFFFFF"/>
                          </a:solidFill>
                        </a:rPr>
                        <a:t>Prática</a:t>
                      </a:r>
                      <a:endParaRPr b="1" sz="1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980250"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Notebook com o uso de IA generativa para apoiar o design thinking na solução de problemas com IA.</a:t>
                      </a:r>
                      <a:endParaRPr sz="18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777975">
                <a:tc vMerge="1"/>
              </a:tr>
              <a:tr h="777975">
                <a:tc vMerge="1"/>
              </a:tr>
            </a:tbl>
          </a:graphicData>
        </a:graphic>
      </p:graphicFrame>
      <p:sp>
        <p:nvSpPr>
          <p:cNvPr id="314" name="Google Shape;314;g396a27ec8f6_0_241"/>
          <p:cNvSpPr txBox="1"/>
          <p:nvPr>
            <p:ph type="title"/>
          </p:nvPr>
        </p:nvSpPr>
        <p:spPr>
          <a:xfrm>
            <a:off x="415625" y="179775"/>
            <a:ext cx="116127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Cronogramas de Aulas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68"/>
              <a:buNone/>
            </a:pPr>
            <a:r>
              <a:rPr b="1" lang="pt-BR"/>
              <a:t>Bloco 4 - </a:t>
            </a:r>
            <a:r>
              <a:rPr b="1" lang="pt-BR" sz="2256"/>
              <a:t>Fundamentos para concepção e execução de projetos com IA generativa</a:t>
            </a:r>
            <a:r>
              <a:rPr b="1" lang="pt-BR" sz="3144"/>
              <a:t>  </a:t>
            </a:r>
            <a:endParaRPr b="1" sz="3144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9898bee09_0_6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Atividade Avaliativa </a:t>
            </a:r>
            <a:endParaRPr/>
          </a:p>
        </p:txBody>
      </p:sp>
      <p:sp>
        <p:nvSpPr>
          <p:cNvPr id="321" name="Google Shape;321;g389898bee09_0_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2" name="Google Shape;322;g389898bee09_0_66"/>
          <p:cNvSpPr txBox="1"/>
          <p:nvPr/>
        </p:nvSpPr>
        <p:spPr>
          <a:xfrm>
            <a:off x="347525" y="1997550"/>
            <a:ext cx="11428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Foca realizar o ajuste fino de uma LLM </a:t>
            </a:r>
            <a:endParaRPr b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Individual</a:t>
            </a:r>
            <a:endParaRPr b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Entregar notebook</a:t>
            </a:r>
            <a:endParaRPr b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Critérios</a:t>
            </a:r>
            <a:endParaRPr b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Complexidade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Completude </a:t>
            </a:r>
            <a:endParaRPr b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Ausência de bugs</a:t>
            </a:r>
            <a:endParaRPr b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Documentação</a:t>
            </a: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6a40c76c2_0_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Critérios de Aprovação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29" name="Google Shape;329;g396a40c76c2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0" name="Google Shape;330;g396a40c76c2_0_0"/>
          <p:cNvSpPr txBox="1"/>
          <p:nvPr/>
        </p:nvSpPr>
        <p:spPr>
          <a:xfrm>
            <a:off x="347525" y="1997550"/>
            <a:ext cx="11428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Nota mínima 7,0 </a:t>
            </a:r>
            <a:endParaRPr b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Frequência mínima 75%</a:t>
            </a: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89898bee09_0_2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pt-BR"/>
              <a:t>Conceitos Básicos da Inteligência Artificial</a:t>
            </a:r>
            <a:endParaRPr b="1"/>
          </a:p>
        </p:txBody>
      </p:sp>
      <p:sp>
        <p:nvSpPr>
          <p:cNvPr id="337" name="Google Shape;337;g389898bee09_0_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8" name="Google Shape;338;g389898bee09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825" y="1738894"/>
            <a:ext cx="9265869" cy="5053699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89898bee09_0_29"/>
          <p:cNvSpPr txBox="1"/>
          <p:nvPr/>
        </p:nvSpPr>
        <p:spPr>
          <a:xfrm>
            <a:off x="10526525" y="549510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Gemini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6a40c76c2_0_2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Conceitos de IA: Inteligência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46" name="Google Shape;346;g396a40c76c2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7" name="Google Shape;347;g396a40c76c2_0_20"/>
          <p:cNvSpPr txBox="1"/>
          <p:nvPr/>
        </p:nvSpPr>
        <p:spPr>
          <a:xfrm>
            <a:off x="347525" y="1997550"/>
            <a:ext cx="11428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que é Inteligência ?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Podemos passar o curso inteiro (ou mesmo anos) tentando definir o que é inteligência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“simplificar” normalmente assumimos que pessoas são inteligentes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8" name="Google Shape;348;g396a40c76c2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2690" y="4320450"/>
            <a:ext cx="5522620" cy="196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6a40c76c2_0_3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Conceitos de IA: Inteligência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55" name="Google Shape;355;g396a40c76c2_0_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6" name="Google Shape;356;g396a40c76c2_0_31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Tipos de Inteligência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7" name="Google Shape;357;g396a40c76c2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4000" y="1765325"/>
            <a:ext cx="4970838" cy="497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a40c76c2_0_31"/>
          <p:cNvSpPr txBox="1"/>
          <p:nvPr/>
        </p:nvSpPr>
        <p:spPr>
          <a:xfrm>
            <a:off x="188475" y="6396300"/>
            <a:ext cx="536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hlinkClick r:id="rId4"/>
              </a:rPr>
              <a:t>https://psychology-spot.com/types-of-intelligence/</a:t>
            </a:r>
            <a:endParaRPr sz="1800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6a40c76c2_0_4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Conceitos de IA: Inteligência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65" name="Google Shape;365;g396a40c76c2_0_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6" name="Google Shape;366;g396a40c76c2_0_45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Logo um sistema inteligente deve?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g396a40c76c2_0_45"/>
          <p:cNvSpPr txBox="1"/>
          <p:nvPr/>
        </p:nvSpPr>
        <p:spPr>
          <a:xfrm>
            <a:off x="188475" y="6396300"/>
            <a:ext cx="536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Russell e Norvig, 2020 </a:t>
            </a:r>
            <a:endParaRPr sz="1800" u="sng">
              <a:solidFill>
                <a:schemeClr val="hlink"/>
              </a:solidFill>
            </a:endParaRPr>
          </a:p>
        </p:txBody>
      </p:sp>
      <p:pic>
        <p:nvPicPr>
          <p:cNvPr id="368" name="Google Shape;368;g396a40c76c2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1650" y="2580375"/>
            <a:ext cx="6629950" cy="408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6a40c76c2_0_5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Conceitos de IA: </a:t>
            </a:r>
            <a:r>
              <a:rPr lang="pt-BR"/>
              <a:t>Agindo</a:t>
            </a:r>
            <a:r>
              <a:rPr lang="pt-BR"/>
              <a:t> como Humanos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75" name="Google Shape;375;g396a40c76c2_0_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6" name="Google Shape;376;g396a40c76c2_0_58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Teste de Turing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7" name="Google Shape;377;g396a40c76c2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675" y="2720700"/>
            <a:ext cx="10623925" cy="379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96a40c76c2_0_6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Conceitos de IA: </a:t>
            </a:r>
            <a:r>
              <a:rPr lang="pt-BR"/>
              <a:t>Agindo como Humanos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84" name="Google Shape;384;g396a40c76c2_0_6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5" name="Google Shape;385;g396a40c76c2_0_69"/>
          <p:cNvSpPr txBox="1"/>
          <p:nvPr/>
        </p:nvSpPr>
        <p:spPr>
          <a:xfrm>
            <a:off x="347525" y="1997550"/>
            <a:ext cx="11428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Algumas técnicas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Processamento de Linguagem Natural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Representação de Conhecimento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Raciocínio automatizado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Aprendizagem de Máquina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Visão Computacional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Robótica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...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6a40c76c2_0_7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Conceitos de IA: </a:t>
            </a:r>
            <a:r>
              <a:rPr lang="pt-BR"/>
              <a:t>Pensando como Humanos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92" name="Google Shape;392;g396a40c76c2_0_7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3" name="Google Shape;393;g396a40c76c2_0_78"/>
          <p:cNvSpPr txBox="1"/>
          <p:nvPr/>
        </p:nvSpPr>
        <p:spPr>
          <a:xfrm>
            <a:off x="347525" y="1997550"/>
            <a:ext cx="114288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Modelagem Cognitiva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Antes de dizer se os programas pensam como humanos, devemos ter uma maneira de determinar como os humanos pensam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Introspecção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experimentos da psicologia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Campo interdisciplinar da ciência cognitiva, junto com modelos de IA e técnicas experimentais da psicologia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6a40c76c2_0_8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Conceitos de IA: </a:t>
            </a:r>
            <a:r>
              <a:rPr lang="pt-BR"/>
              <a:t>Pensando Racionalmente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00" name="Google Shape;400;g396a40c76c2_0_8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1" name="Google Shape;401;g396a40c76c2_0_87"/>
          <p:cNvSpPr txBox="1"/>
          <p:nvPr/>
        </p:nvSpPr>
        <p:spPr>
          <a:xfrm>
            <a:off x="347525" y="1997550"/>
            <a:ext cx="11428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 leis do pensamento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Fundamentos lógicos de Aristóteles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Desenvolvimento da lógica formal nos séculos 19 e 20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Representação familiar e bem definida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96a40c76c2_0_9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Conceitos de IA: </a:t>
            </a:r>
            <a:r>
              <a:rPr lang="pt-BR"/>
              <a:t>Agindo Racionalmente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08" name="Google Shape;408;g396a40c76c2_0_9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9" name="Google Shape;409;g396a40c76c2_0_96"/>
          <p:cNvSpPr txBox="1"/>
          <p:nvPr/>
        </p:nvSpPr>
        <p:spPr>
          <a:xfrm>
            <a:off x="347525" y="1997550"/>
            <a:ext cx="11428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Agente racional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 agente é algo que percebe o ambiente e realiza ações sobre ele (ex: ser humano)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abordagem sobre as "leis do pensamento" está destinada a realizar inferências corretas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Habilidades cognitivas necessárias para o teste de Turing estão presentes na ações racionais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Habilidades de comunicar com outros agentes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Ex: linguagem natural, protocolos de comunicação, etc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96a40c76c2_0_10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Conceitos de IA: </a:t>
            </a:r>
            <a:r>
              <a:rPr lang="pt-BR"/>
              <a:t>Fundamentos da 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16" name="Google Shape;416;g396a40c76c2_0_10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7" name="Google Shape;417;g396a40c76c2_0_104"/>
          <p:cNvSpPr txBox="1"/>
          <p:nvPr/>
        </p:nvSpPr>
        <p:spPr>
          <a:xfrm>
            <a:off x="347525" y="1997550"/>
            <a:ext cx="11428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IA se apoia em várias disciplinas, ex: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Filosofia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Matemática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Economia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Neurociência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Psicologia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Linguística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Estatística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Engenharia e Computação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8" name="Google Shape;418;g396a40c76c2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0425" y="1798651"/>
            <a:ext cx="1624591" cy="481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6a40c76c2_0_11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Filosofia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25" name="Google Shape;425;g396a40c76c2_0_1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6" name="Google Shape;426;g396a40c76c2_0_114"/>
          <p:cNvSpPr txBox="1"/>
          <p:nvPr/>
        </p:nvSpPr>
        <p:spPr>
          <a:xfrm>
            <a:off x="347525" y="1997550"/>
            <a:ext cx="11428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Começou com o Platão, Socrates e Aristoteles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Aristoteles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Tentou formular mais precisamente as leis que governam a parte racional da mente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Não acreditava que todas as partes da mente era governada por procedimentos lógicos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Também tinha a noção da intuição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7" name="Google Shape;427;g396a40c76c2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0350" y="4026950"/>
            <a:ext cx="3780900" cy="271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96a40c76c2_0_12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Filosofia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34" name="Google Shape;434;g396a40c76c2_0_1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5" name="Google Shape;435;g396a40c76c2_0_125"/>
          <p:cNvSpPr txBox="1"/>
          <p:nvPr/>
        </p:nvSpPr>
        <p:spPr>
          <a:xfrm>
            <a:off x="347525" y="1997550"/>
            <a:ext cx="114288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René Descartes (1596-1650)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Estudando a relação entre a mente e o sistema físico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Propôs o Dualismo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Onde parte da mente (alma ou espírito) está fora da natureza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Wilhelm Leibniz (1646-1716)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Imaginava construir equipamentos mecânicos que             realizava operações mentais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Materialismo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Todas as coisas do mundo (inclusive o cérebro e a mente) opera segundo leis físicas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6" name="Google Shape;436;g396a40c76c2_0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4025" y="1499500"/>
            <a:ext cx="1724275" cy="170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g396a40c76c2_0_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412" y="4195999"/>
            <a:ext cx="1391500" cy="1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96a40c76c2_0_13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Filosofia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44" name="Google Shape;444;g396a40c76c2_0_1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5" name="Google Shape;445;g396a40c76c2_0_136"/>
          <p:cNvSpPr txBox="1"/>
          <p:nvPr/>
        </p:nvSpPr>
        <p:spPr>
          <a:xfrm>
            <a:off x="347525" y="1997550"/>
            <a:ext cx="114288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Francis Bacon (1561-1626)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Movimento do empirismo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Acreditar que o conhecimento está baseado: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 observação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 experiência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Bertrand Russel (1872-1970)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Introduziu o positivismo lógico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Duas teorias: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Sentenças de observações que correspondem ao sensores de entrada 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Teoria da confirmação que estabelece como o conhecimento pode ser adquirido a partir de uma experiência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6" name="Google Shape;446;g396a40c76c2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3700" y="1731175"/>
            <a:ext cx="2102625" cy="35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96a40c76c2_0_14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Filosofia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53" name="Google Shape;453;g396a40c76c2_0_14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4" name="Google Shape;454;g396a40c76c2_0_148"/>
          <p:cNvSpPr txBox="1"/>
          <p:nvPr/>
        </p:nvSpPr>
        <p:spPr>
          <a:xfrm>
            <a:off x="347525" y="1997550"/>
            <a:ext cx="114288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Newell, Simon e Shaw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General Problem Solver (GPS) - Solucionador de Problemas Genérico 1957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Newell e Simon  são considerados como dois dos pais da inteligência artificial e da ciência cognitiva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5" name="Google Shape;455;g396a40c76c2_0_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3863" y="4656938"/>
            <a:ext cx="2619375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96a40c76c2_0_15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Matemática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62" name="Google Shape;462;g396a40c76c2_0_1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3" name="Google Shape;463;g396a40c76c2_0_158"/>
          <p:cNvSpPr txBox="1"/>
          <p:nvPr/>
        </p:nvSpPr>
        <p:spPr>
          <a:xfrm>
            <a:off x="347525" y="1997550"/>
            <a:ext cx="11428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Mecanismos mais formais em três áreas principais: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Computação (algoritmo formal)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Lógica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Probabilidade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96a40c76c2_0_16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Matemática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70" name="Google Shape;470;g396a40c76c2_0_16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1" name="Google Shape;471;g396a40c76c2_0_167"/>
          <p:cNvSpPr txBox="1"/>
          <p:nvPr/>
        </p:nvSpPr>
        <p:spPr>
          <a:xfrm>
            <a:off x="347525" y="1997550"/>
            <a:ext cx="114288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George Boole (1815-1864)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Introduziu uma linguagem formal para fazer inferências lógicas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Criador da álgebra booleana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Gottlob Frege (1848-1925)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Exceto por algumas alterações na notação, formou a lógica de predicados de primeira ordem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Ao lado de Aristóteles, o é considerado por alguns maior lógico de todos os tempos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2" name="Google Shape;472;g396a40c76c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573" y="5164525"/>
            <a:ext cx="1289189" cy="15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g396a40c76c2_0_1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4750" y="5183592"/>
            <a:ext cx="1437775" cy="1539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96a40c76c2_0_17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Matemática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80" name="Google Shape;480;g396a40c76c2_0_17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1" name="Google Shape;481;g396a40c76c2_0_176"/>
          <p:cNvSpPr txBox="1"/>
          <p:nvPr/>
        </p:nvSpPr>
        <p:spPr>
          <a:xfrm>
            <a:off x="347525" y="1997550"/>
            <a:ext cx="114288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Alfred Tarski (1902-1983)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Introduziu uma teoria que exibe como relacionar objetos em uma lógica a objetos do mundo real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Kurt Gödel (1906-1978)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Introduziu o teorema da incompletude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Exibe que para alguns problemas matemáticos não podem ser resolvidos por computador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2" name="Google Shape;482;g396a40c76c2_0_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8050" y="5057000"/>
            <a:ext cx="1837425" cy="134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96a40c76c2_0_1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5475" y="5024350"/>
            <a:ext cx="1103900" cy="14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96a40c76c2_0_18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Matemática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90" name="Google Shape;490;g396a40c76c2_0_18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1" name="Google Shape;491;g396a40c76c2_0_188"/>
          <p:cNvSpPr txBox="1"/>
          <p:nvPr/>
        </p:nvSpPr>
        <p:spPr>
          <a:xfrm>
            <a:off x="347525" y="1997550"/>
            <a:ext cx="114288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Alan Turing (1912-1954)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Introduziu o modelo da chamada máquina de turing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Mecanismo pelo qual podemos a partir dele determinar se um problema é ou não decidivel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Stephen Cook (1939 - ) e Richard Karp (1935 - 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Teoria da NP-Completude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Todo problema em NP se pode reduzir, com uma redução de tempo polinomial, a um dos problemas NP-completo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2" name="Google Shape;492;g396a40c76c2_0_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607" y="1481663"/>
            <a:ext cx="1147450" cy="143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g396a40c76c2_0_1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2311" y="5309375"/>
            <a:ext cx="2299234" cy="143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96a40c76c2_0_19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</a:t>
            </a:r>
            <a:r>
              <a:rPr lang="pt-BR"/>
              <a:t>Economia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00" name="Google Shape;500;g396a40c76c2_0_19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1" name="Google Shape;501;g396a40c76c2_0_199"/>
          <p:cNvSpPr txBox="1"/>
          <p:nvPr/>
        </p:nvSpPr>
        <p:spPr>
          <a:xfrm>
            <a:off x="347525" y="1997550"/>
            <a:ext cx="11428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Adam Smith (1723-1790)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Pai da economia moderna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as pessoas fazem escolhas que levam a resultados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John von Neumann (1723-1790)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Teoria de jogos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Arquitetura de von Neumann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Richard Bellman (1920 – 1984)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Markov decision processes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Framework matemático para tratar decisões e ações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2" name="Google Shape;502;g396a40c76c2_0_1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1200" y="1499500"/>
            <a:ext cx="1257100" cy="160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g396a40c76c2_0_1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3837" y="3237337"/>
            <a:ext cx="1091825" cy="129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g396a40c76c2_0_1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53822" y="4530896"/>
            <a:ext cx="1091850" cy="16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6a40c76c2_0_21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</a:t>
            </a:r>
            <a:r>
              <a:rPr lang="pt-BR"/>
              <a:t>Neurociência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11" name="Google Shape;511;g396a40c76c2_0_2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12" name="Google Shape;512;g396a40c76c2_0_212"/>
          <p:cNvSpPr txBox="1"/>
          <p:nvPr/>
        </p:nvSpPr>
        <p:spPr>
          <a:xfrm>
            <a:off x="347525" y="1997550"/>
            <a:ext cx="114288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Paul Broca (1824-1880)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Demostrou que regiões especializadas do cérebro são responsáveis    por funções cognitivas específicas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Camillo Golgi (1843-1926)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Desenvolveu técnicas que permitiam a observação de neurônios individualmente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Nicolas Rashevsky (1899 – 1972)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Primeiro a usar modelos matemáticos para estudar o sistema      nervoso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3" name="Google Shape;513;g396a40c76c2_0_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9901" y="5354650"/>
            <a:ext cx="2269655" cy="12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g396a40c76c2_0_2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17760" y="1809061"/>
            <a:ext cx="1089375" cy="14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g396a40c76c2_0_2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17747" y="3259054"/>
            <a:ext cx="1089375" cy="1540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g396a40c76c2_0_2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47864" y="4842701"/>
            <a:ext cx="1029132" cy="15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96a40c76c2_0_22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</a:t>
            </a:r>
            <a:r>
              <a:rPr lang="pt-BR"/>
              <a:t>Psicologia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23" name="Google Shape;523;g396a40c76c2_0_2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24" name="Google Shape;524;g396a40c76c2_0_227"/>
          <p:cNvSpPr txBox="1"/>
          <p:nvPr/>
        </p:nvSpPr>
        <p:spPr>
          <a:xfrm>
            <a:off x="347525" y="1997550"/>
            <a:ext cx="114288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Hermann von Helmholtz (1821-1894) e Wilhelm Wundt (1832-1920)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Métodos científicos para estudar o comportamento humano 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John Watson (1878-1958) e Edward Lee Thorndike (1874-1949)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Behaviorism (comportamentalismo)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Rejeita que introspeção prover evidências </a:t>
            </a: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concretas </a:t>
            </a: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 comportamento 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Estuda medidas objetivas sobre a percepção e as ações resultantes 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Teve sucesso na compreensão dos animais, mas teve pouco sucesso na compreensão de humanos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Ulric Gustav Neisser (1928 – 2012)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Impulso a psicologia cognitiva após seu livro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Mudança do comportamentalismo para modelos cognitivos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5" name="Google Shape;525;g396a40c76c2_0_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6324" y="1688575"/>
            <a:ext cx="1585675" cy="1058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g396a40c76c2_0_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37349" y="2827274"/>
            <a:ext cx="1882975" cy="94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g396a40c76c2_0_2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18456" y="5296419"/>
            <a:ext cx="920764" cy="12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96a40c76c2_0_24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</a:t>
            </a:r>
            <a:r>
              <a:rPr lang="pt-BR"/>
              <a:t>Linguística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34" name="Google Shape;534;g396a40c76c2_0_2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5" name="Google Shape;535;g396a40c76c2_0_241"/>
          <p:cNvSpPr txBox="1"/>
          <p:nvPr/>
        </p:nvSpPr>
        <p:spPr>
          <a:xfrm>
            <a:off x="347525" y="1997550"/>
            <a:ext cx="114288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Noam Chomsky (1928 - 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Gramática ge(ne)rativa transformacional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Ambiguidade, compreensão do contexto e não somente da          estrutura das sentenças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Peirce (1839 – 1914) e Saussure (1857 – 1913)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Teoria dos signos, representação do conhecimento e PLN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6" name="Google Shape;536;g396a40c76c2_0_2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7625" y="1724075"/>
            <a:ext cx="1159900" cy="14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g396a40c76c2_0_2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8438" y="4754575"/>
            <a:ext cx="2646985" cy="16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96a40c76c2_0_25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</a:t>
            </a:r>
            <a:r>
              <a:rPr lang="pt-BR"/>
              <a:t>Estatística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44" name="Google Shape;544;g396a40c76c2_0_2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5" name="Google Shape;545;g396a40c76c2_0_255"/>
          <p:cNvSpPr txBox="1"/>
          <p:nvPr/>
        </p:nvSpPr>
        <p:spPr>
          <a:xfrm>
            <a:off x="333026" y="1997550"/>
            <a:ext cx="114288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Tomas Bayes (1702-1761)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Propôs regras para quantificar probabilidades subjetivas 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Base para as atuais Bayesian networks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Abordagem moderna para tratar a incerteza em IA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Ronald Fisher (1890-1962)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Considerado o pai da estatística moderna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John Tukey (1915–2000)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Popularizou a análise exploratória de dados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6" name="Google Shape;546;g396a40c76c2_0_2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1125" y="1789175"/>
            <a:ext cx="1221800" cy="131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g396a40c76c2_0_2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3338" y="3297050"/>
            <a:ext cx="1017375" cy="143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g396a40c76c2_0_2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99065" y="4816371"/>
            <a:ext cx="1593860" cy="131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96a40c76c2_0_26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</a:t>
            </a:r>
            <a:r>
              <a:rPr lang="pt-BR"/>
              <a:t>Engenharia e Computação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55" name="Google Shape;555;g396a40c76c2_0_2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56" name="Google Shape;556;g396a40c76c2_0_2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275" y="1847175"/>
            <a:ext cx="7248525" cy="483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96a40c76c2_0_268"/>
          <p:cNvSpPr txBox="1"/>
          <p:nvPr/>
        </p:nvSpPr>
        <p:spPr>
          <a:xfrm>
            <a:off x="2493825" y="61475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Segundo o ChatGPT </a:t>
            </a:r>
            <a:endParaRPr sz="1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96a40c76c2_0_28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Fundamentos da IA: Engenharia e Computação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64" name="Google Shape;564;g396a40c76c2_0_28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65" name="Google Shape;565;g396a40c76c2_0_284"/>
          <p:cNvSpPr txBox="1"/>
          <p:nvPr/>
        </p:nvSpPr>
        <p:spPr>
          <a:xfrm>
            <a:off x="10946725" y="5306600"/>
            <a:ext cx="11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Gemini</a:t>
            </a:r>
            <a:endParaRPr sz="1800"/>
          </a:p>
        </p:txBody>
      </p:sp>
      <p:pic>
        <p:nvPicPr>
          <p:cNvPr id="566" name="Google Shape;566;g396a40c76c2_0_2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300" y="1750950"/>
            <a:ext cx="9151626" cy="499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96a40c76c2_0_29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pt-BR"/>
              <a:t>Pré-requisitos da Disciplina</a:t>
            </a:r>
            <a:endParaRPr b="1"/>
          </a:p>
        </p:txBody>
      </p:sp>
      <p:sp>
        <p:nvSpPr>
          <p:cNvPr id="573" name="Google Shape;573;g396a40c76c2_0_29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96a40c76c2_0_30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pt-BR"/>
              <a:t>Conhecimento Prévio</a:t>
            </a:r>
            <a:endParaRPr b="1"/>
          </a:p>
        </p:txBody>
      </p:sp>
      <p:sp>
        <p:nvSpPr>
          <p:cNvPr id="580" name="Google Shape;580;g396a40c76c2_0_30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81" name="Google Shape;581;g396a40c76c2_0_305"/>
          <p:cNvSpPr txBox="1"/>
          <p:nvPr/>
        </p:nvSpPr>
        <p:spPr>
          <a:xfrm>
            <a:off x="347525" y="1997550"/>
            <a:ext cx="11428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Algoritmos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Estruturas de controles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Loops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Procedimentos e Funções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Variáveis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Operadores, ...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Estruturas de dados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Tipos primitivos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Vetores, Listas, Pilhas, Filas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Árvores, Matrizes, ...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96a40c76c2_0_31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pt-BR"/>
              <a:t>Conhecimento Prévio</a:t>
            </a:r>
            <a:endParaRPr/>
          </a:p>
        </p:txBody>
      </p:sp>
      <p:sp>
        <p:nvSpPr>
          <p:cNvPr id="588" name="Google Shape;588;g396a40c76c2_0_3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89" name="Google Shape;589;g396a40c76c2_0_312"/>
          <p:cNvSpPr txBox="1"/>
          <p:nvPr/>
        </p:nvSpPr>
        <p:spPr>
          <a:xfrm>
            <a:off x="347525" y="1997550"/>
            <a:ext cx="11428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Matemática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Lógica Matemática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Aritmética e Álgebra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Teoria dos conjuntos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Funções e Relações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Matrizes e Sistemas Lineares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Grafos e Árvores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Gráficos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96a40c76c2_0_31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pt-BR"/>
              <a:t>Conhecimento Prévio</a:t>
            </a:r>
            <a:endParaRPr/>
          </a:p>
        </p:txBody>
      </p:sp>
      <p:sp>
        <p:nvSpPr>
          <p:cNvPr id="596" name="Google Shape;596;g396a40c76c2_0_3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97" name="Google Shape;597;g396a40c76c2_0_319"/>
          <p:cNvSpPr txBox="1"/>
          <p:nvPr/>
        </p:nvSpPr>
        <p:spPr>
          <a:xfrm>
            <a:off x="347525" y="1997550"/>
            <a:ext cx="11428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Estatística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Estatística Descritiva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média, mediana, moda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amplitude, variância, desvio padrão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quartil, percentil, amplitude interquartil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Estatística Inferencial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técnicas de estimação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testes de hipóteses e significância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regressão linear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...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96a40c76c2_0_32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pt-BR"/>
              <a:t>Conhecimento Prévio</a:t>
            </a:r>
            <a:endParaRPr/>
          </a:p>
        </p:txBody>
      </p:sp>
      <p:sp>
        <p:nvSpPr>
          <p:cNvPr id="604" name="Google Shape;604;g396a40c76c2_0_3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05" name="Google Shape;605;g396a40c76c2_0_3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575" y="1804300"/>
            <a:ext cx="3366480" cy="5053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396a40c76c2_0_327"/>
          <p:cNvSpPr/>
          <p:nvPr/>
        </p:nvSpPr>
        <p:spPr>
          <a:xfrm>
            <a:off x="7672850" y="2978075"/>
            <a:ext cx="1566000" cy="666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96a40c76c2_0_33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pt-BR"/>
              <a:t>Conhecimento Prévio - Recursos Python</a:t>
            </a:r>
            <a:endParaRPr/>
          </a:p>
        </p:txBody>
      </p:sp>
      <p:sp>
        <p:nvSpPr>
          <p:cNvPr id="613" name="Google Shape;613;g396a40c76c2_0_3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14" name="Google Shape;614;g396a40c76c2_0_336"/>
          <p:cNvSpPr txBox="1"/>
          <p:nvPr/>
        </p:nvSpPr>
        <p:spPr>
          <a:xfrm>
            <a:off x="347525" y="1997550"/>
            <a:ext cx="11428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Material anexo à disciplina no Classroom, Tutoriais e Livros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https://www.w3schools.com/python/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https://www.python.org/about/gettingstarted/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https://blog.finxter.com/free-python-books/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5" name="Google Shape;615;g396a40c76c2_0_3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20125" y="4123499"/>
            <a:ext cx="6939900" cy="261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96a40c76c2_0_34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pt-BR"/>
              <a:t>Bibliografia Básica da Disciplina </a:t>
            </a:r>
            <a:endParaRPr/>
          </a:p>
        </p:txBody>
      </p:sp>
      <p:sp>
        <p:nvSpPr>
          <p:cNvPr id="622" name="Google Shape;622;g396a40c76c2_0_34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23" name="Google Shape;623;g396a40c76c2_0_349"/>
          <p:cNvSpPr txBox="1"/>
          <p:nvPr/>
        </p:nvSpPr>
        <p:spPr>
          <a:xfrm>
            <a:off x="347525" y="1997550"/>
            <a:ext cx="11428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Tunstall, L., Von Werra, L., &amp; Wolf, T. Natural Language Processing with Transformers, Revised Edition. O'Reilly Media, Inc, 2022.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Alammar, J., &amp; Grootendorst, M. Hands-on large language models: language understanding and generation. O'Reilly Media, Inc., 2024.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Raschka, S. Build a Large Language Model from Scratch; Manning Publications: Shelter Island, NY, USA, 2024; 400p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4" name="Google Shape;624;g396a40c76c2_0_3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1542" y="4815650"/>
            <a:ext cx="1489176" cy="199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g396a40c76c2_0_3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6575" y="4815650"/>
            <a:ext cx="1603784" cy="199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g396a40c76c2_0_3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2375" y="4822688"/>
            <a:ext cx="1489175" cy="1983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2023-07-05T20:15:16Z</dcterms:created>
  <dc:creator>Patrick Bonnereau</dc:creator>
</cp:coreProperties>
</file>