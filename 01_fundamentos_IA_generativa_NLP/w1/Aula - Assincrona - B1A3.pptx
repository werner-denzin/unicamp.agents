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Merriweather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ikB2/yZMZAuyai6c4+us+hAivW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erriweather-bold.fntdata"/><Relationship Id="rId47" Type="http://schemas.openxmlformats.org/officeDocument/2006/relationships/font" Target="fonts/Merriweather-regular.fntdata"/><Relationship Id="rId49" Type="http://schemas.openxmlformats.org/officeDocument/2006/relationships/font" Target="fonts/Merriweath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customschemas.google.com/relationships/presentationmetadata" Target="metadata"/><Relationship Id="rId50" Type="http://schemas.openxmlformats.org/officeDocument/2006/relationships/font" Target="fonts/Merriweath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533c25ad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d533c25a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2d533c25ad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69d6cc8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369d6cc8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d369d6cc8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3eb54f4a2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d3eb54f4a2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d3eb54f4a2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3eb54f4a2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d3eb54f4a2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d3eb54f4a2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34d084623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34d084623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d34d084623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3eb54f4a2_0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3eb54f4a2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d3eb54f4a2_0_1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eb54f4a2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3eb54f4a2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d3eb54f4a2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eb54f4a2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d3eb54f4a2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d3eb54f4a2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3eb54f4a2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d3eb54f4a2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d3eb54f4a2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eb54f4a2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d3eb54f4a2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d3eb54f4a2_0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3eb54f4a2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3eb54f4a2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d3eb54f4a2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3eb54f4a2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d3eb54f4a2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d3eb54f4a2_0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3eb54f4a2_0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d3eb54f4a2_0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d3eb54f4a2_0_2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3eb54f4a2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3eb54f4a2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d3eb54f4a2_0_2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3eb54f4a2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d3eb54f4a2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d3eb54f4a2_0_2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3eb54f4a2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3eb54f4a2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d3eb54f4a2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3eb54f4a2_0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3eb54f4a2_0_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d3eb54f4a2_0_2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3eb54f4a2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3eb54f4a2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d3eb54f4a2_0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3eb54f4a2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d3eb54f4a2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d3eb54f4a2_0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3eb54f4a2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d3eb54f4a2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d3eb54f4a2_0_2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3eb54f4a2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d3eb54f4a2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d3eb54f4a2_0_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3eb54f4a2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d3eb54f4a2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3d3eb54f4a2_0_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3eb54f4a2_0_2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d3eb54f4a2_0_2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d3eb54f4a2_0_2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3eb54f4a2_0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d3eb54f4a2_0_2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3d3eb54f4a2_0_2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369d6cc80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d369d6cc8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d369d6cc80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369d6cc80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d369d6cc80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d369d6cc80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3eb54f4a2_0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d3eb54f4a2_0_3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d3eb54f4a2_0_3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3eb54f4a2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d3eb54f4a2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d3eb54f4a2_0_3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3eb54f4a2_0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d3eb54f4a2_0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3d3eb54f4a2_0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3eb54f4a2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d3eb54f4a2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3d3eb54f4a2_0_3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6c9b1fe4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96c9b1fe4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96c9b1fe4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3eb54f4a2_0_3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d3eb54f4a2_0_3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d3eb54f4a2_0_3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3eb54f4a2_0_3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d3eb54f4a2_0_3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3d3eb54f4a2_0_3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3eb54f4a2_0_3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d3eb54f4a2_0_3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d3eb54f4a2_0_3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3eb54f4a2_0_3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d3eb54f4a2_0_3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d3eb54f4a2_0_3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6c9b1fe41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96c9b1fe41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96c9b1fe41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6c9b1fe41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96c9b1fe41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396c9b1fe41_0_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hyperlink" Target="https://portal.inmet.gov.br/dadoshistorico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portal.inmet.gov.br/dadoshistorico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cikit-learn.org/stable/modules/cross_validation.html" TargetMode="External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scikit-learn.org/stable/modules/cross_validation.html" TargetMode="External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hyperlink" Target="https://www.geeksforgeeks.org/machine-learning/python-tensorflow-tf-keras-layers-conv2d-function/" TargetMode="External"/><Relationship Id="rId6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Relationship Id="rId4" Type="http://schemas.openxmlformats.org/officeDocument/2006/relationships/hyperlink" Target="https://www.kaggle.com/code/akashkr/tf-keras-tutorial-bi-lstm-glove-gru-part-6/notebook" TargetMode="External"/><Relationship Id="rId5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i="0" sz="2400" u="sng" cap="none" strike="noStrike">
              <a:solidFill>
                <a:srgbClr val="3139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Neurais Artificiais e Aprendizado Profundo</a:t>
            </a:r>
            <a:endParaRPr sz="4000"/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33c25ad3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Neurônio Natural x Artificial</a:t>
            </a:r>
            <a:endParaRPr/>
          </a:p>
        </p:txBody>
      </p:sp>
      <p:sp>
        <p:nvSpPr>
          <p:cNvPr id="84" name="Google Shape;84;g2d533c25ad3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5" name="Google Shape;85;g2d533c25ad3_0_0"/>
          <p:cNvPicPr preferRelativeResize="0"/>
          <p:nvPr/>
        </p:nvPicPr>
        <p:blipFill rotWithShape="1">
          <a:blip r:embed="rId3">
            <a:alphaModFix/>
          </a:blip>
          <a:srcRect b="1949" l="-679" r="-669" t="18192"/>
          <a:stretch/>
        </p:blipFill>
        <p:spPr>
          <a:xfrm>
            <a:off x="415625" y="1943775"/>
            <a:ext cx="10319925" cy="446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369d6cc80_0_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Neurônio Natural x Artificial</a:t>
            </a:r>
            <a:endParaRPr/>
          </a:p>
        </p:txBody>
      </p:sp>
      <p:sp>
        <p:nvSpPr>
          <p:cNvPr id="92" name="Google Shape;92;g3d369d6cc80_0_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3" name="Google Shape;93;g3d369d6cc80_0_1"/>
          <p:cNvPicPr preferRelativeResize="0"/>
          <p:nvPr/>
        </p:nvPicPr>
        <p:blipFill rotWithShape="1">
          <a:blip r:embed="rId3">
            <a:alphaModFix/>
          </a:blip>
          <a:srcRect b="0" l="0" r="0" t="19878"/>
          <a:stretch/>
        </p:blipFill>
        <p:spPr>
          <a:xfrm>
            <a:off x="615875" y="1824150"/>
            <a:ext cx="9767865" cy="46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3eb54f4a2_0_11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Neurônios Artificiais </a:t>
            </a:r>
            <a:endParaRPr/>
          </a:p>
        </p:txBody>
      </p:sp>
      <p:sp>
        <p:nvSpPr>
          <p:cNvPr id="100" name="Google Shape;100;g3d3eb54f4a2_0_1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1" name="Google Shape;101;g3d3eb54f4a2_0_118"/>
          <p:cNvPicPr preferRelativeResize="0"/>
          <p:nvPr/>
        </p:nvPicPr>
        <p:blipFill rotWithShape="1">
          <a:blip r:embed="rId3">
            <a:alphaModFix/>
          </a:blip>
          <a:srcRect b="0" l="0" r="0" t="44034"/>
          <a:stretch/>
        </p:blipFill>
        <p:spPr>
          <a:xfrm>
            <a:off x="87300" y="2282675"/>
            <a:ext cx="11466999" cy="33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3eb54f4a2_0_12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MLP com uma Camada Hidden</a:t>
            </a:r>
            <a:endParaRPr/>
          </a:p>
        </p:txBody>
      </p:sp>
      <p:sp>
        <p:nvSpPr>
          <p:cNvPr id="108" name="Google Shape;108;g3d3eb54f4a2_0_1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9" name="Google Shape;109;g3d3eb54f4a2_0_127"/>
          <p:cNvPicPr preferRelativeResize="0"/>
          <p:nvPr/>
        </p:nvPicPr>
        <p:blipFill rotWithShape="1">
          <a:blip r:embed="rId3">
            <a:alphaModFix/>
          </a:blip>
          <a:srcRect b="0" l="0" r="0" t="24488"/>
          <a:stretch/>
        </p:blipFill>
        <p:spPr>
          <a:xfrm>
            <a:off x="545650" y="1844100"/>
            <a:ext cx="10810752" cy="4471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34d084623_0_2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Ajustes de Hiperparâmetros</a:t>
            </a:r>
            <a:endParaRPr/>
          </a:p>
        </p:txBody>
      </p:sp>
      <p:sp>
        <p:nvSpPr>
          <p:cNvPr id="116" name="Google Shape;116;g3d34d084623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" name="Google Shape;117;g3d34d084623_0_20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Camada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Hidden com Dropouts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g3d34d084623_0_20"/>
          <p:cNvPicPr preferRelativeResize="0"/>
          <p:nvPr/>
        </p:nvPicPr>
        <p:blipFill rotWithShape="1">
          <a:blip r:embed="rId3">
            <a:alphaModFix/>
          </a:blip>
          <a:srcRect b="0" l="0" r="0" t="23177"/>
          <a:stretch/>
        </p:blipFill>
        <p:spPr>
          <a:xfrm>
            <a:off x="892900" y="2571750"/>
            <a:ext cx="9075126" cy="38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3eb54f4a2_0_13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Ajustes de Hiperparâmetros</a:t>
            </a:r>
            <a:endParaRPr/>
          </a:p>
        </p:txBody>
      </p:sp>
      <p:sp>
        <p:nvSpPr>
          <p:cNvPr id="125" name="Google Shape;125;g3d3eb54f4a2_0_1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g3d3eb54f4a2_0_136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Função de Ativação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g3d3eb54f4a2_0_136"/>
          <p:cNvPicPr preferRelativeResize="0"/>
          <p:nvPr/>
        </p:nvPicPr>
        <p:blipFill rotWithShape="1">
          <a:blip r:embed="rId3">
            <a:alphaModFix/>
          </a:blip>
          <a:srcRect b="0" l="0" r="0" t="27252"/>
          <a:stretch/>
        </p:blipFill>
        <p:spPr>
          <a:xfrm>
            <a:off x="1126525" y="2505450"/>
            <a:ext cx="9419753" cy="415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3eb54f4a2_0_1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Ajustes de Hiperparâmetros</a:t>
            </a:r>
            <a:endParaRPr/>
          </a:p>
        </p:txBody>
      </p:sp>
      <p:sp>
        <p:nvSpPr>
          <p:cNvPr id="134" name="Google Shape;134;g3d3eb54f4a2_0_1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5" name="Google Shape;135;g3d3eb54f4a2_0_145"/>
          <p:cNvSpPr txBox="1"/>
          <p:nvPr/>
        </p:nvSpPr>
        <p:spPr>
          <a:xfrm>
            <a:off x="347525" y="1997550"/>
            <a:ext cx="114288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Taxa de Aprendizagem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Learning Rate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■"/>
            </a:pPr>
            <a:r>
              <a:rPr lang="pt-BR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Definição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Controla o quanto os pesos do modelo são ajustados a cada etapa do treinamento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■"/>
            </a:pPr>
            <a:r>
              <a:rPr lang="pt-BR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no Treinamento: 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Uma alta taxa de aprendizado pode levar a uma convergência mais rápida, mas pode ultrapassar os valores ideais. Uma baixa taxa de aprendizado é mais estável, mas pode levar a uma convergência lenta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■"/>
            </a:pPr>
            <a:r>
              <a:rPr lang="pt-BR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Estratégia de Ajuste: 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cronogramas de taxa de aprendizado ou otimizadores adaptativos (por exemplo, Adam, que adapta a taxa de aprendizado). Comece com uma taxa de aprendizado em torno de 0,001 e, em seguida, ajuste finamente, aumentando ou diminuindo conforme necessário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eb54f4a2_0_15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Ajustes de Hiperparâmetros</a:t>
            </a:r>
            <a:endParaRPr/>
          </a:p>
        </p:txBody>
      </p:sp>
      <p:sp>
        <p:nvSpPr>
          <p:cNvPr id="142" name="Google Shape;142;g3d3eb54f4a2_0_1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" name="Google Shape;143;g3d3eb54f4a2_0_155"/>
          <p:cNvSpPr txBox="1"/>
          <p:nvPr/>
        </p:nvSpPr>
        <p:spPr>
          <a:xfrm>
            <a:off x="347525" y="1997550"/>
            <a:ext cx="11428800" cy="42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Tamanho do Lote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Batch Size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número de amostras de treinamento processadas antes da atualização dos pesos do modelo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no Treinamento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Tamanhos de lote maiores oferecem gradientes mais suaves, mas exigem mais memória. Tamanhos de lote menores podem introduzir ruído, potencialmente auxiliando na generalização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Estratégia de Ajuste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Tamanhos de lote comuns são potências de 2 (por exemplo, 32, 64, 128). Experimente vários valores para encontrar o melhor equilíbrio entre estabilidade e desempenho do treinamento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3eb54f4a2_0_16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Ajustes de Hiperparâmetros</a:t>
            </a:r>
            <a:endParaRPr/>
          </a:p>
        </p:txBody>
      </p:sp>
      <p:sp>
        <p:nvSpPr>
          <p:cNvPr id="150" name="Google Shape;150;g3d3eb54f4a2_0_1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1" name="Google Shape;151;g3d3eb54f4a2_0_164"/>
          <p:cNvSpPr txBox="1"/>
          <p:nvPr/>
        </p:nvSpPr>
        <p:spPr>
          <a:xfrm>
            <a:off x="347525" y="1997550"/>
            <a:ext cx="114288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Técnicas de Regularização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Dropout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Elimina neurônios aleatoriamente durante o treinamento, reduzindo o sobreajuste. Os valores comuns para a taxa de dropout são de 0,2 a 0,5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Regularização L2 (Decaimento de Peso - Weight Decay)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Penaliza pesos altos adicionando um termo de regularização à função de perda, ajudando a prevenir o sobreajuste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Estratégia de Ajuste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Testa diferentes taxas de dropout e intensidades de regularização. O dropout é especialmente eficaz para redes grandes com muitas camadas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3eb54f4a2_0_17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Ajustes de Hiperparâmetros</a:t>
            </a:r>
            <a:endParaRPr/>
          </a:p>
        </p:txBody>
      </p:sp>
      <p:sp>
        <p:nvSpPr>
          <p:cNvPr id="158" name="Google Shape;158;g3d3eb54f4a2_0_17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9" name="Google Shape;159;g3d3eb54f4a2_0_171"/>
          <p:cNvSpPr txBox="1"/>
          <p:nvPr/>
        </p:nvSpPr>
        <p:spPr>
          <a:xfrm>
            <a:off x="347525" y="1997550"/>
            <a:ext cx="114288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 de Épocas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Epochs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 de passagens completas por todo o conjunto de dados de treinamento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no Treinamento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Poucas épocas podem levar a subajuste, enquanto muitas podem levar a sobreajuste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Estratégia de Ajuste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a parada antecipada para evitar sobreajuste e defina dinamicamente o número ideal de épocas com base no desempenho da validação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3eb54f4a2_0_17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Ajustes de Hiperparâmetros</a:t>
            </a:r>
            <a:endParaRPr/>
          </a:p>
        </p:txBody>
      </p:sp>
      <p:sp>
        <p:nvSpPr>
          <p:cNvPr id="166" name="Google Shape;166;g3d3eb54f4a2_0_1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7" name="Google Shape;167;g3d3eb54f4a2_0_178"/>
          <p:cNvSpPr txBox="1"/>
          <p:nvPr/>
        </p:nvSpPr>
        <p:spPr>
          <a:xfrm>
            <a:off x="347525" y="1997550"/>
            <a:ext cx="114288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Escolha do Otimizador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Escolhas Populares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Adam (taxa de aprendizado adaptável), SGD (Descida do Gradiente Estocástico), RMSprop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Impacto no Treinamento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escolha do otimizador afeta a velocidade e a estabilidade da convergência. Adam é amplamente utilizado devido às suas taxas de aprendizado adaptáveis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Estratégia de Ajuste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Comece com Adam, mas, para algumas tarefas, SGD com momentum pode melhorar o desempenho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3eb54f4a2_0_18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174" name="Google Shape;174;g3d3eb54f4a2_0_1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5" name="Google Shape;175;g3d3eb54f4a2_0_186"/>
          <p:cNvSpPr txBox="1"/>
          <p:nvPr/>
        </p:nvSpPr>
        <p:spPr>
          <a:xfrm>
            <a:off x="347525" y="1997550"/>
            <a:ext cx="114288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Quantidade de Chuva com dados do INMET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Utilizaremos um exemplo simplificado mas com dados reais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Prever se vai a quantidade de chuva com base em dados meteorológicos básicos da hora anterior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Problema de regressão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Aprendizado supervisionado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Dados abertos de estações meteorológicas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Dados tabulares “simples” permite focarmos passos do treinamento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Veremos mais para frente exemplos com imagens, incluindo o pré-tratamento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3eb54f4a2_0_20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182" name="Google Shape;182;g3d3eb54f4a2_0_2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3" name="Google Shape;183;g3d3eb54f4a2_0_201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Quantidade de chuva com dados do INMET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g3d3eb54f4a2_0_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5388" y="2435675"/>
            <a:ext cx="5193070" cy="404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d3eb54f4a2_0_201"/>
          <p:cNvSpPr txBox="1"/>
          <p:nvPr/>
        </p:nvSpPr>
        <p:spPr>
          <a:xfrm>
            <a:off x="2252775" y="6396300"/>
            <a:ext cx="67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hlinkClick r:id="rId4"/>
              </a:rPr>
              <a:t>https://portal.inmet.gov.br/dadoshistoricos</a:t>
            </a:r>
            <a:endParaRPr sz="18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3eb54f4a2_0_21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192" name="Google Shape;192;g3d3eb54f4a2_0_2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3" name="Google Shape;193;g3d3eb54f4a2_0_213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Dados da Estação Mirante em São Paulo – SP dos últimos 15 anos coletados de hora em hora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136 mil amostras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4" name="Google Shape;194;g3d3eb54f4a2_0_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89150"/>
            <a:ext cx="11887200" cy="176176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d3eb54f4a2_0_213"/>
          <p:cNvSpPr txBox="1"/>
          <p:nvPr/>
        </p:nvSpPr>
        <p:spPr>
          <a:xfrm>
            <a:off x="2252775" y="6396300"/>
            <a:ext cx="67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hlinkClick r:id="rId4"/>
              </a:rPr>
              <a:t>https://portal.inmet.gov.br/dadoshistoricos</a:t>
            </a:r>
            <a:endParaRPr sz="18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3eb54f4a2_0_22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02" name="Google Shape;202;g3d3eb54f4a2_0_2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3" name="Google Shape;203;g3d3eb54f4a2_0_224"/>
          <p:cNvSpPr txBox="1"/>
          <p:nvPr/>
        </p:nvSpPr>
        <p:spPr>
          <a:xfrm>
            <a:off x="347525" y="1997550"/>
            <a:ext cx="114288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preparação e pré-processamento foi foco de outra aula, segue resumo da preparação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Cabeçalho foi removido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Dados dos últimos 15 anos foram agrupados em um único arquivo .csv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 data foi extraída apenas o mês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Hora foi transformada em 0 a 23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coluna radiação foi removida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Todas as linhas com falhas nos sensores foram removidas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coluna precipitação foi deslocada em uma hora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Colunas foram renomeadas para nomes mais curtos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3eb54f4a2_0_19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10" name="Google Shape;210;g3d3eb54f4a2_0_1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1" name="Google Shape;211;g3d3eb54f4a2_0_194"/>
          <p:cNvSpPr txBox="1"/>
          <p:nvPr/>
        </p:nvSpPr>
        <p:spPr>
          <a:xfrm>
            <a:off x="347525" y="1997550"/>
            <a:ext cx="114288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Quantidade de Chuva com dados do INMET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Utilizaremos um exemplo simplificado mas com dados reais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Prever se vai a quantidade de chuva com base em dados meteorológicos básicos da hora anterior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Problema de regressão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Aprendizado supervisionado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Dados abertos de estações meteorológicas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Dados tabulares “simples” permite focarmos passos do treinamento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Veremos mais para frente exemplos com imagens, incluindo o pré-tratamento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3eb54f4a2_0_23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18" name="Google Shape;218;g3d3eb54f4a2_0_2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9" name="Google Shape;219;g3d3eb54f4a2_0_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50" y="2240025"/>
            <a:ext cx="10858500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3eb54f4a2_0_23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26" name="Google Shape;226;g3d3eb54f4a2_0_2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7" name="Google Shape;227;g3d3eb54f4a2_0_2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425" y="1738475"/>
            <a:ext cx="10782029" cy="50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3eb54f4a2_0_27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34" name="Google Shape;234;g3d3eb54f4a2_0_27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5" name="Google Shape;235;g3d3eb54f4a2_0_279"/>
          <p:cNvSpPr txBox="1"/>
          <p:nvPr/>
        </p:nvSpPr>
        <p:spPr>
          <a:xfrm>
            <a:off x="2214400" y="6218644"/>
            <a:ext cx="7976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2175" lIns="84375" spcFirstLastPara="1" rIns="84375" wrap="square" tIns="42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22" u="sng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https://scikit-learn.org/stable/modules/cross_validation.html</a:t>
            </a:r>
            <a:r>
              <a:rPr lang="pt-BR" sz="1722"/>
              <a:t> </a:t>
            </a:r>
            <a:endParaRPr sz="1722"/>
          </a:p>
        </p:txBody>
      </p:sp>
      <p:pic>
        <p:nvPicPr>
          <p:cNvPr id="236" name="Google Shape;236;g3d3eb54f4a2_0_2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0388" y="1923525"/>
            <a:ext cx="6264269" cy="4200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3eb54f4a2_0_28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43" name="Google Shape;243;g3d3eb54f4a2_0_2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4" name="Google Shape;244;g3d3eb54f4a2_0_288"/>
          <p:cNvSpPr txBox="1"/>
          <p:nvPr/>
        </p:nvSpPr>
        <p:spPr>
          <a:xfrm>
            <a:off x="2001900" y="6289182"/>
            <a:ext cx="81882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300" lIns="86625" spcFirstLastPara="1" rIns="86625" wrap="square" tIns="433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8" u="sng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https://scikit-learn.org/stable/modules/cross_validation.html</a:t>
            </a:r>
            <a:r>
              <a:rPr lang="pt-BR" sz="1768"/>
              <a:t> </a:t>
            </a:r>
            <a:endParaRPr sz="1768"/>
          </a:p>
        </p:txBody>
      </p:sp>
      <p:pic>
        <p:nvPicPr>
          <p:cNvPr id="245" name="Google Shape;245;g3d3eb54f4a2_0_2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9864" y="1820350"/>
            <a:ext cx="6272196" cy="4344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3eb54f4a2_0_24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52" name="Google Shape;252;g3d3eb54f4a2_0_2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3" name="Google Shape;253;g3d3eb54f4a2_0_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0425"/>
            <a:ext cx="11887198" cy="360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3eb54f4a2_0_25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60" name="Google Shape;260;g3d3eb54f4a2_0_2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1" name="Google Shape;261;g3d3eb54f4a2_0_2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61550"/>
            <a:ext cx="11887201" cy="3871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3eb54f4a2_0_26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Exemplo: MLP Regressor</a:t>
            </a:r>
            <a:endParaRPr/>
          </a:p>
        </p:txBody>
      </p:sp>
      <p:sp>
        <p:nvSpPr>
          <p:cNvPr id="268" name="Google Shape;268;g3d3eb54f4a2_0_2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9" name="Google Shape;269;g3d3eb54f4a2_0_2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1810975"/>
            <a:ext cx="10991806" cy="5047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3eb54f4a2_0_27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Pode Levar a um Longo processo de melhoria …</a:t>
            </a:r>
            <a:endParaRPr/>
          </a:p>
        </p:txBody>
      </p:sp>
      <p:sp>
        <p:nvSpPr>
          <p:cNvPr id="276" name="Google Shape;276;g3d3eb54f4a2_0_27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7" name="Google Shape;277;g3d3eb54f4a2_0_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475" y="2555200"/>
            <a:ext cx="6489200" cy="26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369d6cc80_0_1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Introdução à Aprendizagem Profunda</a:t>
            </a:r>
            <a:endParaRPr/>
          </a:p>
        </p:txBody>
      </p:sp>
      <p:sp>
        <p:nvSpPr>
          <p:cNvPr id="284" name="Google Shape;284;g3d369d6cc80_0_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5" name="Google Shape;285;g3d369d6cc80_0_10"/>
          <p:cNvSpPr/>
          <p:nvPr/>
        </p:nvSpPr>
        <p:spPr>
          <a:xfrm>
            <a:off x="2481425" y="1778025"/>
            <a:ext cx="5797200" cy="4458000"/>
          </a:xfrm>
          <a:prstGeom prst="ellipse">
            <a:avLst/>
          </a:prstGeom>
          <a:solidFill>
            <a:srgbClr val="955A03"/>
          </a:solidFill>
          <a:ln cap="flat" cmpd="sng" w="25925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625" lIns="93300" spcFirstLastPara="1" rIns="93300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Inteligência Artificial</a:t>
            </a:r>
            <a:endParaRPr sz="1497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d369d6cc80_0_10"/>
          <p:cNvSpPr/>
          <p:nvPr/>
        </p:nvSpPr>
        <p:spPr>
          <a:xfrm>
            <a:off x="3133716" y="3281323"/>
            <a:ext cx="4492800" cy="2954700"/>
          </a:xfrm>
          <a:prstGeom prst="ellipse">
            <a:avLst/>
          </a:prstGeom>
          <a:solidFill>
            <a:srgbClr val="FFC000"/>
          </a:solidFill>
          <a:ln cap="flat" cmpd="sng" w="25925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625" lIns="93300" spcFirstLastPara="1" rIns="93300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Aprendizado de Máquina</a:t>
            </a:r>
            <a:endParaRPr sz="1497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d369d6cc80_0_10"/>
          <p:cNvSpPr/>
          <p:nvPr/>
        </p:nvSpPr>
        <p:spPr>
          <a:xfrm>
            <a:off x="3639134" y="4413118"/>
            <a:ext cx="3603000" cy="1822800"/>
          </a:xfrm>
          <a:prstGeom prst="ellipse">
            <a:avLst/>
          </a:prstGeom>
          <a:solidFill>
            <a:srgbClr val="FF0000"/>
          </a:solidFill>
          <a:ln cap="flat" cmpd="sng" w="25925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625" lIns="93300" spcFirstLastPara="1" rIns="93300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90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Aprendizagem Profunda</a:t>
            </a:r>
            <a:endParaRPr sz="1497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d369d6cc80_0_10"/>
          <p:cNvSpPr/>
          <p:nvPr/>
        </p:nvSpPr>
        <p:spPr>
          <a:xfrm>
            <a:off x="4088280" y="5315420"/>
            <a:ext cx="2704500" cy="882300"/>
          </a:xfrm>
          <a:prstGeom prst="ellipse">
            <a:avLst/>
          </a:prstGeom>
          <a:solidFill>
            <a:srgbClr val="BF4F14"/>
          </a:solidFill>
          <a:ln cap="flat" cmpd="sng" w="25925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625" lIns="93300" spcFirstLastPara="1" rIns="93300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Generativa</a:t>
            </a:r>
            <a:endParaRPr sz="1497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d369d6cc80_0_10"/>
          <p:cNvSpPr/>
          <p:nvPr/>
        </p:nvSpPr>
        <p:spPr>
          <a:xfrm>
            <a:off x="4367650" y="5603552"/>
            <a:ext cx="2095800" cy="584400"/>
          </a:xfrm>
          <a:prstGeom prst="ellipse">
            <a:avLst/>
          </a:prstGeom>
          <a:solidFill>
            <a:srgbClr val="F2A982"/>
          </a:solidFill>
          <a:ln cap="flat" cmpd="sng" w="25925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625" lIns="93300" spcFirstLastPara="1" rIns="93300" wrap="square" tIns="46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8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5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 de Linguagem em Larga Escala</a:t>
            </a:r>
            <a:endParaRPr sz="1497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369d6cc80_0_1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Introdução à Aprendizagem Profunda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96" name="Google Shape;296;g3d369d6cc80_0_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g3d369d6cc80_0_19"/>
          <p:cNvSpPr txBox="1"/>
          <p:nvPr/>
        </p:nvSpPr>
        <p:spPr>
          <a:xfrm>
            <a:off x="347525" y="1997550"/>
            <a:ext cx="114288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 redes neurais artificiais com muitas camadas (profundas) para aprender representações complexas dos dados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Utilizam grandes quantidades de dados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Aplicações típicas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Reconhecimento facial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Tradução automática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Segmentação de imagens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IA Generativa: texto e imagem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3eb54f4a2_0_31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CNN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04" name="Google Shape;304;g3d3eb54f4a2_0_3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5" name="Google Shape;305;g3d3eb54f4a2_0_310"/>
          <p:cNvSpPr txBox="1"/>
          <p:nvPr/>
        </p:nvSpPr>
        <p:spPr>
          <a:xfrm>
            <a:off x="347525" y="1997550"/>
            <a:ext cx="114288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Redes neurais convolucionais (CNNs -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Convolutional Neural Network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Feitas para o processamento de dados com estrutura de grade (espacial), como imagens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 amplamente utilizada em tarefas de visão computacional para identificar padrões e objetos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Aplicadas em tarefas que requer capacidade de lidar com dependências temporais e dados de comprimento variável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6" name="Google Shape;306;g3d3eb54f4a2_0_3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3eb54f4a2_0_32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CNN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13" name="Google Shape;313;g3d3eb54f4a2_0_3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4" name="Google Shape;314;g3d3eb54f4a2_0_328"/>
          <p:cNvSpPr txBox="1"/>
          <p:nvPr/>
        </p:nvSpPr>
        <p:spPr>
          <a:xfrm>
            <a:off x="347525" y="1997550"/>
            <a:ext cx="114288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Imitam o funcionamento do córtex visual humano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Utilizam camadas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Camada de convolução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Extrai automaticamente características hierárquicas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Camadas de pooling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Reduz as dimensões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Camadas totalmente conectadas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Realiza a classificação final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5" name="Google Shape;315;g3d3eb54f4a2_0_3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3eb54f4a2_0_33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CNN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22" name="Google Shape;322;g3d3eb54f4a2_0_3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3" name="Google Shape;323;g3d3eb54f4a2_0_336"/>
          <p:cNvSpPr txBox="1"/>
          <p:nvPr/>
        </p:nvSpPr>
        <p:spPr>
          <a:xfrm>
            <a:off x="347525" y="1997550"/>
            <a:ext cx="11428800" cy="41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Entrada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Recebe uma imagem (representada como uma matriz de pixels) como entrada da camada anterior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Exemplo: uma imagem 50×50 pixels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Filtros (Kernels)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Pequenas matrizes chamadas filtros ou kernels são aplicadas sobre a imagem (geralmente 3×3 ou 5×5)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Cada filtro aprende a detectar um tipo de característica (por exemplo, uma borda vertical)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4" name="Google Shape;324;g3d3eb54f4a2_0_3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3eb54f4a2_0_34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CNN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1" name="Google Shape;331;g3d3eb54f4a2_0_34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2" name="Google Shape;332;g3d3eb54f4a2_0_3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d3eb54f4a2_0_3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628" y="2887219"/>
            <a:ext cx="8220423" cy="224366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d3eb54f4a2_0_344"/>
          <p:cNvSpPr txBox="1"/>
          <p:nvPr/>
        </p:nvSpPr>
        <p:spPr>
          <a:xfrm>
            <a:off x="280628" y="5158649"/>
            <a:ext cx="4725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800" lIns="91625" spcFirstLastPara="1" rIns="91625" wrap="square" tIns="45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3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https://www.geeksforgeeks.org/machine-learning/python-tensorflow-tf-keras-layers-conv2d-function/</a:t>
            </a:r>
            <a:r>
              <a:rPr lang="pt-BR" sz="12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70"/>
          </a:p>
        </p:txBody>
      </p:sp>
      <p:pic>
        <p:nvPicPr>
          <p:cNvPr id="335" name="Google Shape;335;g3d3eb54f4a2_0_3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595" y="2209552"/>
            <a:ext cx="3169779" cy="218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6c9b1fe41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CNN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42" name="Google Shape;342;g396c9b1fe41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3" name="Google Shape;343;g396c9b1fe4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ghtbox" id="344" name="Google Shape;344;g396c9b1fe4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8444" y="2689574"/>
            <a:ext cx="9133840" cy="401627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96c9b1fe41_0_0"/>
          <p:cNvSpPr/>
          <p:nvPr/>
        </p:nvSpPr>
        <p:spPr>
          <a:xfrm>
            <a:off x="2577447" y="1613473"/>
            <a:ext cx="2528400" cy="837000"/>
          </a:xfrm>
          <a:prstGeom prst="wedgeRectCallout">
            <a:avLst>
              <a:gd fmla="val -41071" name="adj1"/>
              <a:gd fmla="val 79281" name="adj2"/>
            </a:avLst>
          </a:prstGeom>
          <a:solidFill>
            <a:srgbClr val="4285F4"/>
          </a:solidFill>
          <a:ln cap="flat" cmpd="sng" w="2677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8150" lIns="96300" spcFirstLastPara="1" rIns="96300" wrap="square" tIns="48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Imagens 224x224 em R, G e B</a:t>
            </a:r>
            <a:endParaRPr sz="1545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3eb54f4a2_0_31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RNN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52" name="Google Shape;352;g3d3eb54f4a2_0_3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3" name="Google Shape;353;g3d3eb54f4a2_0_317"/>
          <p:cNvSpPr txBox="1"/>
          <p:nvPr/>
        </p:nvSpPr>
        <p:spPr>
          <a:xfrm>
            <a:off x="347525" y="1997550"/>
            <a:ext cx="11428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Rede Neural Recorrente (RNN - Recurrent Neural Network)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Feitas para processar dados sequenciais, como texto ou séries temporais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Possuem uma "memória" que permite armazenar informações de entradas anteriores e utilizá-las para prever ou processar saídas futuras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Utilizam um "estado oculto" ou memória para considerar as informações processadas em etapas anteriores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Baseia em um loop de feedback que permite que a saída de um neurônio em uma etapa de tempo seja usada como entrada na próxima etapa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4" name="Google Shape;354;g3d3eb54f4a2_0_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3eb54f4a2_0_35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RNN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61" name="Google Shape;361;g3d3eb54f4a2_0_3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2" name="Google Shape;362;g3d3eb54f4a2_0_355"/>
          <p:cNvSpPr txBox="1"/>
          <p:nvPr/>
        </p:nvSpPr>
        <p:spPr>
          <a:xfrm>
            <a:off x="347525" y="1997550"/>
            <a:ext cx="114288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Limitações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Gradiente Explodindo/Desvanecendo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sequências longas pode ser problemático, pois os gradientes (informações de erro) podem diminuir ou aumentar exponencialmente ao longo do tempo, dificultando o aprendizado de dependências de longo prazo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Memória de Curto Prazo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memória de uma RNN simples tende a se deteriorar com o tempo, limitando a capacidade de recordar informações de muitas etapas anteriores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3" name="Google Shape;363;g3d3eb54f4a2_0_3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3eb54f4a2_0_36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RNN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70" name="Google Shape;370;g3d3eb54f4a2_0_3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1" name="Google Shape;371;g3d3eb54f4a2_0_363"/>
          <p:cNvSpPr txBox="1"/>
          <p:nvPr/>
        </p:nvSpPr>
        <p:spPr>
          <a:xfrm>
            <a:off x="347525" y="1997550"/>
            <a:ext cx="11428800" cy="4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 Short-Term Memory (LSTM - Redes de Longa e Curta Memória)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Adicionam três "portas" (de entrada, esquecimento e saída)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Controlar o fluxo de informações, para reter ou descartar seletivamente a memória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Gated Recurrent Unit (GRU – Unidade recorrente fechada)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Mais simples e mais rápida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Combina as portas de entrada e esquecimento numa única porta de atualização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Usa uma porta de reinicialização para decidir o que esquecer.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tem um estado de célula separado, integrando essa informação ao estado oculto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Limitações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2" name="Google Shape;372;g3d3eb54f4a2_0_3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3eb54f4a2_0_37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Redes Neurais Profundas - BiLSTM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79" name="Google Shape;379;g3d3eb54f4a2_0_37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0" name="Google Shape;380;g3d3eb54f4a2_0_3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d3eb54f4a2_0_371"/>
          <p:cNvSpPr txBox="1"/>
          <p:nvPr/>
        </p:nvSpPr>
        <p:spPr>
          <a:xfrm>
            <a:off x="336651" y="5799572"/>
            <a:ext cx="103689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200" lIns="100450" spcFirstLastPara="1" rIns="100450" wrap="square" tIns="50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Completo em: </a:t>
            </a:r>
            <a:r>
              <a:rPr lang="pt-BR" sz="2006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https://www.kaggle.com/code/akashkr/tf-keras-tutorial-bi-lstm-glove-gru-part-6/notebook</a:t>
            </a:r>
            <a:r>
              <a:rPr lang="pt-BR" sz="20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6"/>
          </a:p>
        </p:txBody>
      </p:sp>
      <p:pic>
        <p:nvPicPr>
          <p:cNvPr id="382" name="Google Shape;382;g3d3eb54f4a2_0_3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64" y="1967025"/>
            <a:ext cx="8334747" cy="3596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6c9b1fe41_0_1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T</a:t>
            </a:r>
            <a:r>
              <a:rPr lang="pt-BR"/>
              <a:t>ransfer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89" name="Google Shape;389;g396c9b1fe41_0_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0" name="Google Shape;390;g396c9b1fe41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96c9b1fe41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825" y="1804300"/>
            <a:ext cx="8883350" cy="48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6c9b1fe41_0_22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Exemplo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98" name="Google Shape;398;g396c9b1fe41_0_2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9" name="Google Shape;399;g396c9b1fe41_0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4046" y="107955"/>
            <a:ext cx="2258273" cy="1505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396c9b1fe41_0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625" y="1875125"/>
            <a:ext cx="5179908" cy="477836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96c9b1fe41_0_227"/>
          <p:cNvSpPr/>
          <p:nvPr/>
        </p:nvSpPr>
        <p:spPr>
          <a:xfrm>
            <a:off x="6515090" y="2468194"/>
            <a:ext cx="3071700" cy="823800"/>
          </a:xfrm>
          <a:prstGeom prst="wedgeRectCallout">
            <a:avLst>
              <a:gd fmla="val -79470" name="adj1"/>
              <a:gd fmla="val 158516" name="adj2"/>
            </a:avLst>
          </a:prstGeom>
          <a:solidFill>
            <a:srgbClr val="4285F4"/>
          </a:solidFill>
          <a:ln cap="flat" cmpd="sng" w="2117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76175" spcFirstLastPara="1" rIns="76175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Inclui MultiHeadAttencion (como definida em “Attention is all you Need”), com 8 heads</a:t>
            </a:r>
            <a:endParaRPr sz="155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96c9b1fe41_0_227"/>
          <p:cNvSpPr/>
          <p:nvPr/>
        </p:nvSpPr>
        <p:spPr>
          <a:xfrm>
            <a:off x="5292796" y="3937965"/>
            <a:ext cx="238200" cy="636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1175">
            <a:solidFill>
              <a:srgbClr val="4285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76175" spcFirstLastPara="1" rIns="76175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96c9b1fe41_0_227"/>
          <p:cNvSpPr/>
          <p:nvPr/>
        </p:nvSpPr>
        <p:spPr>
          <a:xfrm>
            <a:off x="3512000" y="4583304"/>
            <a:ext cx="238200" cy="1132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1175">
            <a:solidFill>
              <a:srgbClr val="4285F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76175" spcFirstLastPara="1" rIns="76175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96c9b1fe41_0_227"/>
          <p:cNvSpPr/>
          <p:nvPr/>
        </p:nvSpPr>
        <p:spPr>
          <a:xfrm>
            <a:off x="5419713" y="4714146"/>
            <a:ext cx="3071700" cy="823800"/>
          </a:xfrm>
          <a:prstGeom prst="wedgeRectCallout">
            <a:avLst>
              <a:gd fmla="val -101692" name="adj1"/>
              <a:gd fmla="val 4318" name="adj2"/>
            </a:avLst>
          </a:prstGeom>
          <a:solidFill>
            <a:srgbClr val="4285F4"/>
          </a:solidFill>
          <a:ln cap="flat" cmpd="sng" w="2117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76175" spcFirstLastPara="1" rIns="76175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Inclui outras camadas intermediárias</a:t>
            </a:r>
            <a:endParaRPr sz="1222"/>
          </a:p>
        </p:txBody>
      </p:sp>
      <p:sp>
        <p:nvSpPr>
          <p:cNvPr id="405" name="Google Shape;405;g396c9b1fe41_0_227"/>
          <p:cNvSpPr/>
          <p:nvPr/>
        </p:nvSpPr>
        <p:spPr>
          <a:xfrm>
            <a:off x="5115966" y="5618000"/>
            <a:ext cx="2413200" cy="973800"/>
          </a:xfrm>
          <a:prstGeom prst="wedgeRectCallout">
            <a:avLst>
              <a:gd fmla="val -111312" name="adj1"/>
              <a:gd fmla="val -17716" name="adj2"/>
            </a:avLst>
          </a:prstGeom>
          <a:solidFill>
            <a:srgbClr val="4285F4"/>
          </a:solidFill>
          <a:ln cap="flat" cmpd="sng" w="2117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76175" spcFirstLastPara="1" rIns="76175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Camada de saída softmax, para classificação em 14 classes</a:t>
            </a:r>
            <a:endParaRPr sz="122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