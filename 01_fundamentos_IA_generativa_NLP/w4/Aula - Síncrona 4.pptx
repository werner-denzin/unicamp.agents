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G1xQIVjJsxbL0STN0rXPMiMN2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regular.fntdata"/><Relationship Id="rId25" Type="http://schemas.openxmlformats.org/officeDocument/2006/relationships/slide" Target="slides/slide21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7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6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97661bf0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97661bf0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d97661bf0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7661bf04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97661bf04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d97661bf04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7661bf04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97661bf04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d97661bf04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7661bf04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97661bf04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d97661bf0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7661bf04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d97661bf04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d97661bf04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7661bf04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97661bf04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d97661bf04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7661bf04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d97661bf04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d97661bf04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97661bf0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d97661bf0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d97661bf04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7661bf04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97661bf04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d97661bf04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7661bf04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97661bf04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d97661bf04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97661bf04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97661bf04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d97661bf04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97661bf04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97661bf04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d97661bf04_0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7661bf04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97661bf04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d97661bf04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97661bf04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97661bf04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d97661bf04_0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97661bf04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d97661bf04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d97661bf04_0_1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97661bf04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d97661bf04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d97661bf04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6a27ec8f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96a27ec8f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96a27ec8f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97661bf04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d97661bf04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d97661bf04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7661bf04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97661bf04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d97661bf04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97661bf04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d97661bf04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d97661bf04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kpmg.com/us/en/media/news/kpmg-generative-ai-2023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hyperlink" Target="https://valor.globo.com/empresas/noticia/2026/01/21/ia-e-chave-para-economia-da-america-latina.g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www.statista.com/chart/35510/ai-market-growth-forecasts-by-segment/?srsltid=AfmBOooezNQ3fZsmnE2H0zLtH3c_C1_LDJrOoUXXMeZk2OF_Sz3k5iK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www.marketdataforecast.com/market-reports/artificial-intelligence-marke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www.accenture.com/content/dam/accenture/final/accenture-com/document/Accenture-A-New-Era-of-Generative-AI-for-Everyone.pd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hyperlink" Target="https://www.statista.com/chart/36004/data-centers-rising-energy-demand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unesco.org/en/artificial-intelligence/recommendation-ethics/cas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unesco.org/en/artificial-intelligence/recommendation-ethics/case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https://www.wowinfotech.com/blog/generative-ai-for-busines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inova.unicamp.br/" TargetMode="External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apesp.br/pipe/" TargetMode="External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finep.gov.br/chamadas-publicas?situacao=aberta&amp;tFonte=2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Síncrona 4: 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mpactos, Aspectos Éticos e Inovação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7661bf04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</a:t>
            </a:r>
            <a:r>
              <a:rPr lang="pt-BR"/>
              <a:t>mpactos da IA generativa nos negócios</a:t>
            </a:r>
            <a:endParaRPr i="1"/>
          </a:p>
        </p:txBody>
      </p:sp>
      <p:sp>
        <p:nvSpPr>
          <p:cNvPr id="84" name="Google Shape;84;g3d97661bf04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g3d97661bf04_0_0"/>
          <p:cNvSpPr txBox="1"/>
          <p:nvPr/>
        </p:nvSpPr>
        <p:spPr>
          <a:xfrm>
            <a:off x="347525" y="1997550"/>
            <a:ext cx="1142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Qual impacto da IA Generativa nos negócios 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verdade é que ninguém sabe exatamente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Pesquisa da KPMG nos EUA: Executivos esperam que a IA generativa tenha um impacto enorme nos negócios, mas não estão preparados para uma adoção imediata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Isso em 2023 — e Hoje 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g3d97661bf04_0_0"/>
          <p:cNvSpPr txBox="1"/>
          <p:nvPr/>
        </p:nvSpPr>
        <p:spPr>
          <a:xfrm>
            <a:off x="3188075" y="6279875"/>
            <a:ext cx="57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https://kpmg.com/us/en/media/news/kpmg-generative-ai-2023.html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7661bf04_0_3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generativa nos negócios</a:t>
            </a:r>
            <a:endParaRPr i="1"/>
          </a:p>
        </p:txBody>
      </p:sp>
      <p:sp>
        <p:nvSpPr>
          <p:cNvPr id="93" name="Google Shape;93;g3d97661bf04_0_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g3d97661bf04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825" y="1804300"/>
            <a:ext cx="8984355" cy="50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7661bf04_0_2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generativa nos negócios</a:t>
            </a:r>
            <a:endParaRPr i="1"/>
          </a:p>
        </p:txBody>
      </p:sp>
      <p:sp>
        <p:nvSpPr>
          <p:cNvPr id="101" name="Google Shape;101;g3d97661bf04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2" name="Google Shape;102;g3d97661bf04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604" y="1769225"/>
            <a:ext cx="10230750" cy="464365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d97661bf04_0_23"/>
          <p:cNvSpPr txBox="1"/>
          <p:nvPr/>
        </p:nvSpPr>
        <p:spPr>
          <a:xfrm>
            <a:off x="980600" y="6412875"/>
            <a:ext cx="88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https://valor.globo.com/empresas/noticia/2026/01/21/ia-e-chave-para-economia-da-america-latina.ghtml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7661bf04_0_4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generativa nos negócios</a:t>
            </a:r>
            <a:endParaRPr i="1"/>
          </a:p>
        </p:txBody>
      </p:sp>
      <p:sp>
        <p:nvSpPr>
          <p:cNvPr id="110" name="Google Shape;110;g3d97661bf04_0_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1" name="Google Shape;111;g3d97661bf04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750" y="1499500"/>
            <a:ext cx="5242824" cy="524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d97661bf04_0_44"/>
          <p:cNvSpPr txBox="1"/>
          <p:nvPr/>
        </p:nvSpPr>
        <p:spPr>
          <a:xfrm>
            <a:off x="8552325" y="36468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https://www.statista.com/chart/35510/ai-market-growth-forecasts-by-segment/?srsltid=AfmBOooezNQ3fZsmnE2H0zLtH3c_C1_LDJrOoUXXMeZk2OF_Sz3k5iKG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7661bf04_0_11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generativa nos negócios</a:t>
            </a:r>
            <a:endParaRPr i="1"/>
          </a:p>
        </p:txBody>
      </p:sp>
      <p:sp>
        <p:nvSpPr>
          <p:cNvPr id="119" name="Google Shape;119;g3d97661bf04_0_1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0" name="Google Shape;120;g3d97661bf04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9500"/>
            <a:ext cx="9320554" cy="524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d97661bf04_0_110"/>
          <p:cNvSpPr txBox="1"/>
          <p:nvPr/>
        </p:nvSpPr>
        <p:spPr>
          <a:xfrm>
            <a:off x="9472950" y="3705263"/>
            <a:ext cx="258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https://www.marketdataforecast.com/market-reports/artificial-intelligence-market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7661bf04_0_7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generativa nos empregos</a:t>
            </a:r>
            <a:endParaRPr/>
          </a:p>
        </p:txBody>
      </p:sp>
      <p:sp>
        <p:nvSpPr>
          <p:cNvPr id="128" name="Google Shape;128;g3d97661bf04_0_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9" name="Google Shape;129;g3d97661bf04_0_76"/>
          <p:cNvSpPr txBox="1"/>
          <p:nvPr/>
        </p:nvSpPr>
        <p:spPr>
          <a:xfrm>
            <a:off x="347525" y="1997550"/>
            <a:ext cx="114288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Alguns pontos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Automação de “Trabalho Cognitivo Braçal”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Tarefas para processar, sintetizar e gerar conteúdo em linguagem natural ou código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"Copiloto" e Ganho de Produtividade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barra da produtividade subiu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passado, mais produtividade implicou em sistemas mais complexos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Fatores Humanos e Soft Skills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Valorização de profissionais que vão além da IA (criatividade, metacognição, etc)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equipes, mentoria, julgamento ético, negociação e pensamento crítico …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97661bf04_0_8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generativa nos empregos</a:t>
            </a:r>
            <a:endParaRPr/>
          </a:p>
        </p:txBody>
      </p:sp>
      <p:sp>
        <p:nvSpPr>
          <p:cNvPr id="136" name="Google Shape;136;g3d97661bf04_0_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" name="Google Shape;137;g3d97661bf04_0_86"/>
          <p:cNvSpPr txBox="1"/>
          <p:nvPr/>
        </p:nvSpPr>
        <p:spPr>
          <a:xfrm>
            <a:off x="347525" y="1997550"/>
            <a:ext cx="114288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Alguns pontos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Novas Disciplinas e Profissões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IA generativa cria novas necessidades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Engenharia de Prompt e Otimização de Modelos, Ética e Governança de IA, Curadoria de Dados …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Necessidade de Adaptação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Obsolescência acelerada de habilidades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Processo contínuo de experimentação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Aprendizado contínuo -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lifelong learning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Mudança no papel da formação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acadêmica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profissional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7661bf04_0_11"/>
          <p:cNvSpPr txBox="1"/>
          <p:nvPr>
            <p:ph type="title"/>
          </p:nvPr>
        </p:nvSpPr>
        <p:spPr>
          <a:xfrm>
            <a:off x="415633" y="103124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generativa nos empregos</a:t>
            </a:r>
            <a:endParaRPr i="1"/>
          </a:p>
        </p:txBody>
      </p:sp>
      <p:sp>
        <p:nvSpPr>
          <p:cNvPr id="144" name="Google Shape;144;g3d97661bf04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5" name="Google Shape;145;g3d97661bf04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8" y="934725"/>
            <a:ext cx="9302993" cy="58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d97661bf04_0_11"/>
          <p:cNvSpPr txBox="1"/>
          <p:nvPr/>
        </p:nvSpPr>
        <p:spPr>
          <a:xfrm>
            <a:off x="9633475" y="3485475"/>
            <a:ext cx="247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https://www.accenture.com/content/dam/accenture/final/accenture-com/document/Accenture-A-New-Era-of-Generative-AI-for-Everyone.pdf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97661bf04_0_101"/>
          <p:cNvSpPr txBox="1"/>
          <p:nvPr>
            <p:ph type="title"/>
          </p:nvPr>
        </p:nvSpPr>
        <p:spPr>
          <a:xfrm>
            <a:off x="415633" y="103124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da IA na Sociedade </a:t>
            </a:r>
            <a:endParaRPr i="1"/>
          </a:p>
        </p:txBody>
      </p:sp>
      <p:sp>
        <p:nvSpPr>
          <p:cNvPr id="153" name="Google Shape;153;g3d97661bf04_0_1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4" name="Google Shape;154;g3d97661bf04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313" y="1207251"/>
            <a:ext cx="10301379" cy="56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97661bf04_0_64"/>
          <p:cNvSpPr txBox="1"/>
          <p:nvPr>
            <p:ph type="title"/>
          </p:nvPr>
        </p:nvSpPr>
        <p:spPr>
          <a:xfrm>
            <a:off x="415658" y="603374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Impactos no Consumo de </a:t>
            </a:r>
            <a:r>
              <a:rPr lang="pt-BR"/>
              <a:t>Energia</a:t>
            </a:r>
            <a:endParaRPr i="1"/>
          </a:p>
        </p:txBody>
      </p:sp>
      <p:sp>
        <p:nvSpPr>
          <p:cNvPr id="161" name="Google Shape;161;g3d97661bf04_0_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2" name="Google Shape;162;g3d97661bf04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888" y="1624099"/>
            <a:ext cx="5118225" cy="51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d97661bf04_0_64"/>
          <p:cNvSpPr txBox="1"/>
          <p:nvPr/>
        </p:nvSpPr>
        <p:spPr>
          <a:xfrm>
            <a:off x="8923475" y="3767563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https://www.statista.com/chart/36004/data-centers-rising-energy-demand/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97661bf04_0_12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Ética e IA - exemplos de dilemas éticos</a:t>
            </a:r>
            <a:endParaRPr/>
          </a:p>
        </p:txBody>
      </p:sp>
      <p:sp>
        <p:nvSpPr>
          <p:cNvPr id="170" name="Google Shape;170;g3d97661bf04_0_1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" name="Google Shape;171;g3d97661bf04_0_122"/>
          <p:cNvSpPr txBox="1"/>
          <p:nvPr/>
        </p:nvSpPr>
        <p:spPr>
          <a:xfrm>
            <a:off x="347525" y="1997550"/>
            <a:ext cx="114288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IA tendenciosa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IA repete 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estereótipos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preconceitos, etc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Perigo de 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perpetuar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os vieses do mundo real e reforçar ainda mais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Inteligência Artificial nos Tribunais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Falta de transparência das ferramentas de IA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IA não é neutra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Práticas de vigilância para coleta de dados e privacidade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preocupações com a equidade e o risco para os Direitos Humanos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3d97661bf04_0_122"/>
          <p:cNvSpPr txBox="1"/>
          <p:nvPr/>
        </p:nvSpPr>
        <p:spPr>
          <a:xfrm>
            <a:off x="2479800" y="6279875"/>
            <a:ext cx="723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https://www.unesco.org/en/artificial-intelligence/recommendation-ethics/cases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97661bf04_0_13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Ética e IA - exemplos de dilemas éticos</a:t>
            </a:r>
            <a:endParaRPr/>
          </a:p>
        </p:txBody>
      </p:sp>
      <p:sp>
        <p:nvSpPr>
          <p:cNvPr id="179" name="Google Shape;179;g3d97661bf04_0_1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0" name="Google Shape;180;g3d97661bf04_0_137"/>
          <p:cNvSpPr txBox="1"/>
          <p:nvPr/>
        </p:nvSpPr>
        <p:spPr>
          <a:xfrm>
            <a:off x="347525" y="1997550"/>
            <a:ext cx="114288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IA cria arte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"O Próximo Rembrandt"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Mas quem pode ser considerado o autor? A empresa que orquestrou o projeto, os engenheiros, o algoritmo ou... o próprio Rembrandt?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Carro autônomo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Tomamos decisões morais dirigindo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Ex.: motorista opta por frear bruscamente para evitar atropelar um pedestre que atravessa fora da faixa, ele está tomando a decisão moral de transferir o risco do pedestre para os ocupantes do carro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d97661bf04_0_137"/>
          <p:cNvSpPr txBox="1"/>
          <p:nvPr/>
        </p:nvSpPr>
        <p:spPr>
          <a:xfrm>
            <a:off x="2479800" y="6279875"/>
            <a:ext cx="723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https://www.unesco.org/en/artificial-intelligence/recommendation-ethics/cases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97661bf04_0_14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Ética e IA Generativa</a:t>
            </a:r>
            <a:endParaRPr/>
          </a:p>
        </p:txBody>
      </p:sp>
      <p:sp>
        <p:nvSpPr>
          <p:cNvPr id="188" name="Google Shape;188;g3d97661bf04_0_1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9" name="Google Shape;189;g3d97661bf04_0_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450" y="1688625"/>
            <a:ext cx="9055099" cy="50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97661bf04_0_15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Generativa, Inovação e Novos Negócios </a:t>
            </a:r>
            <a:endParaRPr/>
          </a:p>
        </p:txBody>
      </p:sp>
      <p:sp>
        <p:nvSpPr>
          <p:cNvPr id="196" name="Google Shape;196;g3d97661bf04_0_1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7" name="Google Shape;197;g3d97661bf04_0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036" y="2103725"/>
            <a:ext cx="8251926" cy="41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d97661bf04_0_157"/>
          <p:cNvSpPr txBox="1"/>
          <p:nvPr/>
        </p:nvSpPr>
        <p:spPr>
          <a:xfrm>
            <a:off x="3082075" y="6342125"/>
            <a:ext cx="53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https://www.wowinfotech.com/blog/generative-ai-for-business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97661bf04_0_16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Generativa, Inovação e Novos Negócios </a:t>
            </a:r>
            <a:endParaRPr/>
          </a:p>
        </p:txBody>
      </p:sp>
      <p:sp>
        <p:nvSpPr>
          <p:cNvPr id="205" name="Google Shape;205;g3d97661bf04_0_16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6" name="Google Shape;206;g3d97661bf04_0_165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estamos é “apenas” automatizar tarefas repetitivas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Sintetizar conhecimento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Gerar ativos criativos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Orquestrar processos cognitivos complexos em escala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Entender onde o valor real se encontra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Criar uma interface bonita que apenas repassa perguntas para uma API pública ("thin wrapper") não é mais novidade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97661bf04_0_17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Generativa, Inovação e Novos Negócios </a:t>
            </a:r>
            <a:endParaRPr/>
          </a:p>
        </p:txBody>
      </p:sp>
      <p:sp>
        <p:nvSpPr>
          <p:cNvPr id="213" name="Google Shape;213;g3d97661bf04_0_1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4" name="Google Shape;214;g3d97661bf04_0_178"/>
          <p:cNvSpPr txBox="1"/>
          <p:nvPr/>
        </p:nvSpPr>
        <p:spPr>
          <a:xfrm>
            <a:off x="347525" y="1997550"/>
            <a:ext cx="114288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Algumas possibilidades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Criação e Personalização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Hiperpersonalização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Prototipagem Rápida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Novas interfaces e aplicações de LLMs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Sistemas Especializados Verticais (Vertical AI)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Lidar com dados não estruturados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Interfaces entre negócios, contratos, etc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Automação de Processos Cognitivos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Agentic Workflows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Engenharia de Software Autônoma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Atendimento ao Cliente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. . . 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6a27ec8f6_0_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Mecanismos de Apoio à Inovação</a:t>
            </a:r>
            <a:endParaRPr i="1"/>
          </a:p>
        </p:txBody>
      </p:sp>
      <p:sp>
        <p:nvSpPr>
          <p:cNvPr id="221" name="Google Shape;221;g396a27ec8f6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g396a27ec8f6_0_4"/>
          <p:cNvSpPr txBox="1"/>
          <p:nvPr/>
        </p:nvSpPr>
        <p:spPr>
          <a:xfrm>
            <a:off x="347525" y="1997550"/>
            <a:ext cx="114288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Existem diversos mecanismos de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apoio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à inovação, por exemplo: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Subvenção Econômica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Recursos sem necessidade de devolução, ex.: Finep, FAPESP), para projetos de alto risco tecnológico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Financiamento com Taxas Subsidiadas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Recursos reembolsáveis com taxas abaixo do mercado, ex.: BNDES, FINEP e longos prazos de carência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Incentivos Fiscais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Dedução de despesas com PD&amp;I (Pesquisa, Desenvolvimento e Inovação), ex.: Lei do Bem (Lei 11.196/05), Lei de Informática (Lei 8.248/91) 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Ambientes de Inovação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Incubadoras, aceleradoras e parques tecnológicos que oferecem suporte gerencial e infraestrutura para startups e empresas inovadoras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97661bf04_0_19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INOVA - Unicamp</a:t>
            </a:r>
            <a:endParaRPr i="1"/>
          </a:p>
        </p:txBody>
      </p:sp>
      <p:sp>
        <p:nvSpPr>
          <p:cNvPr id="229" name="Google Shape;229;g3d97661bf04_0_1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0" name="Google Shape;230;g3d97661bf04_0_191"/>
          <p:cNvSpPr txBox="1"/>
          <p:nvPr/>
        </p:nvSpPr>
        <p:spPr>
          <a:xfrm>
            <a:off x="4754975" y="1726600"/>
            <a:ext cx="268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https://www.inova.unicamp.br/</a:t>
            </a:r>
            <a:r>
              <a:rPr lang="pt-BR"/>
              <a:t> </a:t>
            </a:r>
            <a:endParaRPr/>
          </a:p>
        </p:txBody>
      </p:sp>
      <p:pic>
        <p:nvPicPr>
          <p:cNvPr id="231" name="Google Shape;231;g3d97661bf04_0_1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98" y="2472825"/>
            <a:ext cx="10991810" cy="4033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97661bf04_0_21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FAPESP - PIPE</a:t>
            </a:r>
            <a:endParaRPr i="1"/>
          </a:p>
        </p:txBody>
      </p:sp>
      <p:sp>
        <p:nvSpPr>
          <p:cNvPr id="238" name="Google Shape;238;g3d97661bf04_0_2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9" name="Google Shape;239;g3d97661bf04_0_211"/>
          <p:cNvSpPr txBox="1"/>
          <p:nvPr/>
        </p:nvSpPr>
        <p:spPr>
          <a:xfrm>
            <a:off x="4754975" y="1726600"/>
            <a:ext cx="268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https://fapesp.br/pipe/</a:t>
            </a:r>
            <a:r>
              <a:rPr lang="pt-BR"/>
              <a:t> </a:t>
            </a:r>
            <a:endParaRPr/>
          </a:p>
        </p:txBody>
      </p:sp>
      <p:pic>
        <p:nvPicPr>
          <p:cNvPr id="240" name="Google Shape;240;g3d97661bf04_0_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8150" y="2242475"/>
            <a:ext cx="9135692" cy="46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97661bf04_0_22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FINEP</a:t>
            </a:r>
            <a:endParaRPr i="1"/>
          </a:p>
        </p:txBody>
      </p:sp>
      <p:sp>
        <p:nvSpPr>
          <p:cNvPr id="247" name="Google Shape;247;g3d97661bf04_0_2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8" name="Google Shape;248;g3d97661bf04_0_221"/>
          <p:cNvSpPr txBox="1"/>
          <p:nvPr/>
        </p:nvSpPr>
        <p:spPr>
          <a:xfrm>
            <a:off x="3472575" y="1726600"/>
            <a:ext cx="600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https://www.finep.gov.br/chamadas-publicas?situacao=aberta&amp;tFonte=2</a:t>
            </a:r>
            <a:r>
              <a:rPr lang="pt-BR"/>
              <a:t> </a:t>
            </a:r>
            <a:endParaRPr/>
          </a:p>
        </p:txBody>
      </p:sp>
      <p:pic>
        <p:nvPicPr>
          <p:cNvPr id="249" name="Google Shape;249;g3d97661bf04_0_2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550" y="2126800"/>
            <a:ext cx="8380840" cy="44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