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</p:sldIdLst>
  <p:sldSz cy="6858000" cx="12192000"/>
  <p:notesSz cx="6858000" cy="9144000"/>
  <p:embeddedFontLst>
    <p:embeddedFont>
      <p:font typeface="Roboto"/>
      <p:regular r:id="rId33"/>
      <p:bold r:id="rId34"/>
      <p:italic r:id="rId35"/>
      <p:boldItalic r:id="rId36"/>
    </p:embeddedFont>
    <p:embeddedFont>
      <p:font typeface="Merriweather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jxkGzAUYghNxMvbJuXc0cMa3km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erriweather-boldItalic.fntdata"/><Relationship Id="rId20" Type="http://schemas.openxmlformats.org/officeDocument/2006/relationships/slide" Target="slides/slide16.xml"/><Relationship Id="rId41" Type="http://customschemas.google.com/relationships/presentationmetadata" Target="meta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Roboto-regular.fntdata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Roboto-italic.fntdata"/><Relationship Id="rId12" Type="http://schemas.openxmlformats.org/officeDocument/2006/relationships/slide" Target="slides/slide8.xml"/><Relationship Id="rId34" Type="http://schemas.openxmlformats.org/officeDocument/2006/relationships/font" Target="fonts/Roboto-bold.fntdata"/><Relationship Id="rId15" Type="http://schemas.openxmlformats.org/officeDocument/2006/relationships/slide" Target="slides/slide11.xml"/><Relationship Id="rId37" Type="http://schemas.openxmlformats.org/officeDocument/2006/relationships/font" Target="fonts/Merriweather-regular.fntdata"/><Relationship Id="rId14" Type="http://schemas.openxmlformats.org/officeDocument/2006/relationships/slide" Target="slides/slide10.xml"/><Relationship Id="rId36" Type="http://schemas.openxmlformats.org/officeDocument/2006/relationships/font" Target="fonts/Roboto-boldItalic.fntdata"/><Relationship Id="rId17" Type="http://schemas.openxmlformats.org/officeDocument/2006/relationships/slide" Target="slides/slide13.xml"/><Relationship Id="rId39" Type="http://schemas.openxmlformats.org/officeDocument/2006/relationships/font" Target="fonts/Merriweather-italic.fntdata"/><Relationship Id="rId16" Type="http://schemas.openxmlformats.org/officeDocument/2006/relationships/slide" Target="slides/slide12.xml"/><Relationship Id="rId38" Type="http://schemas.openxmlformats.org/officeDocument/2006/relationships/font" Target="fonts/Merriweather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5b3c3f15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" name="Google Shape;72;g1e5b3c3f154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953551887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d953551887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3d953551887_2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3eb54f4a2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3eb54f4a2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g3d3eb54f4a2_0_1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953551887_2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g3d953551887_2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g3d953551887_2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953551887_2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d953551887_2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d953551887_2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953551887_2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d953551887_2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d953551887_2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953551887_2_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d953551887_2_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g3d953551887_2_5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953551887_2_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d953551887_2_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d953551887_2_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953551887_2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d953551887_2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d953551887_2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953551887_2_1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d953551887_2_1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d953551887_2_12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953551887_2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d953551887_2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d953551887_2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953551887_2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3d953551887_2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d953551887_2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953551887_2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d953551887_2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d953551887_2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953551887_2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d953551887_2_10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g3d953551887_2_10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953551887_2_1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3d953551887_2_1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d953551887_2_1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953551887_2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3d953551887_2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d953551887_2_1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953551887_2_1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d953551887_2_1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g3d953551887_2_1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953551887_2_1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d953551887_2_1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g3d953551887_2_1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d953551887_2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g3d953551887_2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d953551887_2_1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953551887_2_1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d953551887_2_1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d953551887_2_1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d953551887_2_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d953551887_2_1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g3d953551887_2_1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953551887_2_1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d953551887_2_19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d953551887_2_19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740832307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g3d740832307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d740832307_2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953551887_2_2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g3d953551887_2_2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g3d953551887_2_2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d953551887_2_2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g3d953551887_2_2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g3d953551887_2_2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953551887_2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d953551887_2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g3d953551887_2_2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953551887_2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d953551887_2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d953551887_2_2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953551887_2_2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d953551887_2_2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3d953551887_2_2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e5b3c3f154_0_446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1e5b3c3f154_0_4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g1e5b3c3f154_0_4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e5b3c3f154_0_4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1e5b3c3f154_0_4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1e5b3c3f154_0_4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1e5b3c3f154_0_4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1e5b3c3f154_0_4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e5b3c3f154_0_423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g1e5b3c3f154_0_423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1e5b3c3f154_0_423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g1e5b3c3f154_0_4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e5b3c3f154_0_428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0" name="Google Shape;30;g1e5b3c3f154_0_428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" name="Google Shape;31;g1e5b3c3f154_0_428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1e5b3c3f154_0_4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5b3c3f154_0_433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1e5b3c3f154_0_433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Google Shape;36;g1e5b3c3f154_0_433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7" name="Google Shape;37;g1e5b3c3f154_0_433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1e5b3c3f154_0_433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1e5b3c3f154_0_4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5b3c3f154_0_440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e5b3c3f154_0_4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g1e5b3c3f154_0_440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4" name="Google Shape;44;g1e5b3c3f154_0_440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5" name="Google Shape;45;g1e5b3c3f154_0_4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5b3c3f154_0_450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1e5b3c3f154_0_450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1e5b3c3f154_0_450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g1e5b3c3f154_0_4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5b3c3f154_0_455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g1e5b3c3f154_0_4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e5b3c3f154_0_45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e5b3c3f154_0_458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g1e5b3c3f154_0_458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g1e5b3c3f154_0_458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9" name="Google Shape;59;g1e5b3c3f154_0_4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5b3c3f154_0_464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1e5b3c3f154_0_464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63" name="Google Shape;63;g1e5b3c3f154_0_4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5b3c3f154_0_468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g1e5b3c3f154_0_468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g1e5b3c3f154_0_4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5b3c3f154_0_4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5b3c3f154_0_4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g1e5b3c3f154_0_4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1e5b3c3f154_0_4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e5b3c3f154_0_189"/>
          <p:cNvSpPr txBox="1"/>
          <p:nvPr/>
        </p:nvSpPr>
        <p:spPr>
          <a:xfrm>
            <a:off x="108151" y="5088650"/>
            <a:ext cx="9714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sng" cap="none" strike="noStrike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Prof. Dr. Rodrigo Bonacin</a:t>
            </a:r>
            <a:endParaRPr b="1" i="0" sz="2400" u="sng" cap="none" strike="noStrike">
              <a:solidFill>
                <a:srgbClr val="3139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rgbClr val="31394D"/>
                </a:solidFill>
                <a:latin typeface="Calibri"/>
                <a:ea typeface="Calibri"/>
                <a:cs typeface="Calibri"/>
                <a:sym typeface="Calibri"/>
              </a:rPr>
              <a:t>rbonacin@unicamp.br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1e5b3c3f154_0_189"/>
          <p:cNvSpPr txBox="1"/>
          <p:nvPr>
            <p:ph type="title"/>
          </p:nvPr>
        </p:nvSpPr>
        <p:spPr>
          <a:xfrm>
            <a:off x="108150" y="3100700"/>
            <a:ext cx="11975700" cy="18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Gestão e liderança de projetos com IA Generativa</a:t>
            </a:r>
            <a:endParaRPr sz="4000"/>
          </a:p>
        </p:txBody>
      </p:sp>
      <p:pic>
        <p:nvPicPr>
          <p:cNvPr id="76" name="Google Shape;76;g1e5b3c3f154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75" y="270775"/>
            <a:ext cx="977781" cy="1108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1e5b3c3f154_0_189" title="logo-ic-unicamp-slant-line-wht-sky-ora-04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950" y="194775"/>
            <a:ext cx="1471758" cy="12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953551887_2_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Linha do Tempo</a:t>
            </a:r>
            <a:endParaRPr/>
          </a:p>
        </p:txBody>
      </p:sp>
      <p:sp>
        <p:nvSpPr>
          <p:cNvPr id="84" name="Google Shape;84;g3d953551887_2_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5" name="Google Shape;85;g3d953551887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497" y="1725709"/>
            <a:ext cx="9353027" cy="51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3eb54f4a2_0_14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com IA Generativa</a:t>
            </a:r>
            <a:endParaRPr/>
          </a:p>
        </p:txBody>
      </p:sp>
      <p:sp>
        <p:nvSpPr>
          <p:cNvPr id="92" name="Google Shape;92;g3d3eb54f4a2_0_1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3" name="Google Shape;93;g3d3eb54f4a2_0_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8163" y="1707102"/>
            <a:ext cx="9415613" cy="5135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953551887_2_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IA Generativa na Gestão de Projetos</a:t>
            </a:r>
            <a:endParaRPr i="1"/>
          </a:p>
        </p:txBody>
      </p:sp>
      <p:sp>
        <p:nvSpPr>
          <p:cNvPr id="100" name="Google Shape;100;g3d953551887_2_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1" name="Google Shape;101;g3d953551887_2_9"/>
          <p:cNvSpPr txBox="1"/>
          <p:nvPr/>
        </p:nvSpPr>
        <p:spPr>
          <a:xfrm>
            <a:off x="347525" y="1997550"/>
            <a:ext cx="11428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Não apenas executa tarefas, mas gera insights e recomendações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Análise Preditiva e Antecipação de Riscos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Analisar o escopo de seu projeto e </a:t>
            </a:r>
            <a:r>
              <a:rPr b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compará-lo com projetos passados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Exemplo: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Projetos com essa densidade de desenvolvimento de software (como a criação de novos algoritmos de classificação de dados) historicamente sofrem atrasos de 15% nas fases de testes e de integração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Ação: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 gestor pode alocar, preventivamente, mais tempo ou recursos para essa fase específica 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53551887_2_3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IA Generativa na Gestão de Projetos</a:t>
            </a:r>
            <a:endParaRPr i="1"/>
          </a:p>
        </p:txBody>
      </p:sp>
      <p:sp>
        <p:nvSpPr>
          <p:cNvPr id="108" name="Google Shape;108;g3d953551887_2_3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9" name="Google Shape;109;g3d953551887_2_31"/>
          <p:cNvSpPr txBox="1"/>
          <p:nvPr/>
        </p:nvSpPr>
        <p:spPr>
          <a:xfrm>
            <a:off x="347525" y="1997550"/>
            <a:ext cx="11428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Não apenas executa tarefas, mas gera insights e recomendações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Síntese de Comunicação e Análise de Sentimento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Projetos geram uma quantidade massiva de comunicação não estruturada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Ler todas as atas de reunião e trocas de mensagens e gerar um resumo executivo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Pode </a:t>
            </a:r>
            <a:r>
              <a:rPr b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identificar o sentimento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da equipe ou dos 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stakeholders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Exemplo: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detectar que, embora o cronograma esteja em dia, a linguagem usada pela equipe de engenharia indica um alto nível de sobrecarga ou confusão sobre um requisito específico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Ação: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 gestor intervém para alinhar expectativas ou redistribuir tarefas antes que o problema impacte as entregas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953551887_2_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IA Generativa na Gestão de Projetos</a:t>
            </a:r>
            <a:endParaRPr i="1"/>
          </a:p>
        </p:txBody>
      </p:sp>
      <p:sp>
        <p:nvSpPr>
          <p:cNvPr id="116" name="Google Shape;116;g3d953551887_2_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7" name="Google Shape;117;g3d953551887_2_40"/>
          <p:cNvSpPr txBox="1"/>
          <p:nvPr/>
        </p:nvSpPr>
        <p:spPr>
          <a:xfrm>
            <a:off x="347525" y="1997550"/>
            <a:ext cx="114288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Não apenas executa tarefas, mas gera insights e recomendações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Simulação e Modelagem de Cenários Complexos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em projetos de reestruturação corporativa profunda onde há </a:t>
            </a:r>
            <a:r>
              <a:rPr b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múltiplas variáveis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legais, financeiras e culturais em jogo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Usar a IA para criar cenários do tipo "E se?"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Alimentando a IA com os parâmetros do projeto, o gestor pode perguntar: "Quais seriam os gargalos operacionais se antecipássemos a transição jurídica em três meses?" A IA gera um relatório apontando dependências críticas, e apontar as melhores práticas de gestão de mudança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Ação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Permite uma tomada de decisão fundamentada em dados sobre cronogramas e escopos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953551887_2_5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IA Generativa na Gestão de Projetos</a:t>
            </a:r>
            <a:endParaRPr i="1"/>
          </a:p>
        </p:txBody>
      </p:sp>
      <p:sp>
        <p:nvSpPr>
          <p:cNvPr id="124" name="Google Shape;124;g3d953551887_2_5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5" name="Google Shape;125;g3d953551887_2_52"/>
          <p:cNvSpPr txBox="1"/>
          <p:nvPr/>
        </p:nvSpPr>
        <p:spPr>
          <a:xfrm>
            <a:off x="347525" y="1997550"/>
            <a:ext cx="114288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Não apenas executa tarefas, mas gera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insights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 recomendações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Otimização de Alocação de Recursos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Cruzar as habilidades documentadas da equipe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o histórico de velocidade de entrega de cada membro e os requisitos técnicos das tarefas futuras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ferramenta sugere as combinações mais eficientes de profissionais para tarefas específicas, alertando se um recurso crítico está se tornando um gargalo para múltiplas frentes do projeto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Ação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revisar a alocação  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953551887_2_6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IA Generativa na Gestão de Projetos</a:t>
            </a:r>
            <a:endParaRPr i="1"/>
          </a:p>
        </p:txBody>
      </p:sp>
      <p:sp>
        <p:nvSpPr>
          <p:cNvPr id="132" name="Google Shape;132;g3d953551887_2_6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3" name="Google Shape;133;g3d953551887_2_62"/>
          <p:cNvSpPr txBox="1"/>
          <p:nvPr/>
        </p:nvSpPr>
        <p:spPr>
          <a:xfrm>
            <a:off x="347525" y="1997550"/>
            <a:ext cx="114288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Ponderações importantes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IA não tem contexto de mundo real, empatia ou capacidade de assumir riscos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Ela não gerencia o projeto, ela apenas organiza informações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IA Generativa pode ser utilizada como parâmetro para a decisão, mas a IA não é responsável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administrativo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nem responsável legal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953551887_2_1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i="1" lang="pt-BR"/>
              <a:t>Hyper Agile</a:t>
            </a:r>
            <a:endParaRPr i="1"/>
          </a:p>
        </p:txBody>
      </p:sp>
      <p:sp>
        <p:nvSpPr>
          <p:cNvPr id="140" name="Google Shape;140;g3d953551887_2_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1" name="Google Shape;141;g3d953551887_2_18"/>
          <p:cNvSpPr txBox="1"/>
          <p:nvPr/>
        </p:nvSpPr>
        <p:spPr>
          <a:xfrm>
            <a:off x="347525" y="1997550"/>
            <a:ext cx="114288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Responder aos desafios encontrados pelo desenvolvimento ágil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Otimizar processos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Aumentar a agilidade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Focar no retorno sobre o investimento (ROI)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953551887_2_12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i="1" lang="pt-BR"/>
              <a:t>Hyper Agile</a:t>
            </a:r>
            <a:endParaRPr i="1"/>
          </a:p>
        </p:txBody>
      </p:sp>
      <p:sp>
        <p:nvSpPr>
          <p:cNvPr id="148" name="Google Shape;148;g3d953551887_2_1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9" name="Google Shape;149;g3d953551887_2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066" y="1750695"/>
            <a:ext cx="9265869" cy="505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953551887_2_7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i="1" lang="pt-BR"/>
              <a:t>Hyper Agile </a:t>
            </a:r>
            <a:r>
              <a:rPr lang="pt-BR"/>
              <a:t>e IA Generativa</a:t>
            </a:r>
            <a:endParaRPr/>
          </a:p>
        </p:txBody>
      </p:sp>
      <p:sp>
        <p:nvSpPr>
          <p:cNvPr id="156" name="Google Shape;156;g3d953551887_2_7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7" name="Google Shape;157;g3d953551887_2_79"/>
          <p:cNvSpPr txBox="1"/>
          <p:nvPr/>
        </p:nvSpPr>
        <p:spPr>
          <a:xfrm>
            <a:off x="347525" y="1997550"/>
            <a:ext cx="114288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Automação em massa e iterações curtas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Já está presente em quase todas as etapas de um projeto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 tarefas repetitivas à previsão de riscos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Suporte à tomada de decisões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Reduzir o tempo gasto em atividades administrativas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Assim, focar na inovação e nas entregas estratégicas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953551887_2_8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Soluções Tecnológicas para IA em Gestão </a:t>
            </a:r>
            <a:endParaRPr i="1"/>
          </a:p>
        </p:txBody>
      </p:sp>
      <p:sp>
        <p:nvSpPr>
          <p:cNvPr id="164" name="Google Shape;164;g3d953551887_2_8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5" name="Google Shape;165;g3d953551887_2_88"/>
          <p:cNvSpPr txBox="1"/>
          <p:nvPr/>
        </p:nvSpPr>
        <p:spPr>
          <a:xfrm>
            <a:off x="347525" y="1997550"/>
            <a:ext cx="114288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RAG (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Retrieval-Augmented Generation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é uma tecnologia chave atualmente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Imagine que você está gerenciando um projeto de alta complexidade com múltiplas frentes de trabalho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xemplo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 transição jurídica, financeira e estrutural de uma empresa de sociedade limitada (LTDA) para sociedade anônima (S.A.)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Tem centenas de páginas de auditorias, atas de reunião do conselho, relatórios e contratos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pt-BR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953551887_2_9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Soluções Tecnológicas para IA em Gestão </a:t>
            </a:r>
            <a:endParaRPr i="1"/>
          </a:p>
        </p:txBody>
      </p:sp>
      <p:sp>
        <p:nvSpPr>
          <p:cNvPr id="172" name="Google Shape;172;g3d953551887_2_9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3" name="Google Shape;173;g3d953551887_2_98"/>
          <p:cNvSpPr txBox="1"/>
          <p:nvPr/>
        </p:nvSpPr>
        <p:spPr>
          <a:xfrm>
            <a:off x="347525" y="1997550"/>
            <a:ext cx="114288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RAG- Vetorização (Embeddings)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Coletar documentos (tipicamente PDFs)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Quebrar todos os seus documentos em pequenos blocos de texto (chunks).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Criar Embeddings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Transforma a semântica do texto em um vetor 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numérico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 exemplo, os documentos sobre passivo trabalhista e sobre processos cíveis ficarão próximos nesse espaço multidimensional, enquanto um documento sobre o marketing da no S.A. ficará em um espaço multidimensional distante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Esses vetores são salvos em um banco de dados especializado: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ChromaDB, Pinecone, Pgvector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953551887_2_10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Soluções Tecnológicas para IA em Gestão </a:t>
            </a:r>
            <a:endParaRPr i="1"/>
          </a:p>
        </p:txBody>
      </p:sp>
      <p:sp>
        <p:nvSpPr>
          <p:cNvPr id="180" name="Google Shape;180;g3d953551887_2_10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1" name="Google Shape;181;g3d953551887_2_108"/>
          <p:cNvSpPr txBox="1"/>
          <p:nvPr/>
        </p:nvSpPr>
        <p:spPr>
          <a:xfrm>
            <a:off x="347525" y="1997550"/>
            <a:ext cx="114288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RAG-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Busca Semântica (Extração)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Quando você faz uma pergunta ao sistema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Exemplo: "Quais são os principais riscos apontados pela auditoria para a transição no próximo trimestre?"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Não procura por palavras-chave exatas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Sua pergunta passa pelo mesmo modelo de embedding e vira um vetor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19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Char char="●"/>
            </a:pPr>
            <a:r>
              <a:rPr lang="pt-BR" sz="2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sistema então busca no banco de dados quais fragmentos de texto estão matematicamente mais próximos da sua pergunta (similaridade de cossenos)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2" name="Google Shape;182;g3d953551887_2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5076" y="5322150"/>
            <a:ext cx="7750250" cy="129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953551887_2_11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Soluções Tecnológicas para IA em Gestão </a:t>
            </a:r>
            <a:endParaRPr i="1"/>
          </a:p>
        </p:txBody>
      </p:sp>
      <p:sp>
        <p:nvSpPr>
          <p:cNvPr id="189" name="Google Shape;189;g3d953551887_2_1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0" name="Google Shape;190;g3d953551887_2_118"/>
          <p:cNvSpPr txBox="1"/>
          <p:nvPr/>
        </p:nvSpPr>
        <p:spPr>
          <a:xfrm>
            <a:off x="347525" y="1997550"/>
            <a:ext cx="114288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RAG - A Geração de 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Insights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(LLM-Decoder)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sistema de busca junta blocos de texto mais relevantes e os injeta no prompt junto com a sua pergunta original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fragmentos de documentos sobre “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principais riscos apontados pela auditoria para a transição no próximo trimestre”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LLM (decoder) cruza o conhecimento linguístico geral dele com os fatos estritos dos seus documentos para redigir uma resposta fundamentada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Pode ser realizado previamente também o ajuste fino do modelo, para se portar como um </a:t>
            </a:r>
            <a:r>
              <a:rPr lang="pt-BR" sz="20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assistente para gestão de projeto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ou mesmo um assistente para tarefas ainda mais específicas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Evita alucinações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953551887_2_14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</a:t>
            </a:r>
            <a:r>
              <a:rPr lang="pt-BR"/>
              <a:t>estão de Projetos Inovadores</a:t>
            </a:r>
            <a:r>
              <a:rPr lang="pt-BR"/>
              <a:t> </a:t>
            </a:r>
            <a:endParaRPr i="1"/>
          </a:p>
        </p:txBody>
      </p:sp>
      <p:sp>
        <p:nvSpPr>
          <p:cNvPr id="197" name="Google Shape;197;g3d953551887_2_14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8" name="Google Shape;198;g3d953551887_2_144"/>
          <p:cNvSpPr txBox="1"/>
          <p:nvPr/>
        </p:nvSpPr>
        <p:spPr>
          <a:xfrm>
            <a:off x="347525" y="1997550"/>
            <a:ext cx="11428800" cy="25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Principal diferença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Forma como cada abordagem lida com a incerteza e a previsibilidade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tradicional: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assume que o caminho até o objetivo final é conhecido e foca na execução eficiente de um plano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b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projetos inovadores: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assume que o caminho (e às vezes até o destino exato) será descoberto e ajustado ao longo do processo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953551887_2_15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Inovadores </a:t>
            </a:r>
            <a:endParaRPr i="1"/>
          </a:p>
        </p:txBody>
      </p:sp>
      <p:sp>
        <p:nvSpPr>
          <p:cNvPr id="205" name="Google Shape;205;g3d953551887_2_15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06" name="Google Shape;206;g3d953551887_2_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575" y="1946700"/>
            <a:ext cx="9013946" cy="434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g3d953551887_2_154"/>
          <p:cNvSpPr txBox="1"/>
          <p:nvPr/>
        </p:nvSpPr>
        <p:spPr>
          <a:xfrm>
            <a:off x="4853250" y="6256775"/>
            <a:ext cx="1908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Segundo Gemini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953551887_2_16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Inovadores </a:t>
            </a:r>
            <a:endParaRPr i="1"/>
          </a:p>
        </p:txBody>
      </p:sp>
      <p:sp>
        <p:nvSpPr>
          <p:cNvPr id="214" name="Google Shape;214;g3d953551887_2_163"/>
          <p:cNvSpPr txBox="1"/>
          <p:nvPr/>
        </p:nvSpPr>
        <p:spPr>
          <a:xfrm>
            <a:off x="347525" y="1997550"/>
            <a:ext cx="11428800" cy="4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Tratamento do Escopo e Requisitos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Tradicional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escopo é rigidamente definido no início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Alterações são desencorajadas, vistas como "desvios", e passam por um burocrático controle de mudanças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foco é entregar exatamente o que foi especificado no contrato ou documento de requisitos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Inovador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escopo é evolutivo. Os requisitos mudam à medida que a equipe aprende mais sobre o problema e a tecnologia.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Exemplo de um classificador de 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spam: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n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início do projeto, pode não estar claro qual arquitetura de LLM trará a maior precisão. É necessário construir, testar como os mecanismos de atenção se comportam com os dados, e iterar. O escopo se adapta a essas descobertas técnicas contínuas.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5" name="Google Shape;215;g3d953551887_2_16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953551887_2_17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Inovadores </a:t>
            </a:r>
            <a:endParaRPr i="1"/>
          </a:p>
        </p:txBody>
      </p:sp>
      <p:sp>
        <p:nvSpPr>
          <p:cNvPr id="222" name="Google Shape;222;g3d953551887_2_171"/>
          <p:cNvSpPr txBox="1"/>
          <p:nvPr/>
        </p:nvSpPr>
        <p:spPr>
          <a:xfrm>
            <a:off x="347525" y="1997550"/>
            <a:ext cx="11428800" cy="34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Metodologia e Ciclo de Vida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Tradicional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 abordagens sequenciais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Uma fase do projeto (planejamento, design, execução, testes) só começa quando a anterior é totalmente concluída e aprovada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Inovador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Utiliza metodologias ágeis (como Scrum ou Kanban) e princípios Lean. O desenvolvimento ocorre em ciclos curtos (sprints)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Cada ciclo produz um incremento testável do produto, permitindo correções de rota rápidas baseadas no feedback real, e não em suposições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g3d953551887_2_17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953551887_2_18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Inovadores </a:t>
            </a:r>
            <a:endParaRPr i="1"/>
          </a:p>
        </p:txBody>
      </p:sp>
      <p:sp>
        <p:nvSpPr>
          <p:cNvPr id="230" name="Google Shape;230;g3d953551887_2_180"/>
          <p:cNvSpPr txBox="1"/>
          <p:nvPr/>
        </p:nvSpPr>
        <p:spPr>
          <a:xfrm>
            <a:off x="347525" y="1997550"/>
            <a:ext cx="114288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de Riscos e Falhas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Tradicional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risco é visto como uma ameaça ao plano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Muito tempo e recursos são investidos no início do projeto para mapear, mitigar e tentar blindar a execução contra imprevistos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falha é vista como um erro de planejamento ou execução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Inovador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risco é uma parte inerente e esperada da inovação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 vez de tentar prever o imprevisível, a equipe adota a mentalidade de "falhar rápido e barato" (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fail fast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Hipóteses são testadas cedo para descobrir rapidamente o que não funciona, transformando a falha em aprendizado validado que direciona o próximo passo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g3d953551887_2_18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953551887_2_18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Inovadores </a:t>
            </a:r>
            <a:endParaRPr i="1"/>
          </a:p>
        </p:txBody>
      </p:sp>
      <p:sp>
        <p:nvSpPr>
          <p:cNvPr id="238" name="Google Shape;238;g3d953551887_2_189"/>
          <p:cNvSpPr txBox="1"/>
          <p:nvPr/>
        </p:nvSpPr>
        <p:spPr>
          <a:xfrm>
            <a:off x="347525" y="1997550"/>
            <a:ext cx="114288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Métricas de Sucesso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Tradicional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sucesso é medido por indicadores como </a:t>
            </a:r>
            <a:r>
              <a:rPr lang="pt-BR" sz="20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prazo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pt-BR" sz="20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orçamento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com o </a:t>
            </a:r>
            <a:r>
              <a:rPr lang="pt-BR" sz="20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escopo original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Inovador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sucesso é medido pelo impacto, ex.: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produto resolve a dor do usuário?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tecnologia provou ser viável?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Trouxe o retorno de negócio esperado?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Pode estourar o orçamento inicial ou mudar drasticamente de escopo, mas se gerar uma </a:t>
            </a:r>
            <a:r>
              <a:rPr lang="pt-BR" sz="2000" u="sng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solução disruptiva e escalável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é considerado um sucesso absoluto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g3d953551887_2_18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953551887_2_19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Inovadores </a:t>
            </a:r>
            <a:endParaRPr i="1"/>
          </a:p>
        </p:txBody>
      </p:sp>
      <p:sp>
        <p:nvSpPr>
          <p:cNvPr id="246" name="Google Shape;246;g3d953551887_2_197"/>
          <p:cNvSpPr txBox="1"/>
          <p:nvPr/>
        </p:nvSpPr>
        <p:spPr>
          <a:xfrm>
            <a:off x="347525" y="1997550"/>
            <a:ext cx="114288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Liderança e Dinâmica da Equipe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radicional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Estrutura mais hierárquica (comando e controle)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gerente de projetos planeja, distribui tarefas, monitora o progresso e cobra prazos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equipe foca na execução de suas especialidades isoladas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Inovador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Liderança servidora e equipes multidisciplinares autogerenciáveis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papel do gestor (como um 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Scrum Master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ou 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Product Owner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é remover obstáculos, garantir a visão do produto e facilitar a colaboração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equipe tem autonomia para tomar decisões técnicas e criativas no dia a dia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g3d953551887_2_19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740832307_2_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de IA Generativa </a:t>
            </a:r>
            <a:endParaRPr i="1"/>
          </a:p>
        </p:txBody>
      </p:sp>
      <p:sp>
        <p:nvSpPr>
          <p:cNvPr id="254" name="Google Shape;254;g3d740832307_2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55" name="Google Shape;255;g3d740832307_2_8"/>
          <p:cNvSpPr txBox="1"/>
          <p:nvPr/>
        </p:nvSpPr>
        <p:spPr>
          <a:xfrm>
            <a:off x="347525" y="1997550"/>
            <a:ext cx="114288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Embora qualquer projeto inovador lide com a incerteza e a necessidade de adaptação rápida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Projetos de Inteligência Artificial Generativa trazem elementos adicionais de complexidade técnica e humana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Não estamos orquestrando sistemas probabilísticos cujo comportamento final não pode ser totalmente previsto </a:t>
            </a:r>
            <a:r>
              <a:rPr b="0" i="0" lang="pt-BR" sz="2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953551887_2_20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de IA Generativa </a:t>
            </a:r>
            <a:endParaRPr i="1"/>
          </a:p>
        </p:txBody>
      </p:sp>
      <p:sp>
        <p:nvSpPr>
          <p:cNvPr id="262" name="Google Shape;262;g3d953551887_2_20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63" name="Google Shape;263;g3d953551887_2_207"/>
          <p:cNvSpPr txBox="1"/>
          <p:nvPr/>
        </p:nvSpPr>
        <p:spPr>
          <a:xfrm>
            <a:off x="347525" y="1997550"/>
            <a:ext cx="114288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Natureza Não-Determinística e o Controle de Qualidade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Outras Inovações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Mesmo em um projeto de software altamente inovador, a lógica tradicional prevê que a mesma entrada (A) produzirá a mesma saída (B). O teste de qualidade (QA) foca em encontrar bugs no código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Desafio da gestão aqui é medir o sucesso quando o resultado é variável e subjetivo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 exemplo, classificar contextos sutis para detectar táticas modernas de engenharia social, o teste não é um simples "passou/falhou"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gestor precisa prever ciclos contínuos de refinamento de prompts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Criação de datasets de avaliação (bancadas de teste) e implementação de métricas como 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Human-in-the-Loop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(feedback humano) para mitigar alucinações e garantir a precisão semântica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953551887_2_21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de IA Generativa </a:t>
            </a:r>
            <a:endParaRPr i="1"/>
          </a:p>
        </p:txBody>
      </p:sp>
      <p:sp>
        <p:nvSpPr>
          <p:cNvPr id="270" name="Google Shape;270;g3d953551887_2_2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1" name="Google Shape;271;g3d953551887_2_216"/>
          <p:cNvSpPr txBox="1"/>
          <p:nvPr/>
        </p:nvSpPr>
        <p:spPr>
          <a:xfrm>
            <a:off x="347525" y="1997550"/>
            <a:ext cx="114288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Peso Crítico da Decisão de Arquitetura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Outras Inovações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escolha da tecnologia (ex.: qual linguagem ou banco de dados usar) é importante, mas frequentemente adaptável ou modular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fundação técnica define os limites de custo, latência e capacidade do projeto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gestor precisa alinhar os objetivos de negócio com decisões arquitetônicas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Ex.: avaliar se o problema exige a 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capacidade de geração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de um modelo 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decoder-only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ou a compreensão profunda de um 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encoder-only</a:t>
            </a:r>
            <a:endParaRPr i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Ex.: investigar tecnicamente as camadas, 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embeddings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 mecanismos de atenção de modelos eficientes e menores para rodar a solução de forma mais controlada e econômica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953551887_2_22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de IA Generativa </a:t>
            </a:r>
            <a:endParaRPr i="1"/>
          </a:p>
        </p:txBody>
      </p:sp>
      <p:sp>
        <p:nvSpPr>
          <p:cNvPr id="278" name="Google Shape;278;g3d953551887_2_2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79" name="Google Shape;279;g3d953551887_2_226"/>
          <p:cNvSpPr txBox="1"/>
          <p:nvPr/>
        </p:nvSpPr>
        <p:spPr>
          <a:xfrm>
            <a:off x="347525" y="1997550"/>
            <a:ext cx="11428800" cy="3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Centralidade dos Dados sobre o Código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Outras Inovações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tempo da equipe é majoritariamente gasto escrevendo, testando e refatorando o código-fonte que dita o comportamento do produto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código muitas vezes atua apenas como um "invólucro" ou maestro (via bibliotecas e APIs)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cronograma do projeto é consumido pela engenharia de dados: coleta, limpeza, anonimização, criação de estratégias de 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Chunking 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(divisão de textos) e vetorização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gestor de projetos de IA passa a gerenciar o ciclo de vida da informação e o contexto injetado no modelo, muito mais do que linhas de código tradicionais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953551887_2_23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de IA Generativa </a:t>
            </a:r>
            <a:endParaRPr i="1"/>
          </a:p>
        </p:txBody>
      </p:sp>
      <p:sp>
        <p:nvSpPr>
          <p:cNvPr id="286" name="Google Shape;286;g3d953551887_2_23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7" name="Google Shape;287;g3d953551887_2_235"/>
          <p:cNvSpPr txBox="1"/>
          <p:nvPr/>
        </p:nvSpPr>
        <p:spPr>
          <a:xfrm>
            <a:off x="347525" y="1997550"/>
            <a:ext cx="11428800" cy="47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Gestão da Apreensão e Ética (Fatores Humanos)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Outras Inovações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resistência dos stakeholders ou usuários costuma estar ligada a mudanças de interface ou fluxos de trabalho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IA Generativa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ritmo da evolução da IA gera uma apreensã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tanto nas equipes que a desenvolvem quanto em quem vai usá-la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Existe o medo do impacto, da segurança das informações e da falta de controle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Exige uma postura empática e a criação de 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guardrails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(limites de segurança) estritos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gestor precisa atuar ativamente para desmistificar a tecnologia, construindo a solução de forma transparente para provar que a IA é uma ferramenta que potencializa — e é controlada por — humanos, garantindo alinhamento e mitigando preconceitos do modelo</a:t>
            </a:r>
            <a:endParaRPr b="0" i="0" sz="20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953551887_2_24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Gestão de Projetos de IA Generativa </a:t>
            </a:r>
            <a:endParaRPr i="1"/>
          </a:p>
        </p:txBody>
      </p:sp>
      <p:sp>
        <p:nvSpPr>
          <p:cNvPr id="294" name="Google Shape;294;g3d953551887_2_2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5" name="Google Shape;295;g3d953551887_2_2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3063" y="1726721"/>
            <a:ext cx="9265869" cy="5053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2023-07-05T20:15:16Z</dcterms:created>
  <dc:creator>Patrick Bonnereau</dc:creator>
</cp:coreProperties>
</file>