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6858000" cx="12192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Merriweather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ghW+CIqFP8JKqMUZPPJsv99yGb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font" Target="fonts/Roboto-regular.fntdata"/><Relationship Id="rId41" Type="http://schemas.openxmlformats.org/officeDocument/2006/relationships/slide" Target="slides/slide37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Merriweather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erriweather-italic.fntdata"/><Relationship Id="rId47" Type="http://schemas.openxmlformats.org/officeDocument/2006/relationships/font" Target="fonts/Merriweather-bold.fntdata"/><Relationship Id="rId49" Type="http://schemas.openxmlformats.org/officeDocument/2006/relationships/font" Target="fonts/Merriweath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6ea0f026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96ea0f026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96ea0f026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3eb54f4a2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3eb54f4a2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d3eb54f4a2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6ea0f026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96ea0f026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96ea0f026d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6ea0f026d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96ea0f026d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96ea0f026d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488b719b4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d488b719b4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d488b719b4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6ea0f026d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96ea0f026d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96ea0f026d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6ea0f026d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96ea0f026d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96ea0f026d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6ea0f026d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96ea0f026d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96ea0f026d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6ea0f026d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96ea0f026d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96ea0f026d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6ea0f026d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96ea0f026d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96ea0f026d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6ea0f026d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96ea0f026d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96ea0f026d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6ea0f026d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96ea0f026d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96ea0f026d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6ea0f026d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96ea0f026d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96ea0f026d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ea0f026d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96ea0f026d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96ea0f026d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6ea0f026d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96ea0f026d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96ea0f026d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6ea0f026d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96ea0f026d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96ea0f026d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6ea0f026d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96ea0f026d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96ea0f026d_0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6ea0f026d_0_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96ea0f026d_0_1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96ea0f026d_0_1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6ea0f026d_0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96ea0f026d_0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96ea0f026d_0_1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6f62a468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96f62a468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96f62a468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6f62a468c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96f62a468c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96f62a468c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6f62a468c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96f62a468c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96f62a468c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6f62a468c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96f62a468c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96f62a468c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6f62a468c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96f62a468c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396f62a468c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6f62a468c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96f62a468c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g396f62a468c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6fb54895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96fb54895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96fb54895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6fb548953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96fb548953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396fb548953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6fb548953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96fb548953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96fb548953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6fb548953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96fb548953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396fb548953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6fb548953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96fb548953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96fb548953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6fb548953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96fb548953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g396fb548953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6fb548953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96fb548953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g396fb548953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6fb548953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96fb548953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g396fb548953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6fb548953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96fb548953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g396fb548953_0_2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6fb548953_0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96fb548953_0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g396fb548953_0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6fb548953_0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96fb548953_0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96fb548953_0_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Relationship Id="rId4" Type="http://schemas.openxmlformats.org/officeDocument/2006/relationships/hyperlink" Target="https://arxiv.org/pdf/1706.03762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sng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Prof. Dr. Rodrigo Bonacin</a:t>
            </a:r>
            <a:endParaRPr b="1" i="0" sz="2400" u="sng" cap="none" strike="noStrike">
              <a:solidFill>
                <a:srgbClr val="3139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rbonacin@unicamp.br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Arquiteturas e funcionamento interno dos LLMs</a:t>
            </a:r>
            <a:endParaRPr i="1" sz="4000"/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ea0f026d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Arquiteturas de LLMs</a:t>
            </a:r>
            <a:endParaRPr/>
          </a:p>
        </p:txBody>
      </p:sp>
      <p:sp>
        <p:nvSpPr>
          <p:cNvPr id="84" name="Google Shape;84;g396ea0f026d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" name="Google Shape;85;g396ea0f026d_0_0"/>
          <p:cNvSpPr txBox="1"/>
          <p:nvPr/>
        </p:nvSpPr>
        <p:spPr>
          <a:xfrm>
            <a:off x="347525" y="1997550"/>
            <a:ext cx="114288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foco deste vídeo é mostrar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a arquitetura de transformers é usada internamente em uma LLM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escolher um único token a partir de uma distribuição de probabilidade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Processamento de tokens em paralelo e tamanho de contexto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Melhorias no mecanismo de atenção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3eb54f4a2_0_1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</a:t>
            </a:r>
            <a:r>
              <a:rPr lang="pt-BR"/>
              <a:t>lto Nível de Abstração</a:t>
            </a:r>
            <a:endParaRPr/>
          </a:p>
        </p:txBody>
      </p:sp>
      <p:sp>
        <p:nvSpPr>
          <p:cNvPr id="92" name="Google Shape;92;g3d3eb54f4a2_0_1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g3d3eb54f4a2_0_145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LLMs Transformer recebem um texto como entrada e geram um texto como saída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g3d3eb54f4a2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d3eb54f4a2_0_145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g3d3eb54f4a2_0_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2099" y="2585375"/>
            <a:ext cx="6075050" cy="4161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6ea0f026d_0_1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Alto Nível de Abstração</a:t>
            </a:r>
            <a:endParaRPr/>
          </a:p>
        </p:txBody>
      </p:sp>
      <p:sp>
        <p:nvSpPr>
          <p:cNvPr id="103" name="Google Shape;103;g396ea0f026d_0_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4" name="Google Shape;104;g396ea0f026d_0_10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Transformers geram um token por vez, não o texto inteiro de uma só vez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g396ea0f026d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96ea0f026d_0_10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g396ea0f026d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2625" y="2667375"/>
            <a:ext cx="4214675" cy="396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ea0f026d_0_2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Alto Nível de Abstração</a:t>
            </a:r>
            <a:endParaRPr/>
          </a:p>
        </p:txBody>
      </p:sp>
      <p:sp>
        <p:nvSpPr>
          <p:cNvPr id="114" name="Google Shape;114;g396ea0f026d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g396ea0f026d_0_23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 token de saída é anexado ao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prompt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e, em seguida, esse novo texto é apresentado novamente ao modelo para outra passagem direta, a fim de gerar o próximo token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g396ea0f026d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96ea0f026d_0_23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g396ea0f026d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848" y="3735625"/>
            <a:ext cx="7978175" cy="26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96ea0f026d_0_23"/>
          <p:cNvSpPr/>
          <p:nvPr/>
        </p:nvSpPr>
        <p:spPr>
          <a:xfrm>
            <a:off x="9659200" y="3336738"/>
            <a:ext cx="2369100" cy="2583300"/>
          </a:xfrm>
          <a:prstGeom prst="wedgeRectCallout">
            <a:avLst>
              <a:gd fmla="val -76316" name="adj1"/>
              <a:gd fmla="val 24795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55">
                <a:solidFill>
                  <a:srgbClr val="FFFFFF"/>
                </a:solidFill>
              </a:rPr>
              <a:t>O software que envolve a rede neural basicamente a executa em um loop para expandir sequencialmente o texto gerado até sua conclusão.</a:t>
            </a:r>
            <a:endParaRPr b="1" sz="1655">
              <a:solidFill>
                <a:srgbClr val="FFFFFF"/>
              </a:solidFill>
            </a:endParaRPr>
          </a:p>
        </p:txBody>
      </p:sp>
      <p:sp>
        <p:nvSpPr>
          <p:cNvPr id="120" name="Google Shape;120;g396ea0f026d_0_23"/>
          <p:cNvSpPr txBox="1"/>
          <p:nvPr/>
        </p:nvSpPr>
        <p:spPr>
          <a:xfrm>
            <a:off x="1670275" y="6226025"/>
            <a:ext cx="82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. .</a:t>
            </a:r>
            <a:endParaRPr b="1"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488b719b4_0_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Autoregressivos</a:t>
            </a:r>
            <a:endParaRPr/>
          </a:p>
        </p:txBody>
      </p:sp>
      <p:sp>
        <p:nvSpPr>
          <p:cNvPr id="127" name="Google Shape;127;g3d488b719b4_0_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g3d488b719b4_0_3"/>
          <p:cNvSpPr txBox="1"/>
          <p:nvPr/>
        </p:nvSpPr>
        <p:spPr>
          <a:xfrm>
            <a:off x="347525" y="1997550"/>
            <a:ext cx="11428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Modelos autorregressivos são a base da maioria dos geradores de texto modernos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lógica central é a previsão sequencial: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modelo gera um token (palavra ou caractere) por vez e utiliza esse novo token como parte da entrada para prever o próximo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mais comum são os modelos autorregressivos baseados em Transformers (apenas Decoder)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6ea0f026d_0_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Autoregressivos</a:t>
            </a:r>
            <a:endParaRPr/>
          </a:p>
        </p:txBody>
      </p:sp>
      <p:sp>
        <p:nvSpPr>
          <p:cNvPr id="135" name="Google Shape;135;g396ea0f026d_0_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6" name="Google Shape;136;g396ea0f026d_0_40"/>
          <p:cNvSpPr txBox="1"/>
          <p:nvPr/>
        </p:nvSpPr>
        <p:spPr>
          <a:xfrm>
            <a:off x="347525" y="1997550"/>
            <a:ext cx="114288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Modelos autorregressivos clássicos (Pré-Transformers)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RNNs (Redes Neurais Recorrentes)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Processavam o texto da esquerda para a direita, mas sofriam para "lembrar" o início de frases muito longas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LSTM (Long Short-Term Memory)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Uma evolução das RNNs que conseguia manter informações por mais tempo, muito usada em tradução automática antes dos Transformers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6ea0f026d_0_4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Autoregressivos</a:t>
            </a:r>
            <a:endParaRPr/>
          </a:p>
        </p:txBody>
      </p:sp>
      <p:sp>
        <p:nvSpPr>
          <p:cNvPr id="143" name="Google Shape;143;g396ea0f026d_0_4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4" name="Google Shape;144;g396ea0f026d_0_49"/>
          <p:cNvSpPr txBox="1"/>
          <p:nvPr/>
        </p:nvSpPr>
        <p:spPr>
          <a:xfrm>
            <a:off x="347525" y="1997550"/>
            <a:ext cx="11428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Família GPT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Generative Pre-trained Transformer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GPT-1: Prova de Conceito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GPT-2: Marcou o início da era dos modelos de larga escala que conseguem escrever parágrafos coerentes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GPT-3: Introduziu a capacidade de few-shot learning, onde o modelo aprende a tarefa apenas lendo alguns exemplos no prompt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GPT-4: A iteração multimodal, visa aprimorar o raciocínio lógico, reduzir alucinações e melhorar desempenho em tarefas complexas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6ea0f026d_0_5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Autoregressivos</a:t>
            </a:r>
            <a:endParaRPr/>
          </a:p>
        </p:txBody>
      </p:sp>
      <p:sp>
        <p:nvSpPr>
          <p:cNvPr id="151" name="Google Shape;151;g396ea0f026d_0_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2" name="Google Shape;152;g396ea0f026d_0_57"/>
          <p:cNvSpPr txBox="1"/>
          <p:nvPr/>
        </p:nvSpPr>
        <p:spPr>
          <a:xfrm>
            <a:off x="347525" y="1997550"/>
            <a:ext cx="11428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Esses modelos permitem que desenvolvedores rodem e modifiquem as redes em seus próprios servidores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Llama (Meta): Uma das séries mais influentes. O Llama 2 e o Llama 3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demonstraram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que modelos menores e bem treinados podem superar modelos proprietários gigantescos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Mistral &amp; Mixtral: Criados pela Mistral AI, utilizam técnicas como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Sparse Mixture of Experts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(MoE) para serem eficientes e rápidos, mantendo a natureza autorregressiva.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ea0f026d_0_6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Autoregressivos</a:t>
            </a:r>
            <a:endParaRPr/>
          </a:p>
        </p:txBody>
      </p:sp>
      <p:sp>
        <p:nvSpPr>
          <p:cNvPr id="159" name="Google Shape;159;g396ea0f026d_0_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0" name="Google Shape;160;g396ea0f026d_0_67"/>
          <p:cNvSpPr txBox="1"/>
          <p:nvPr/>
        </p:nvSpPr>
        <p:spPr>
          <a:xfrm>
            <a:off x="347525" y="1997550"/>
            <a:ext cx="11428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Famínia Google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PaLM 2 (Pathways Language Model): Focado na eficiência e nas capacidades multilíngues.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Gemini: A família atual, projetada para ser nativamente multimodal, mas que mantém a geração de texto baseada no contexto anterior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6ea0f026d_0_7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</a:t>
            </a:r>
            <a:r>
              <a:rPr b="1" lang="pt-BR" u="sng"/>
              <a:t>Não</a:t>
            </a:r>
            <a:r>
              <a:rPr b="1" lang="pt-BR"/>
              <a:t> </a:t>
            </a:r>
            <a:r>
              <a:rPr lang="pt-BR"/>
              <a:t>Autoregressivos</a:t>
            </a:r>
            <a:endParaRPr/>
          </a:p>
        </p:txBody>
      </p:sp>
      <p:sp>
        <p:nvSpPr>
          <p:cNvPr id="167" name="Google Shape;167;g396ea0f026d_0_7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8" name="Google Shape;168;g396ea0f026d_0_75"/>
          <p:cNvSpPr txBox="1"/>
          <p:nvPr/>
        </p:nvSpPr>
        <p:spPr>
          <a:xfrm>
            <a:off x="347525" y="1997550"/>
            <a:ext cx="114288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Focam bidirecionalidade e/ou geração paralela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Modelos de Máscara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Masked Language Models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 MLM)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BERT (Google): Durante o treino, certas palavras são escondidas (mascaradas), e o modelo deve adivinhar quais são, com base em todo o resto da frase. É excelente para entender o sentido, mas não para escrever textos longos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RoBERTa (Meta): Uma versão otimizada do BERT que removeu algumas tarefas de treino e aumentou o volume de dados, sendo um padrão para tarefas de classificação e análise de sentimento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Modelos Não Autorregressivos Paralelos (NAT)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Non-Autoregressive Transformer (NAT): Introduzido inicialmente para tradução automática. Ele prevê a duração da frase e gera todos os tokens simultaneamente.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Levenshtein Transformer: Um modelo híbrido que pode inserir, deletar ou substituir tokens de forma refinada e em paralelo, muito mais rápido do que modelos sequenciais tradicionais.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6ea0f026d_0_8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Autoregressivos </a:t>
            </a:r>
            <a:r>
              <a:rPr i="1" lang="pt-BR"/>
              <a:t>vs</a:t>
            </a:r>
            <a:r>
              <a:rPr lang="pt-BR"/>
              <a:t> </a:t>
            </a:r>
            <a:r>
              <a:rPr b="1" lang="pt-BR" u="sng"/>
              <a:t>Não</a:t>
            </a:r>
            <a:r>
              <a:rPr b="1" lang="pt-BR"/>
              <a:t> </a:t>
            </a:r>
            <a:r>
              <a:rPr lang="pt-BR"/>
              <a:t>Autoregressivos</a:t>
            </a:r>
            <a:endParaRPr/>
          </a:p>
        </p:txBody>
      </p:sp>
      <p:sp>
        <p:nvSpPr>
          <p:cNvPr id="175" name="Google Shape;175;g396ea0f026d_0_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6" name="Google Shape;176;g396ea0f026d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25" y="2188350"/>
            <a:ext cx="9508025" cy="402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96ea0f026d_0_86"/>
          <p:cNvSpPr txBox="1"/>
          <p:nvPr/>
        </p:nvSpPr>
        <p:spPr>
          <a:xfrm>
            <a:off x="4193100" y="6295925"/>
            <a:ext cx="229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Segundo Gemini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6ea0f026d_0_9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Autoregressivos - Exemplo</a:t>
            </a:r>
            <a:endParaRPr/>
          </a:p>
        </p:txBody>
      </p:sp>
      <p:sp>
        <p:nvSpPr>
          <p:cNvPr id="184" name="Google Shape;184;g396ea0f026d_0_9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5" name="Google Shape;185;g396ea0f026d_0_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700" y="1695400"/>
            <a:ext cx="7467600" cy="46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96ea0f026d_0_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0438" y="6447050"/>
            <a:ext cx="51911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96ea0f026d_0_95"/>
          <p:cNvSpPr/>
          <p:nvPr/>
        </p:nvSpPr>
        <p:spPr>
          <a:xfrm>
            <a:off x="2308225" y="4428000"/>
            <a:ext cx="275400" cy="24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6ea0f026d_0_10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Autoregressivos - Exemplo</a:t>
            </a:r>
            <a:endParaRPr/>
          </a:p>
        </p:txBody>
      </p:sp>
      <p:sp>
        <p:nvSpPr>
          <p:cNvPr id="194" name="Google Shape;194;g396ea0f026d_0_1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5" name="Google Shape;195;g396ea0f026d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876" y="1819275"/>
            <a:ext cx="8376250" cy="36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96ea0f026d_0_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7875" y="5885300"/>
            <a:ext cx="3489413" cy="33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96ea0f026d_0_104"/>
          <p:cNvSpPr/>
          <p:nvPr/>
        </p:nvSpPr>
        <p:spPr>
          <a:xfrm>
            <a:off x="1632475" y="3413075"/>
            <a:ext cx="275400" cy="24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6ea0f026d_0_11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Componentes Adicionais </a:t>
            </a:r>
            <a:endParaRPr/>
          </a:p>
        </p:txBody>
      </p:sp>
      <p:sp>
        <p:nvSpPr>
          <p:cNvPr id="204" name="Google Shape;204;g396ea0f026d_0_1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5" name="Google Shape;205;g396ea0f026d_0_116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Além do loop, dois componentes internos principais são o tokenizador e o cabeçalho de modelagem de linguagem (LM head)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g396ea0f026d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800" y="3116800"/>
            <a:ext cx="7723425" cy="288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96ea0f026d_0_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96ea0f026d_0_116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6ea0f026d_0_12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Componentes Adicionais </a:t>
            </a:r>
            <a:endParaRPr/>
          </a:p>
        </p:txBody>
      </p:sp>
      <p:sp>
        <p:nvSpPr>
          <p:cNvPr id="215" name="Google Shape;215;g396ea0f026d_0_12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6" name="Google Shape;216;g396ea0f026d_0_127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 de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tokenização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 um vocabulário de 50.000 tokens. Possui representações vetoriais de tokens associadas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7" name="Google Shape;217;g396ea0f026d_0_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96ea0f026d_0_127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g396ea0f026d_0_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2588" y="2920950"/>
            <a:ext cx="6418676" cy="3829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6ea0f026d_0_13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Componentes Adicionais - LM Head </a:t>
            </a:r>
            <a:endParaRPr/>
          </a:p>
        </p:txBody>
      </p:sp>
      <p:sp>
        <p:nvSpPr>
          <p:cNvPr id="226" name="Google Shape;226;g396ea0f026d_0_1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7" name="Google Shape;227;g396ea0f026d_0_139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Ao final, o modelo prevê uma pontuação de probabilidade para cada token no vocabulário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g396ea0f026d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96ea0f026d_0_139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g396ea0f026d_0_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0313" y="2942450"/>
            <a:ext cx="8351375" cy="379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6ea0f026d_0_17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Componentes Adicionais - LM Head</a:t>
            </a:r>
            <a:endParaRPr/>
          </a:p>
        </p:txBody>
      </p:sp>
      <p:sp>
        <p:nvSpPr>
          <p:cNvPr id="237" name="Google Shape;237;g396ea0f026d_0_1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8" name="Google Shape;238;g396ea0f026d_0_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863" y="1572950"/>
            <a:ext cx="9724273" cy="51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96ea0f026d_0_172"/>
          <p:cNvSpPr txBox="1"/>
          <p:nvPr/>
        </p:nvSpPr>
        <p:spPr>
          <a:xfrm>
            <a:off x="8963225" y="6295925"/>
            <a:ext cx="214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Gerado pelo Gemini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6ea0f026d_0_15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Imprimindo a Arquitetura de um Modelo</a:t>
            </a:r>
            <a:endParaRPr/>
          </a:p>
        </p:txBody>
      </p:sp>
      <p:sp>
        <p:nvSpPr>
          <p:cNvPr id="246" name="Google Shape;246;g396ea0f026d_0_15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7" name="Google Shape;247;g396ea0f026d_0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500" y="1368700"/>
            <a:ext cx="7300576" cy="54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6ea0f026d_0_18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Imprimindo a Arquitetura de um Modelo</a:t>
            </a:r>
            <a:endParaRPr/>
          </a:p>
        </p:txBody>
      </p:sp>
      <p:sp>
        <p:nvSpPr>
          <p:cNvPr id="254" name="Google Shape;254;g396ea0f026d_0_18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5" name="Google Shape;255;g396ea0f026d_0_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300" y="1688625"/>
            <a:ext cx="9477965" cy="51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96ea0f026d_0_184"/>
          <p:cNvSpPr txBox="1"/>
          <p:nvPr/>
        </p:nvSpPr>
        <p:spPr>
          <a:xfrm>
            <a:off x="-84100" y="6256775"/>
            <a:ext cx="2145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Gerado pelo Gemini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6f62a468c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Estratégias de Escolha </a:t>
            </a:r>
            <a:endParaRPr/>
          </a:p>
        </p:txBody>
      </p:sp>
      <p:sp>
        <p:nvSpPr>
          <p:cNvPr id="263" name="Google Shape;263;g396f62a468c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4" name="Google Shape;264;g396f62a468c_0_0"/>
          <p:cNvSpPr txBox="1"/>
          <p:nvPr/>
        </p:nvSpPr>
        <p:spPr>
          <a:xfrm>
            <a:off x="347525" y="1997550"/>
            <a:ext cx="11428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Você pode pegar sempre o token com maior probabilidade no LM-Head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Nem sempre esta é a melhor opção na prática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melhor abordagem normalmente é incluir um grau de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aleatoriedade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de modo que às vezes possa escolher, por exemplo o segundo ou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terceiro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token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 sorteio com base nas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probabilidades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pode ser utilizado, por exemplo: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“Dear” é um token com 40% de probabilidade então é feito um sorteio com 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chance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40% de escolher esse token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outros tokens participam do sorteio com as respectivas probabilidades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6f62a468c_0_1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Estratégias de Escolha </a:t>
            </a:r>
            <a:endParaRPr/>
          </a:p>
        </p:txBody>
      </p:sp>
      <p:sp>
        <p:nvSpPr>
          <p:cNvPr id="271" name="Google Shape;271;g396f62a468c_0_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2" name="Google Shape;272;g396f62a468c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050" y="1666101"/>
            <a:ext cx="6350825" cy="28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396f62a468c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96f62a468c_0_12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5" name="Google Shape;275;g396f62a468c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049" y="4531419"/>
            <a:ext cx="4483800" cy="52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96f62a468c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055" y="5613123"/>
            <a:ext cx="1232175" cy="45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96f62a468c_0_12"/>
          <p:cNvSpPr/>
          <p:nvPr/>
        </p:nvSpPr>
        <p:spPr>
          <a:xfrm>
            <a:off x="6222925" y="4061675"/>
            <a:ext cx="2928600" cy="1091400"/>
          </a:xfrm>
          <a:prstGeom prst="wedgeRectCallout">
            <a:avLst>
              <a:gd fmla="val -89606" name="adj1"/>
              <a:gd fmla="val 16774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55">
                <a:solidFill>
                  <a:srgbClr val="FFFFFF"/>
                </a:solidFill>
              </a:rPr>
              <a:t>Pega token com maior probabilidade (estratégia Gulosa) </a:t>
            </a:r>
            <a:endParaRPr b="1" sz="165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6f62a468c_0_2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Paralelismo de Token e Contexto</a:t>
            </a:r>
            <a:endParaRPr/>
          </a:p>
        </p:txBody>
      </p:sp>
      <p:sp>
        <p:nvSpPr>
          <p:cNvPr id="284" name="Google Shape;284;g396f62a468c_0_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5" name="Google Shape;285;g396f62a468c_0_25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Arquiteturas baseadas em Transformers tendem a ser mais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paralelizável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 que as arquiteturas anteriores de redes neurais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6" name="Google Shape;286;g396f62a468c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2591" y="2920950"/>
            <a:ext cx="4061169" cy="387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g396f62a468c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96f62a468c_0_25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g396f62a468c_0_25"/>
          <p:cNvSpPr/>
          <p:nvPr/>
        </p:nvSpPr>
        <p:spPr>
          <a:xfrm>
            <a:off x="7426323" y="4061675"/>
            <a:ext cx="3320400" cy="1584300"/>
          </a:xfrm>
          <a:prstGeom prst="wedgeRectCallout">
            <a:avLst>
              <a:gd fmla="val -89606" name="adj1"/>
              <a:gd fmla="val 16774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55">
                <a:solidFill>
                  <a:srgbClr val="FFFFFF"/>
                </a:solidFill>
              </a:rPr>
              <a:t>De modo simplificado: cada token pode ser processado em paralelo, com interação entre o processamento  </a:t>
            </a:r>
            <a:endParaRPr b="1" sz="165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6f62a468c_0_4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Paralelismo de Token e Contexto</a:t>
            </a:r>
            <a:endParaRPr/>
          </a:p>
        </p:txBody>
      </p:sp>
      <p:sp>
        <p:nvSpPr>
          <p:cNvPr id="296" name="Google Shape;296;g396f62a468c_0_4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g396f62a468c_0_42"/>
          <p:cNvSpPr txBox="1"/>
          <p:nvPr/>
        </p:nvSpPr>
        <p:spPr>
          <a:xfrm>
            <a:off x="347525" y="1997550"/>
            <a:ext cx="114288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modelos de Transformers têm um limite para a quantidade de tokens que podem processar simultaneamente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Esse limite é chamado de comprimento de contexto do modelo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 modelo com comprimento de contexto de 4K só pode processar 4K tokens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Teria apenas 4K desses fluxos paralelos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Cada fluxo de tokens começa com um vetor de entrada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Ao final do fluxo, outro vetor emerge como resultado do processamento do modelo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8" name="Google Shape;298;g396f62a468c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96f62a468c_0_42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6f62a468c_0_5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Paralelismo de Token e Contexto</a:t>
            </a:r>
            <a:endParaRPr/>
          </a:p>
        </p:txBody>
      </p:sp>
      <p:sp>
        <p:nvSpPr>
          <p:cNvPr id="306" name="Google Shape;306;g396f62a468c_0_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7" name="Google Shape;307;g396f62a468c_0_58"/>
          <p:cNvSpPr txBox="1"/>
          <p:nvPr/>
        </p:nvSpPr>
        <p:spPr>
          <a:xfrm>
            <a:off x="347525" y="1997550"/>
            <a:ext cx="11428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modelos de Transformers têm um limite para a quantidade de tokens que podem processar simultaneamente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a geração de texto, apenas o resultado da última sequência é usado para prever o próximo token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Cálculos dos fluxos anteriores são necessários e usados ​​no cálculo do fluxo final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 saídas anteriores (em cada bloco Transformer) no mecanismo de atenção do bloco Transformer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8" name="Google Shape;308;g396f62a468c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96f62a468c_0_58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96f62a468c_0_6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Paralelismo de Token e Contexto</a:t>
            </a:r>
            <a:endParaRPr/>
          </a:p>
        </p:txBody>
      </p:sp>
      <p:sp>
        <p:nvSpPr>
          <p:cNvPr id="316" name="Google Shape;316;g396f62a468c_0_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7" name="Google Shape;317;g396f62a468c_0_67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Cada fluxo de processamento recebe um vetor como entrada e produz um vetor final resultante do mesmo tamanho (dimensão do modelo)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g396f62a468c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96f62a468c_0_67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0" name="Google Shape;320;g396f62a468c_0_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3674" y="2923700"/>
            <a:ext cx="4440282" cy="381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6fb548953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Paralelismo de Token e Contexto</a:t>
            </a:r>
            <a:endParaRPr/>
          </a:p>
        </p:txBody>
      </p:sp>
      <p:sp>
        <p:nvSpPr>
          <p:cNvPr id="327" name="Google Shape;327;g396fb548953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8" name="Google Shape;328;g396fb548953_0_0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Utilizando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cache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dos valores previamente calculados (pode ser desativado)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g396fb54895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96fb548953_0_0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1" name="Google Shape;331;g396fb54895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6650" y="2495650"/>
            <a:ext cx="5147483" cy="424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6fb548953_0_1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Por dentro do Bloco de Transformers</a:t>
            </a:r>
            <a:endParaRPr/>
          </a:p>
        </p:txBody>
      </p:sp>
      <p:sp>
        <p:nvSpPr>
          <p:cNvPr id="338" name="Google Shape;338;g396fb548953_0_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9" name="Google Shape;339;g396fb548953_0_11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maior parte do processamento ocorre dentro de uma série de blocos Transformer, cada um fornecendo o resultado para o bloco subsequente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g396fb548953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96fb548953_0_11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2" name="Google Shape;342;g396fb548953_0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5100" y="2871575"/>
            <a:ext cx="4937150" cy="392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6fb548953_0_2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Por dentro do Bloco de Transformers</a:t>
            </a:r>
            <a:endParaRPr/>
          </a:p>
        </p:txBody>
      </p:sp>
      <p:sp>
        <p:nvSpPr>
          <p:cNvPr id="349" name="Google Shape;349;g396fb548953_0_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0" name="Google Shape;350;g396fb548953_0_23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atenção combina as informações relevantes das posições anteriores, multiplicando suas pontuações de relevância por seus respectivos vetores de valor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1" name="Google Shape;351;g396fb548953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96fb548953_0_23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3" name="Google Shape;353;g396fb548953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425" y="3001175"/>
            <a:ext cx="5080826" cy="364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6fb548953_0_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Transformer  </a:t>
            </a:r>
            <a:endParaRPr/>
          </a:p>
        </p:txBody>
      </p:sp>
      <p:sp>
        <p:nvSpPr>
          <p:cNvPr id="360" name="Google Shape;360;g396fb548953_0_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1" name="Google Shape;361;g396fb548953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0275" y="0"/>
            <a:ext cx="485143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96fb548953_0_46"/>
          <p:cNvSpPr txBox="1"/>
          <p:nvPr/>
        </p:nvSpPr>
        <p:spPr>
          <a:xfrm>
            <a:off x="1113075" y="6331168"/>
            <a:ext cx="26481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750" lIns="85550" spcFirstLastPara="1" rIns="85550" wrap="square" tIns="42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72" u="sng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https://arxiv.org/pdf/1706.03762</a:t>
            </a:r>
            <a:r>
              <a:rPr lang="pt-BR" sz="13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72"/>
          </a:p>
        </p:txBody>
      </p:sp>
      <p:sp>
        <p:nvSpPr>
          <p:cNvPr id="363" name="Google Shape;363;g396fb548953_0_46"/>
          <p:cNvSpPr/>
          <p:nvPr/>
        </p:nvSpPr>
        <p:spPr>
          <a:xfrm>
            <a:off x="4080200" y="2008300"/>
            <a:ext cx="2345700" cy="3014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96fb548953_0_46"/>
          <p:cNvSpPr/>
          <p:nvPr/>
        </p:nvSpPr>
        <p:spPr>
          <a:xfrm>
            <a:off x="6516000" y="1499500"/>
            <a:ext cx="2345700" cy="359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96fb548953_0_46"/>
          <p:cNvSpPr/>
          <p:nvPr/>
        </p:nvSpPr>
        <p:spPr>
          <a:xfrm>
            <a:off x="83650" y="2008300"/>
            <a:ext cx="2920500" cy="2521200"/>
          </a:xfrm>
          <a:prstGeom prst="wedgeRectCallout">
            <a:avLst>
              <a:gd fmla="val 89718" name="adj1"/>
              <a:gd fmla="val 25846" name="adj2"/>
            </a:avLst>
          </a:prstGeom>
          <a:solidFill>
            <a:srgbClr val="4285F4"/>
          </a:solidFill>
          <a:ln cap="flat" cmpd="sng" w="22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900" lIns="81800" spcFirstLastPara="1" rIns="81800" wrap="square" tIns="40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70">
                <a:solidFill>
                  <a:srgbClr val="FFFFFF"/>
                </a:solidFill>
              </a:rPr>
              <a:t>ENCODER</a:t>
            </a:r>
            <a:endParaRPr b="1" sz="1670">
              <a:solidFill>
                <a:srgbClr val="FFFF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0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70">
                <a:solidFill>
                  <a:srgbClr val="FFFFFF"/>
                </a:solidFill>
              </a:rPr>
              <a:t>Processa e entende a sequência de dados de entrada, extraindo o significado e o contexto de cada elemento (</a:t>
            </a:r>
            <a:r>
              <a:rPr i="1" lang="pt-BR" sz="1570">
                <a:solidFill>
                  <a:srgbClr val="FFFFFF"/>
                </a:solidFill>
              </a:rPr>
              <a:t>token</a:t>
            </a:r>
            <a:r>
              <a:rPr lang="pt-BR" sz="1570">
                <a:solidFill>
                  <a:srgbClr val="FFFFFF"/>
                </a:solidFill>
              </a:rPr>
              <a:t>)</a:t>
            </a:r>
            <a:endParaRPr sz="1570">
              <a:solidFill>
                <a:srgbClr val="FFFFFF"/>
              </a:solidFill>
            </a:endParaRPr>
          </a:p>
        </p:txBody>
      </p:sp>
      <p:sp>
        <p:nvSpPr>
          <p:cNvPr id="366" name="Google Shape;366;g396fb548953_0_46"/>
          <p:cNvSpPr/>
          <p:nvPr/>
        </p:nvSpPr>
        <p:spPr>
          <a:xfrm>
            <a:off x="8949900" y="2008300"/>
            <a:ext cx="2920500" cy="2521200"/>
          </a:xfrm>
          <a:prstGeom prst="wedgeRectCallout">
            <a:avLst>
              <a:gd fmla="val -70890" name="adj1"/>
              <a:gd fmla="val 25271" name="adj2"/>
            </a:avLst>
          </a:prstGeom>
          <a:solidFill>
            <a:srgbClr val="4285F4"/>
          </a:solidFill>
          <a:ln cap="flat" cmpd="sng" w="22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900" lIns="81800" spcFirstLastPara="1" rIns="81800" wrap="square" tIns="40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70">
                <a:solidFill>
                  <a:srgbClr val="FFFFFF"/>
                </a:solidFill>
              </a:rPr>
              <a:t>DECODER</a:t>
            </a:r>
            <a:endParaRPr b="1" sz="1670">
              <a:solidFill>
                <a:srgbClr val="FFFF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70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70">
                <a:solidFill>
                  <a:srgbClr val="FFFFFF"/>
                </a:solidFill>
              </a:rPr>
              <a:t>Gera a sequência de saída, produzindo um novo elemento por vez - como a tradução de uma frase ou a resposta a uma pergunta</a:t>
            </a:r>
            <a:endParaRPr sz="1570">
              <a:solidFill>
                <a:srgbClr val="FFFFFF"/>
              </a:solidFill>
            </a:endParaRPr>
          </a:p>
        </p:txBody>
      </p:sp>
      <p:sp>
        <p:nvSpPr>
          <p:cNvPr id="367" name="Google Shape;367;g396fb548953_0_46"/>
          <p:cNvSpPr txBox="1"/>
          <p:nvPr/>
        </p:nvSpPr>
        <p:spPr>
          <a:xfrm>
            <a:off x="1345675" y="5412625"/>
            <a:ext cx="1884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Attention Is All You Need</a:t>
            </a:r>
            <a:endParaRPr b="1" sz="17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96fb548953_0_11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Arquiteturas </a:t>
            </a:r>
            <a:r>
              <a:rPr i="1" lang="pt-BR"/>
              <a:t>Decoder-Only</a:t>
            </a:r>
            <a:endParaRPr i="1"/>
          </a:p>
        </p:txBody>
      </p:sp>
      <p:sp>
        <p:nvSpPr>
          <p:cNvPr id="374" name="Google Shape;374;g396fb548953_0_1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5" name="Google Shape;375;g396fb548953_0_119"/>
          <p:cNvSpPr txBox="1"/>
          <p:nvPr/>
        </p:nvSpPr>
        <p:spPr>
          <a:xfrm>
            <a:off x="72050" y="1886400"/>
            <a:ext cx="7847400" cy="4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 é a arquitetura usada pelo ChatGPT, LLaMA, Claude e outros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pesquisadores perceberam que, se o modelo for grande o suficiente, ele não precisa de um Encoder separado para entender o texto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 pode fazer tudo em uma única via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Encoder e o mecanismo de Cross-Attention são removidos. Sobra apenas o Decoder, que é empilhado dezenas de vezes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6" name="Google Shape;376;g396fb548953_0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1900" y="875725"/>
            <a:ext cx="4150100" cy="5866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g396fb548953_0_119"/>
          <p:cNvCxnSpPr/>
          <p:nvPr/>
        </p:nvCxnSpPr>
        <p:spPr>
          <a:xfrm flipH="1" rot="10800000">
            <a:off x="8571775" y="3036025"/>
            <a:ext cx="1435500" cy="19719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g396fb548953_0_119"/>
          <p:cNvCxnSpPr/>
          <p:nvPr/>
        </p:nvCxnSpPr>
        <p:spPr>
          <a:xfrm rot="10800000">
            <a:off x="8615275" y="3007125"/>
            <a:ext cx="1362900" cy="20298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g396fb548953_0_119"/>
          <p:cNvCxnSpPr/>
          <p:nvPr/>
        </p:nvCxnSpPr>
        <p:spPr>
          <a:xfrm flipH="1" rot="10800000">
            <a:off x="10455982" y="3025044"/>
            <a:ext cx="588000" cy="807900"/>
          </a:xfrm>
          <a:prstGeom prst="straightConnector1">
            <a:avLst/>
          </a:prstGeom>
          <a:noFill/>
          <a:ln cap="flat" cmpd="sng" w="468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g396fb548953_0_119"/>
          <p:cNvCxnSpPr/>
          <p:nvPr/>
        </p:nvCxnSpPr>
        <p:spPr>
          <a:xfrm rot="10800000">
            <a:off x="10470828" y="3013200"/>
            <a:ext cx="558300" cy="831600"/>
          </a:xfrm>
          <a:prstGeom prst="straightConnector1">
            <a:avLst/>
          </a:prstGeom>
          <a:noFill/>
          <a:ln cap="flat" cmpd="sng" w="468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g396fb548953_0_119"/>
          <p:cNvSpPr/>
          <p:nvPr/>
        </p:nvSpPr>
        <p:spPr>
          <a:xfrm>
            <a:off x="11921028" y="3413050"/>
            <a:ext cx="227400" cy="5247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6fb548953_0_13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Arquiteturas </a:t>
            </a:r>
            <a:r>
              <a:rPr i="1" lang="pt-BR"/>
              <a:t>Decoder-Only</a:t>
            </a:r>
            <a:endParaRPr/>
          </a:p>
        </p:txBody>
      </p:sp>
      <p:sp>
        <p:nvSpPr>
          <p:cNvPr id="388" name="Google Shape;388;g396fb548953_0_13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9" name="Google Shape;389;g396fb548953_0_132"/>
          <p:cNvSpPr txBox="1"/>
          <p:nvPr/>
        </p:nvSpPr>
        <p:spPr>
          <a:xfrm>
            <a:off x="347525" y="1997550"/>
            <a:ext cx="11428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Fusão de Entrada e Saída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Decoder-Only, não há separação entre "o texto que eu leio" e "o texto que eu escrevo"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Quando você envia um prompt (sua pergunta), o modelo simplesmente trata o seu prompt como o início de uma frase inacabada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 usa a Masked Self-Attention (Auto-Atenção Mascarada) para ler o seu prompt e prever qual é a próxima palavra mais provável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Depois, ele adiciona essa nova palavra à sequência e lê tudo de novo para prever a próxima, e assim por diante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6fb548953_0_13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Arquiteturas </a:t>
            </a:r>
            <a:r>
              <a:rPr i="1" lang="pt-BR"/>
              <a:t>Decoder-Only</a:t>
            </a:r>
            <a:endParaRPr/>
          </a:p>
        </p:txBody>
      </p:sp>
      <p:sp>
        <p:nvSpPr>
          <p:cNvPr id="396" name="Google Shape;396;g396fb548953_0_1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7" name="Google Shape;397;g396fb548953_0_139"/>
          <p:cNvSpPr txBox="1"/>
          <p:nvPr/>
        </p:nvSpPr>
        <p:spPr>
          <a:xfrm>
            <a:off x="347525" y="1997550"/>
            <a:ext cx="1142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É como o recurso de autocompletar do seu celular, mas em uma escala gigantesca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Você escreve "A capital do Brasil é", e ele simplesmente continua a sequência escrevendo "Brasília"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 não precisa de um bloco separado para "entender" a sua frase primeiro; o entendimento acontece organicamente enquanto ele tenta prever a continuação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6fb548953_0_3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Melhorias na Arquitetura de Transformers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04" name="Google Shape;404;g396fb548953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5" name="Google Shape;405;g396fb548953_0_36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atenção localizada melhora o desempenho ao focar apenas em um pequeno número de posições anteriores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6" name="Google Shape;406;g396fb548953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96fb548953_0_36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8" name="Google Shape;408;g396fb548953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4425" y="2920950"/>
            <a:ext cx="57150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396fb548953_0_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8500" y="4906575"/>
            <a:ext cx="571500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96fb548953_0_21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Melhorias na Arquitetura de Transformers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16" name="Google Shape;416;g396fb548953_0_2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7" name="Google Shape;417;g396fb548953_0_216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Atenção a múltiplas consultas e consultas agrupadas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8" name="Google Shape;418;g396fb548953_0_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96fb548953_0_216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0" name="Google Shape;420;g396fb548953_0_2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00" y="2620988"/>
            <a:ext cx="5715000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96fb548953_0_216"/>
          <p:cNvSpPr txBox="1"/>
          <p:nvPr/>
        </p:nvSpPr>
        <p:spPr>
          <a:xfrm>
            <a:off x="5193350" y="4275475"/>
            <a:ext cx="66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endParaRPr b="1" i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2" name="Google Shape;422;g396fb548953_0_2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1325" y="2730538"/>
            <a:ext cx="5715000" cy="3609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96fb548953_0_22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Melhorias na Arquitetura de Transformers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29" name="Google Shape;429;g396fb548953_0_2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0" name="Google Shape;430;g396fb548953_0_229"/>
          <p:cNvSpPr txBox="1"/>
          <p:nvPr/>
        </p:nvSpPr>
        <p:spPr>
          <a:xfrm>
            <a:off x="347525" y="1997550"/>
            <a:ext cx="11428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Codificação de Posição (RoPE)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 vez de marcar a posição exata de uma palavra, o modelo foca na distância relativa entre as palavras. Isso permite "esticar" a capacidade do modelo para ler textos muito maiores do que aqueles com os quais ele foi treinado originalmente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Mistura de Especialistas (MoE -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Mixture of Experts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modelo é dividido em vários "miniespecialistas". Para cada palavra processada, ele ativa apenas 1 ou 2 especialistas em vez de acionar a rede inteira. Isso entrega a capacidade de um modelo gigante (mais inteligente) com o custo computacional menor (mais rápido)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1" name="Google Shape;431;g396fb548953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g396fb548953_0_229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96fb548953_0_25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Melhorias na Arquitetura de Transformers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39" name="Google Shape;439;g396fb548953_0_25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0" name="Google Shape;440;g396fb548953_0_253"/>
          <p:cNvSpPr txBox="1"/>
          <p:nvPr/>
        </p:nvSpPr>
        <p:spPr>
          <a:xfrm>
            <a:off x="347525" y="1997550"/>
            <a:ext cx="114288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Função de Ativação SwiGLU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Uma atualização matemática nas camadas da rede neural que filtra as informações com mais precisão, ajudando o modelo a aprender e performar melhor. Substituiu o ReLU e o GELU nas camadas de Feed-Forward. O SwiGLU combina a função de ativação Swish com a arquitetura Gated Linear Unit (GLU)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Arquiteturas Híbridas (Transformers + Mamba)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nova tendência é misturar Transformers com Modelos de Espaço de Estado (SSMs - State Space Models). Isso combina a alta qualidade de compreensão do Transformer com a velocidade extrema e o baixo uso de memória do Mamba para lidar com janelas de contexto infinitas.Atenção a múltiplas consultas e consultas agrupadas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. . . </a:t>
            </a:r>
            <a:endParaRPr b="1" sz="32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1" name="Google Shape;441;g396fb548953_0_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12430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96fb548953_0_253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