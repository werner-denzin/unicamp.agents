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6858000" cx="12192000"/>
  <p:notesSz cx="6858000" cy="9144000"/>
  <p:embeddedFontLst>
    <p:embeddedFont>
      <p:font typeface="Roboto"/>
      <p:regular r:id="rId34"/>
      <p:bold r:id="rId35"/>
      <p:italic r:id="rId36"/>
      <p:boldItalic r:id="rId37"/>
    </p:embeddedFont>
    <p:embeddedFont>
      <p:font typeface="Merriweather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hvPWwU+1Tz7t+cXMegxa77gw9n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italic.fntdata"/><Relationship Id="rId20" Type="http://schemas.openxmlformats.org/officeDocument/2006/relationships/slide" Target="slides/slide16.xml"/><Relationship Id="rId42" Type="http://customschemas.google.com/relationships/presentationmetadata" Target="metadata"/><Relationship Id="rId41" Type="http://schemas.openxmlformats.org/officeDocument/2006/relationships/font" Target="fonts/Merriweather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Roboto-bold.fntdata"/><Relationship Id="rId12" Type="http://schemas.openxmlformats.org/officeDocument/2006/relationships/slide" Target="slides/slide8.xml"/><Relationship Id="rId34" Type="http://schemas.openxmlformats.org/officeDocument/2006/relationships/font" Target="fonts/Roboto-regular.fntdata"/><Relationship Id="rId15" Type="http://schemas.openxmlformats.org/officeDocument/2006/relationships/slide" Target="slides/slide11.xml"/><Relationship Id="rId37" Type="http://schemas.openxmlformats.org/officeDocument/2006/relationships/font" Target="fonts/Roboto-boldItalic.fntdata"/><Relationship Id="rId14" Type="http://schemas.openxmlformats.org/officeDocument/2006/relationships/slide" Target="slides/slide10.xml"/><Relationship Id="rId36" Type="http://schemas.openxmlformats.org/officeDocument/2006/relationships/font" Target="fonts/Roboto-italic.fntdata"/><Relationship Id="rId17" Type="http://schemas.openxmlformats.org/officeDocument/2006/relationships/slide" Target="slides/slide13.xml"/><Relationship Id="rId39" Type="http://schemas.openxmlformats.org/officeDocument/2006/relationships/font" Target="fonts/Merriweather-bold.fntdata"/><Relationship Id="rId16" Type="http://schemas.openxmlformats.org/officeDocument/2006/relationships/slide" Target="slides/slide12.xml"/><Relationship Id="rId38" Type="http://schemas.openxmlformats.org/officeDocument/2006/relationships/font" Target="fonts/Merriweather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e5b3c3f154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2" name="Google Shape;72;g1e5b3c3f154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3eb54f4a2_0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d3eb54f4a2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g3d3eb54f4a2_0_1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6d5c0f8e4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96d5c0f8e4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g396d5c0f8e4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6d5c0f8e4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96d5c0f8e4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96d5c0f8e4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488b719b4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d488b719b4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d488b719b4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488b719b4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d488b719b4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d488b719b4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488b719b4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d488b719b4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d488b719b4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6d5c0f8e4_0_3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96d5c0f8e4_0_3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396d5c0f8e4_0_3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6d5c0f8e4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96d5c0f8e4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96d5c0f8e4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6d5c0f8e4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96d5c0f8e4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96d5c0f8e4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6d5c0f8e4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96d5c0f8e4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96d5c0f8e4_0_1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6d5c0f8e4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96d5c0f8e4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396d5c0f8e4_0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d5c0f8e4_0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96d5c0f8e4_0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g396d5c0f8e4_0_1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6d5c0f8e4_0_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96d5c0f8e4_0_1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g396d5c0f8e4_0_1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6d5c0f8e4_0_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96d5c0f8e4_0_1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g396d5c0f8e4_0_1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6d5c0f8e4_0_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96d5c0f8e4_0_1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g396d5c0f8e4_0_1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6d5c0f8e4_0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96d5c0f8e4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g396d5c0f8e4_0_1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6d5c0f8e4_0_2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96d5c0f8e4_0_2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g396d5c0f8e4_0_2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96d5c0f8e4_0_2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96d5c0f8e4_0_2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g396d5c0f8e4_0_2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96d5c0f8e4_0_2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96d5c0f8e4_0_2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g396d5c0f8e4_0_2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6d5c0f8e4_0_2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96d5c0f8e4_0_2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g396d5c0f8e4_0_2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6d5c0f8e4_0_2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96d5c0f8e4_0_2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g396d5c0f8e4_0_2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96d5c0f8e4_0_2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396d5c0f8e4_0_2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g396d5c0f8e4_0_2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96d5c0f8e4_0_2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96d5c0f8e4_0_2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g396d5c0f8e4_0_2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6d5c0f8e4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96d5c0f8e4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g396d5c0f8e4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6d5c0f8e4_0_3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96d5c0f8e4_0_3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g396d5c0f8e4_0_3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96d5c0f8e4_0_3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96d5c0f8e4_0_3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g396d5c0f8e4_0_3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96d5c0f8e4_0_3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396d5c0f8e4_0_3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96d5c0f8e4_0_3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96d5c0f8e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g396d5c0f8e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g396d5c0f8e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e5b3c3f154_0_446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g1e5b3c3f154_0_44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g1e5b3c3f154_0_44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e5b3c3f154_0_4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1e5b3c3f154_0_47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1e5b3c3f154_0_4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1e5b3c3f154_0_4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g1e5b3c3f154_0_4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e5b3c3f154_0_423"/>
          <p:cNvSpPr/>
          <p:nvPr/>
        </p:nvSpPr>
        <p:spPr>
          <a:xfrm>
            <a:off x="-167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5" name="Google Shape;25;g1e5b3c3f154_0_423"/>
          <p:cNvSpPr txBox="1"/>
          <p:nvPr>
            <p:ph type="ctr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" name="Google Shape;26;g1e5b3c3f154_0_423"/>
          <p:cNvSpPr txBox="1"/>
          <p:nvPr>
            <p:ph idx="1" type="subTitle"/>
          </p:nvPr>
        </p:nvSpPr>
        <p:spPr>
          <a:xfrm>
            <a:off x="415600" y="2504747"/>
            <a:ext cx="56568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" name="Google Shape;27;g1e5b3c3f154_0_4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e5b3c3f154_0_428"/>
          <p:cNvSpPr/>
          <p:nvPr/>
        </p:nvSpPr>
        <p:spPr>
          <a:xfrm>
            <a:off x="0" y="64132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0" name="Google Shape;30;g1e5b3c3f154_0_428"/>
          <p:cNvSpPr/>
          <p:nvPr/>
        </p:nvSpPr>
        <p:spPr>
          <a:xfrm>
            <a:off x="0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1" name="Google Shape;31;g1e5b3c3f154_0_428"/>
          <p:cNvSpPr txBox="1"/>
          <p:nvPr>
            <p:ph type="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" name="Google Shape;32;g1e5b3c3f154_0_4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e5b3c3f154_0_433"/>
          <p:cNvSpPr/>
          <p:nvPr/>
        </p:nvSpPr>
        <p:spPr>
          <a:xfrm>
            <a:off x="0" y="0"/>
            <a:ext cx="57519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1e5b3c3f154_0_433"/>
          <p:cNvSpPr/>
          <p:nvPr/>
        </p:nvSpPr>
        <p:spPr>
          <a:xfrm>
            <a:off x="0" y="58833"/>
            <a:ext cx="5751356" cy="5865687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6" name="Google Shape;36;g1e5b3c3f154_0_433"/>
          <p:cNvSpPr/>
          <p:nvPr/>
        </p:nvSpPr>
        <p:spPr>
          <a:xfrm>
            <a:off x="-167" y="0"/>
            <a:ext cx="5755723" cy="5860653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7" name="Google Shape;37;g1e5b3c3f154_0_433"/>
          <p:cNvSpPr txBox="1"/>
          <p:nvPr>
            <p:ph type="title"/>
          </p:nvPr>
        </p:nvSpPr>
        <p:spPr>
          <a:xfrm>
            <a:off x="415633" y="667900"/>
            <a:ext cx="4941900" cy="3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g1e5b3c3f154_0_433"/>
          <p:cNvSpPr txBox="1"/>
          <p:nvPr>
            <p:ph idx="1" type="body"/>
          </p:nvPr>
        </p:nvSpPr>
        <p:spPr>
          <a:xfrm>
            <a:off x="6192900" y="667900"/>
            <a:ext cx="5555100" cy="54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g1e5b3c3f154_0_4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e5b3c3f154_0_440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e5b3c3f154_0_44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g1e5b3c3f154_0_440"/>
          <p:cNvSpPr txBox="1"/>
          <p:nvPr>
            <p:ph idx="1" type="body"/>
          </p:nvPr>
        </p:nvSpPr>
        <p:spPr>
          <a:xfrm>
            <a:off x="4156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4" name="Google Shape;44;g1e5b3c3f154_0_440"/>
          <p:cNvSpPr txBox="1"/>
          <p:nvPr>
            <p:ph idx="2" type="body"/>
          </p:nvPr>
        </p:nvSpPr>
        <p:spPr>
          <a:xfrm>
            <a:off x="64432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5" name="Google Shape;45;g1e5b3c3f154_0_4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e5b3c3f154_0_450"/>
          <p:cNvSpPr/>
          <p:nvPr/>
        </p:nvSpPr>
        <p:spPr>
          <a:xfrm>
            <a:off x="0" y="0"/>
            <a:ext cx="50193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1e5b3c3f154_0_450"/>
          <p:cNvSpPr txBox="1"/>
          <p:nvPr>
            <p:ph type="title"/>
          </p:nvPr>
        </p:nvSpPr>
        <p:spPr>
          <a:xfrm>
            <a:off x="415633" y="667900"/>
            <a:ext cx="4170000" cy="24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g1e5b3c3f154_0_450"/>
          <p:cNvSpPr txBox="1"/>
          <p:nvPr>
            <p:ph idx="1" type="body"/>
          </p:nvPr>
        </p:nvSpPr>
        <p:spPr>
          <a:xfrm>
            <a:off x="415600" y="3187533"/>
            <a:ext cx="4170000" cy="30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0" name="Google Shape;50;g1e5b3c3f154_0_4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e5b3c3f154_0_455"/>
          <p:cNvSpPr txBox="1"/>
          <p:nvPr>
            <p:ph type="title"/>
          </p:nvPr>
        </p:nvSpPr>
        <p:spPr>
          <a:xfrm>
            <a:off x="415567" y="1064800"/>
            <a:ext cx="8330400" cy="47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g1e5b3c3f154_0_45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e5b3c3f154_0_45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1e5b3c3f154_0_458"/>
          <p:cNvSpPr txBox="1"/>
          <p:nvPr>
            <p:ph type="title"/>
          </p:nvPr>
        </p:nvSpPr>
        <p:spPr>
          <a:xfrm>
            <a:off x="415067" y="667900"/>
            <a:ext cx="4939200" cy="27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g1e5b3c3f154_0_458"/>
          <p:cNvSpPr txBox="1"/>
          <p:nvPr>
            <p:ph idx="1" type="subTitle"/>
          </p:nvPr>
        </p:nvSpPr>
        <p:spPr>
          <a:xfrm>
            <a:off x="406400" y="3502300"/>
            <a:ext cx="49392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8" name="Google Shape;58;g1e5b3c3f154_0_458"/>
          <p:cNvSpPr txBox="1"/>
          <p:nvPr>
            <p:ph idx="2" type="body"/>
          </p:nvPr>
        </p:nvSpPr>
        <p:spPr>
          <a:xfrm>
            <a:off x="6505367" y="667900"/>
            <a:ext cx="5271900" cy="5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9" name="Google Shape;59;g1e5b3c3f154_0_45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e5b3c3f154_0_464"/>
          <p:cNvSpPr/>
          <p:nvPr/>
        </p:nvSpPr>
        <p:spPr>
          <a:xfrm>
            <a:off x="0" y="5825333"/>
            <a:ext cx="12192000" cy="103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1e5b3c3f154_0_464"/>
          <p:cNvSpPr txBox="1"/>
          <p:nvPr>
            <p:ph idx="1" type="body"/>
          </p:nvPr>
        </p:nvSpPr>
        <p:spPr>
          <a:xfrm>
            <a:off x="415600" y="6028533"/>
            <a:ext cx="106392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63" name="Google Shape;63;g1e5b3c3f154_0_46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e5b3c3f154_0_468"/>
          <p:cNvSpPr txBox="1"/>
          <p:nvPr>
            <p:ph hasCustomPrompt="1" type="title"/>
          </p:nvPr>
        </p:nvSpPr>
        <p:spPr>
          <a:xfrm>
            <a:off x="415667" y="1108233"/>
            <a:ext cx="7113300" cy="16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g1e5b3c3f154_0_468"/>
          <p:cNvSpPr txBox="1"/>
          <p:nvPr>
            <p:ph idx="1" type="body"/>
          </p:nvPr>
        </p:nvSpPr>
        <p:spPr>
          <a:xfrm>
            <a:off x="415600" y="2828567"/>
            <a:ext cx="7113300" cy="12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7" name="Google Shape;67;g1e5b3c3f154_0_46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e5b3c3f154_0_47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e5b3c3f154_0_41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1" name="Google Shape;11;g1e5b3c3f154_0_41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g1e5b3c3f154_0_4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en.wikipedia.org/wiki/Attention_(machine_learning)#/media/File:Attention_mechanism_overview.sv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hyperlink" Target="https://en.wikipedia.org/wiki/Attention_(machine_learning)#/media/File:Attention_mechanism_overview.sv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hyperlink" Target="https://arxiv.org/pdf/1706.03762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hyperlink" Target="https://arxiv.org/pdf/1706.03762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hyperlink" Target="https://arxiv.org/pdf/1706.03762" TargetMode="External"/><Relationship Id="rId5" Type="http://schemas.openxmlformats.org/officeDocument/2006/relationships/image" Target="../media/image5.png"/><Relationship Id="rId6" Type="http://schemas.openxmlformats.org/officeDocument/2006/relationships/hyperlink" Target="https://botpenguin.com/glossary/softmax-function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hyperlink" Target="https://arxiv.org/pdf/1706.03762" TargetMode="External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hyperlink" Target="https://arxiv.org/pdf/1706.03762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hyperlink" Target="https://arxiv.org/pdf/1706.03762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hyperlink" Target="https://arxiv.org/pdf/1706.03762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hyperlink" Target="https://arxiv.org/pdf/1706.03762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hyperlink" Target="https://arxiv.org/pdf/1706.03762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hyperlink" Target="https://arxiv.org/pdf/1706.03762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hyperlink" Target="https://arxiv.org/pdf/1706.03762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hyperlink" Target="https://arxiv.org/pdf/1706.03762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hyperlink" Target="https://arxiv.org/pdf/1706.03762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Relationship Id="rId4" Type="http://schemas.openxmlformats.org/officeDocument/2006/relationships/hyperlink" Target="https://arxiv.org/pdf/1706.03762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hyperlink" Target="https://arxiv.org/pdf/1706.03762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e5b3c3f154_0_189"/>
          <p:cNvSpPr txBox="1"/>
          <p:nvPr/>
        </p:nvSpPr>
        <p:spPr>
          <a:xfrm>
            <a:off x="108151" y="5088650"/>
            <a:ext cx="9714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sng" cap="none" strike="noStrike">
                <a:solidFill>
                  <a:srgbClr val="31394D"/>
                </a:solidFill>
                <a:latin typeface="Calibri"/>
                <a:ea typeface="Calibri"/>
                <a:cs typeface="Calibri"/>
                <a:sym typeface="Calibri"/>
              </a:rPr>
              <a:t>Prof. Dr. Rodrigo Bonacin</a:t>
            </a:r>
            <a:endParaRPr b="1" i="0" sz="2400" u="sng" cap="none" strike="noStrike">
              <a:solidFill>
                <a:srgbClr val="3139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31394D"/>
                </a:solidFill>
                <a:latin typeface="Calibri"/>
                <a:ea typeface="Calibri"/>
                <a:cs typeface="Calibri"/>
                <a:sym typeface="Calibri"/>
              </a:rPr>
              <a:t>rbonacin@unicamp.br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1e5b3c3f154_0_189"/>
          <p:cNvSpPr txBox="1"/>
          <p:nvPr>
            <p:ph type="title"/>
          </p:nvPr>
        </p:nvSpPr>
        <p:spPr>
          <a:xfrm>
            <a:off x="108150" y="3100700"/>
            <a:ext cx="11975700" cy="185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Mecanismos de atenção, transformadores e arquiteturas </a:t>
            </a:r>
            <a:r>
              <a:rPr b="1" i="1" lang="pt-BR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decoder-only</a:t>
            </a:r>
            <a:endParaRPr i="1" sz="4000"/>
          </a:p>
        </p:txBody>
      </p:sp>
      <p:pic>
        <p:nvPicPr>
          <p:cNvPr id="76" name="Google Shape;76;g1e5b3c3f154_0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675" y="270775"/>
            <a:ext cx="977781" cy="1108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1e5b3c3f154_0_189" title="logo-ic-unicamp-slant-line-wht-sky-ora-048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1950" y="194775"/>
            <a:ext cx="1471758" cy="12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3eb54f4a2_0_14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Transformer - Autoatenção (</a:t>
            </a:r>
            <a:r>
              <a:rPr i="1" lang="pt-BR"/>
              <a:t>self-attention</a:t>
            </a:r>
            <a:r>
              <a:rPr lang="pt-BR"/>
              <a:t>) </a:t>
            </a:r>
            <a:endParaRPr/>
          </a:p>
        </p:txBody>
      </p:sp>
      <p:sp>
        <p:nvSpPr>
          <p:cNvPr id="84" name="Google Shape;84;g3d3eb54f4a2_0_14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5" name="Google Shape;85;g3d3eb54f4a2_0_145"/>
          <p:cNvSpPr txBox="1"/>
          <p:nvPr/>
        </p:nvSpPr>
        <p:spPr>
          <a:xfrm>
            <a:off x="347525" y="1997550"/>
            <a:ext cx="114288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Transformer é uma arquitetura de rede neural profunda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Substitui arquitetura prévias de RNNs e as LSTM em várias tarefas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Mecanismo de autoatenção (self-attention)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Atenção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ndefinido" id="86" name="Google Shape;86;g3d3eb54f4a2_0_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3075" y="4206382"/>
            <a:ext cx="3402394" cy="253594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d3eb54f4a2_0_145"/>
          <p:cNvSpPr/>
          <p:nvPr/>
        </p:nvSpPr>
        <p:spPr>
          <a:xfrm>
            <a:off x="6733526" y="3693896"/>
            <a:ext cx="3317100" cy="1402800"/>
          </a:xfrm>
          <a:prstGeom prst="wedgeRectCallout">
            <a:avLst>
              <a:gd fmla="val -81507" name="adj1"/>
              <a:gd fmla="val 27592" name="adj2"/>
            </a:avLst>
          </a:prstGeom>
          <a:solidFill>
            <a:srgbClr val="4285F4"/>
          </a:solidFill>
          <a:ln cap="flat" cmpd="sng" w="225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500" lIns="81050" spcFirstLastPara="1" rIns="81050" wrap="square" tIns="40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Atenção é um método que determina a importância de cada componente em uma sequência em relação aos outros componentes dessa sequência.</a:t>
            </a:r>
            <a:endParaRPr sz="1300"/>
          </a:p>
        </p:txBody>
      </p:sp>
      <p:sp>
        <p:nvSpPr>
          <p:cNvPr id="88" name="Google Shape;88;g3d3eb54f4a2_0_145"/>
          <p:cNvSpPr txBox="1"/>
          <p:nvPr/>
        </p:nvSpPr>
        <p:spPr>
          <a:xfrm>
            <a:off x="5928207" y="5650366"/>
            <a:ext cx="36147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0500" lIns="81050" spcFirstLastPara="1" rIns="81050" wrap="square" tIns="405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64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https://en.wikipedia.org/wiki/Attention_(machine_learning)#/media/File:Attention_mechanism_overview.svg</a:t>
            </a:r>
            <a:r>
              <a:rPr lang="pt-BR" sz="10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6d5c0f8e4_0_1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Transformer - Autoatenção (</a:t>
            </a:r>
            <a:r>
              <a:rPr i="1" lang="pt-BR"/>
              <a:t>self-attention</a:t>
            </a:r>
            <a:r>
              <a:rPr lang="pt-BR"/>
              <a:t>) </a:t>
            </a:r>
            <a:endParaRPr/>
          </a:p>
        </p:txBody>
      </p:sp>
      <p:sp>
        <p:nvSpPr>
          <p:cNvPr id="95" name="Google Shape;95;g396d5c0f8e4_0_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indefinido" id="96" name="Google Shape;96;g396d5c0f8e4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8571" y="3243835"/>
            <a:ext cx="3825891" cy="285159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96d5c0f8e4_0_17"/>
          <p:cNvSpPr txBox="1"/>
          <p:nvPr/>
        </p:nvSpPr>
        <p:spPr>
          <a:xfrm>
            <a:off x="2493109" y="6203380"/>
            <a:ext cx="40644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25" spcFirstLastPara="1" rIns="91125" wrap="square" tIns="4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96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https://en.wikipedia.org/wiki/Attention_(machine_learning)#/media/File:Attention_mechanism_overview.svg</a:t>
            </a:r>
            <a:r>
              <a:rPr lang="pt-BR" sz="11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62"/>
          </a:p>
        </p:txBody>
      </p:sp>
      <p:sp>
        <p:nvSpPr>
          <p:cNvPr id="98" name="Google Shape;98;g396d5c0f8e4_0_17"/>
          <p:cNvSpPr/>
          <p:nvPr/>
        </p:nvSpPr>
        <p:spPr>
          <a:xfrm>
            <a:off x="7641518" y="3063034"/>
            <a:ext cx="3655200" cy="1414200"/>
          </a:xfrm>
          <a:prstGeom prst="wedgeRectCallout">
            <a:avLst>
              <a:gd fmla="val -73044" name="adj1"/>
              <a:gd fmla="val 113496" name="adj2"/>
            </a:avLst>
          </a:prstGeom>
          <a:solidFill>
            <a:srgbClr val="4285F4"/>
          </a:solidFill>
          <a:ln cap="flat" cmpd="sng" w="253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550" lIns="91125" spcFirstLastPara="1" rIns="91125" wrap="square" tIns="4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Vetor que representa a palavra atual para a qual estamos buscando contexto. Ela "pergunta": "Quais outras palavras da entrada são mais relevantes?"</a:t>
            </a:r>
            <a:endParaRPr sz="1462"/>
          </a:p>
        </p:txBody>
      </p:sp>
      <p:sp>
        <p:nvSpPr>
          <p:cNvPr id="99" name="Google Shape;99;g396d5c0f8e4_0_17"/>
          <p:cNvSpPr/>
          <p:nvPr/>
        </p:nvSpPr>
        <p:spPr>
          <a:xfrm>
            <a:off x="5590917" y="5294018"/>
            <a:ext cx="1148700" cy="672900"/>
          </a:xfrm>
          <a:prstGeom prst="rect">
            <a:avLst/>
          </a:prstGeom>
          <a:noFill/>
          <a:ln cap="flat" cmpd="sng" w="253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550" lIns="91125" spcFirstLastPara="1" rIns="91125" wrap="square" tIns="4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96d5c0f8e4_0_17"/>
          <p:cNvSpPr/>
          <p:nvPr/>
        </p:nvSpPr>
        <p:spPr>
          <a:xfrm>
            <a:off x="3141601" y="3809770"/>
            <a:ext cx="2183700" cy="776100"/>
          </a:xfrm>
          <a:prstGeom prst="rect">
            <a:avLst/>
          </a:prstGeom>
          <a:noFill/>
          <a:ln cap="flat" cmpd="sng" w="253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550" lIns="91125" spcFirstLastPara="1" rIns="91125" wrap="square" tIns="4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96d5c0f8e4_0_17"/>
          <p:cNvSpPr/>
          <p:nvPr/>
        </p:nvSpPr>
        <p:spPr>
          <a:xfrm>
            <a:off x="3159887" y="5298355"/>
            <a:ext cx="2183700" cy="672900"/>
          </a:xfrm>
          <a:prstGeom prst="rect">
            <a:avLst/>
          </a:prstGeom>
          <a:noFill/>
          <a:ln cap="flat" cmpd="sng" w="253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550" lIns="91125" spcFirstLastPara="1" rIns="91125" wrap="square" tIns="4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96d5c0f8e4_0_17"/>
          <p:cNvSpPr/>
          <p:nvPr/>
        </p:nvSpPr>
        <p:spPr>
          <a:xfrm>
            <a:off x="200200" y="3809760"/>
            <a:ext cx="2712300" cy="1633500"/>
          </a:xfrm>
          <a:prstGeom prst="wedgeRectCallout">
            <a:avLst>
              <a:gd fmla="val 54655" name="adj1"/>
              <a:gd fmla="val 69695" name="adj2"/>
            </a:avLst>
          </a:prstGeom>
          <a:solidFill>
            <a:srgbClr val="4285F4"/>
          </a:solidFill>
          <a:ln cap="flat" cmpd="sng" w="253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550" lIns="91125" spcFirstLastPara="1" rIns="91125" wrap="square" tIns="4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6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Vetor que </a:t>
            </a:r>
            <a:r>
              <a:rPr lang="pt-BR" sz="1462">
                <a:solidFill>
                  <a:srgbClr val="FFFFFF"/>
                </a:solidFill>
              </a:rPr>
              <a:t>representa o "rótulo" ou a identidade de todos os outros tokens na frase</a:t>
            </a:r>
            <a:r>
              <a:rPr lang="pt-BR" sz="146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(cada token do contexto). Ele funciona como "etiqueta" de cada palavra.</a:t>
            </a:r>
            <a:endParaRPr sz="1462"/>
          </a:p>
        </p:txBody>
      </p:sp>
      <p:sp>
        <p:nvSpPr>
          <p:cNvPr id="103" name="Google Shape;103;g396d5c0f8e4_0_17"/>
          <p:cNvSpPr/>
          <p:nvPr/>
        </p:nvSpPr>
        <p:spPr>
          <a:xfrm>
            <a:off x="429407" y="1765400"/>
            <a:ext cx="2712300" cy="1370400"/>
          </a:xfrm>
          <a:prstGeom prst="wedgeRectCallout">
            <a:avLst>
              <a:gd fmla="val 48354" name="adj1"/>
              <a:gd fmla="val 105251" name="adj2"/>
            </a:avLst>
          </a:prstGeom>
          <a:solidFill>
            <a:srgbClr val="4285F4"/>
          </a:solidFill>
          <a:ln cap="flat" cmpd="sng" w="253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550" lIns="91125" spcFirstLastPara="1" rIns="91125" wrap="square" tIns="4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6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Vetor que contém a informação real de cada palavra. Ele é a informação que será somada para formar o novo contexto da palavra de consulta.</a:t>
            </a:r>
            <a:endParaRPr sz="1462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6d5c0f8e4_0_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Transformer - Autoatenção (</a:t>
            </a:r>
            <a:r>
              <a:rPr i="1" lang="pt-BR"/>
              <a:t>self-attention</a:t>
            </a:r>
            <a:r>
              <a:rPr lang="pt-BR"/>
              <a:t>) </a:t>
            </a:r>
            <a:endParaRPr/>
          </a:p>
        </p:txBody>
      </p:sp>
      <p:sp>
        <p:nvSpPr>
          <p:cNvPr id="110" name="Google Shape;110;g396d5c0f8e4_0_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1" name="Google Shape;111;g396d5c0f8e4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630" y="1994175"/>
            <a:ext cx="10734825" cy="403236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96d5c0f8e4_0_7"/>
          <p:cNvSpPr txBox="1"/>
          <p:nvPr/>
        </p:nvSpPr>
        <p:spPr>
          <a:xfrm>
            <a:off x="415650" y="6083584"/>
            <a:ext cx="26148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550" lIns="97125" spcFirstLastPara="1" rIns="97125" wrap="square" tIns="4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 - GPT</a:t>
            </a:r>
            <a:endParaRPr sz="1558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488b719b4_0_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Transformer - Autoatenção (</a:t>
            </a:r>
            <a:r>
              <a:rPr i="1" lang="pt-BR"/>
              <a:t>self-attention</a:t>
            </a:r>
            <a:r>
              <a:rPr lang="pt-BR"/>
              <a:t>) </a:t>
            </a:r>
            <a:endParaRPr/>
          </a:p>
        </p:txBody>
      </p:sp>
      <p:sp>
        <p:nvSpPr>
          <p:cNvPr id="119" name="Google Shape;119;g3d488b719b4_0_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0" name="Google Shape;120;g3d488b719b4_0_3"/>
          <p:cNvSpPr txBox="1"/>
          <p:nvPr/>
        </p:nvSpPr>
        <p:spPr>
          <a:xfrm>
            <a:off x="347525" y="1997550"/>
            <a:ext cx="11428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Matriz de Entrada (X): sequência de tokens (palavras ou sub-palavras)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Cada token é convertido em um vetor numérico (Embedding)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você tem uma frase com 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tokens e cada embedding tem tamanho 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baseline="-25000"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você tem uma matriz de entrada 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 dimensões (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 x 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baseline="-25000"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488b719b4_0_1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Transformer - Autoatenção (</a:t>
            </a:r>
            <a:r>
              <a:rPr i="1" lang="pt-BR"/>
              <a:t>self-attention</a:t>
            </a:r>
            <a:r>
              <a:rPr lang="pt-BR"/>
              <a:t>) </a:t>
            </a:r>
            <a:endParaRPr/>
          </a:p>
        </p:txBody>
      </p:sp>
      <p:sp>
        <p:nvSpPr>
          <p:cNvPr id="127" name="Google Shape;127;g3d488b719b4_0_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8" name="Google Shape;128;g3d488b719b4_0_11"/>
          <p:cNvSpPr txBox="1"/>
          <p:nvPr/>
        </p:nvSpPr>
        <p:spPr>
          <a:xfrm>
            <a:off x="347525" y="1997550"/>
            <a:ext cx="114288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Projeções Lineares (As Matrizes de Pesos)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modelo cria três matrizes de pesos distintas, que são os parâmetros que o Transformer "aprendeu" (previamente) durante o treinamento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baseline="30000"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Pesos para as Queries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baseline="30000"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Pesos para as Keys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baseline="30000"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Pesos para os Values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Essas matrizes geralmente possuem dimensões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 x d</a:t>
            </a:r>
            <a:r>
              <a:rPr baseline="-25000"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onde 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baseline="-25000"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é a dimensão do mecanismo de atenção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488b719b4_0_1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Transformer - Autoatenção (</a:t>
            </a:r>
            <a:r>
              <a:rPr i="1" lang="pt-BR"/>
              <a:t>self-attention</a:t>
            </a:r>
            <a:r>
              <a:rPr lang="pt-BR"/>
              <a:t>) </a:t>
            </a:r>
            <a:endParaRPr/>
          </a:p>
        </p:txBody>
      </p:sp>
      <p:sp>
        <p:nvSpPr>
          <p:cNvPr id="135" name="Google Shape;135;g3d488b719b4_0_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6" name="Google Shape;136;g3d488b719b4_0_18"/>
          <p:cNvSpPr txBox="1"/>
          <p:nvPr/>
        </p:nvSpPr>
        <p:spPr>
          <a:xfrm>
            <a:off x="347525" y="1997550"/>
            <a:ext cx="11428800" cy="3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Para obter os valores de 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 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multiplicamos a matriz de entrada 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por cada uma das matrizes de pesos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 = X * W</a:t>
            </a:r>
            <a:r>
              <a:rPr baseline="30000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 = X * W</a:t>
            </a:r>
            <a:r>
              <a:rPr baseline="30000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endParaRPr baseline="30000"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 = X * W</a:t>
            </a:r>
            <a:r>
              <a:rPr baseline="30000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</a:t>
            </a:r>
            <a:endParaRPr baseline="30000"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Cada linha das matrizes resultantes (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Q, K, V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corresponde a um dos tokens da sua frase original, mas projetado em espaços diferentes para cumprir papéis específicos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6d5c0f8e4_0_32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Transformer - Autoatenção (</a:t>
            </a:r>
            <a:r>
              <a:rPr i="1" lang="pt-BR"/>
              <a:t>self-attention</a:t>
            </a:r>
            <a:r>
              <a:rPr lang="pt-BR"/>
              <a:t>) </a:t>
            </a:r>
            <a:endParaRPr/>
          </a:p>
        </p:txBody>
      </p:sp>
      <p:sp>
        <p:nvSpPr>
          <p:cNvPr id="143" name="Google Shape;143;g396d5c0f8e4_0_32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4" name="Google Shape;144;g396d5c0f8e4_0_329"/>
          <p:cNvSpPr txBox="1"/>
          <p:nvPr/>
        </p:nvSpPr>
        <p:spPr>
          <a:xfrm>
            <a:off x="347525" y="1997550"/>
            <a:ext cx="11428800" cy="4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processo de atenção segue uma lógica matemática clara para decidir quanto foco dar a cada palavra: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b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Score (Pontuação):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Multiplicamos o vetor Query do token atual pelos vetores Key de todos os outros tokens (incluindo ele mesmo). Isso é feito via produto escalar: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"O quanto a minha pergunta combina com essa etiqueta?"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b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Distribuição (Softmax):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Os resultados são normalizados para que somem 100% (ou 1). Isso cria um ranking de relevância.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b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Ponderação: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Multiplicamos esses pesos pelo vetor Value (V)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Vou pegar o conteúdo (V) de cada palavra na proporção da importância que calculei no passo anterior."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6d5c0f8e4_0_3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Transformers </a:t>
            </a:r>
            <a:endParaRPr/>
          </a:p>
        </p:txBody>
      </p:sp>
      <p:sp>
        <p:nvSpPr>
          <p:cNvPr id="151" name="Google Shape;151;g396d5c0f8e4_0_3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2" name="Google Shape;152;g396d5c0f8e4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102" y="1651900"/>
            <a:ext cx="4482586" cy="505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96d5c0f8e4_0_37"/>
          <p:cNvSpPr txBox="1"/>
          <p:nvPr/>
        </p:nvSpPr>
        <p:spPr>
          <a:xfrm>
            <a:off x="478475" y="20298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https://arxiv.org/pdf/1706.03762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6d5c0f8e4_0_7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Transformer</a:t>
            </a:r>
            <a:endParaRPr/>
          </a:p>
        </p:txBody>
      </p:sp>
      <p:sp>
        <p:nvSpPr>
          <p:cNvPr id="160" name="Google Shape;160;g396d5c0f8e4_0_7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1" name="Google Shape;161;g396d5c0f8e4_0_73"/>
          <p:cNvSpPr txBox="1"/>
          <p:nvPr/>
        </p:nvSpPr>
        <p:spPr>
          <a:xfrm>
            <a:off x="347525" y="1997550"/>
            <a:ext cx="11428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Autoatenção, Scaled Dot-Product Attention e Multi-Head Attention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2" name="Google Shape;162;g396d5c0f8e4_0_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0457" y="2853466"/>
            <a:ext cx="5871965" cy="309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96d5c0f8e4_0_73"/>
          <p:cNvSpPr txBox="1"/>
          <p:nvPr/>
        </p:nvSpPr>
        <p:spPr>
          <a:xfrm>
            <a:off x="3883806" y="6079780"/>
            <a:ext cx="3565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00" lIns="92250" spcFirstLastPara="1" rIns="92250" wrap="square" tIns="46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83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https://arxiv.org/pdf/1706.03762</a:t>
            </a:r>
            <a:r>
              <a:rPr lang="pt-BR" sz="18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80"/>
          </a:p>
        </p:txBody>
      </p:sp>
      <p:sp>
        <p:nvSpPr>
          <p:cNvPr id="164" name="Google Shape;164;g396d5c0f8e4_0_73"/>
          <p:cNvSpPr/>
          <p:nvPr/>
        </p:nvSpPr>
        <p:spPr>
          <a:xfrm>
            <a:off x="9171251" y="2512297"/>
            <a:ext cx="2538900" cy="1138200"/>
          </a:xfrm>
          <a:prstGeom prst="wedgeRectCallout">
            <a:avLst>
              <a:gd fmla="val -76140" name="adj1"/>
              <a:gd fmla="val -7901" name="adj2"/>
            </a:avLst>
          </a:prstGeom>
          <a:solidFill>
            <a:srgbClr val="4285F4"/>
          </a:solidFill>
          <a:ln cap="flat" cmpd="sng" w="256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100" lIns="92250" spcFirstLastPara="1" rIns="92250" wrap="square" tIns="46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8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Diversas camadas de atenção executadas em paralelo.</a:t>
            </a:r>
            <a:endParaRPr sz="1480"/>
          </a:p>
        </p:txBody>
      </p:sp>
      <p:sp>
        <p:nvSpPr>
          <p:cNvPr id="165" name="Google Shape;165;g396d5c0f8e4_0_73"/>
          <p:cNvSpPr/>
          <p:nvPr/>
        </p:nvSpPr>
        <p:spPr>
          <a:xfrm>
            <a:off x="349377" y="4814761"/>
            <a:ext cx="2538900" cy="1138200"/>
          </a:xfrm>
          <a:prstGeom prst="wedgeRectCallout">
            <a:avLst>
              <a:gd fmla="val 63534" name="adj1"/>
              <a:gd fmla="val 16583" name="adj2"/>
            </a:avLst>
          </a:prstGeom>
          <a:solidFill>
            <a:srgbClr val="4285F4"/>
          </a:solidFill>
          <a:ln cap="flat" cmpd="sng" w="256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100" lIns="92250" spcFirstLastPara="1" rIns="92250" wrap="square" tIns="46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8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 – Query</a:t>
            </a:r>
            <a:endParaRPr sz="148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8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 – Chave</a:t>
            </a:r>
            <a:endParaRPr sz="148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8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 – Matriz de Valores</a:t>
            </a:r>
            <a:endParaRPr sz="148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6d5c0f8e4_0_10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Transformer</a:t>
            </a:r>
            <a:endParaRPr/>
          </a:p>
        </p:txBody>
      </p:sp>
      <p:sp>
        <p:nvSpPr>
          <p:cNvPr id="172" name="Google Shape;172;g396d5c0f8e4_0_10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3" name="Google Shape;173;g396d5c0f8e4_0_109"/>
          <p:cNvSpPr txBox="1"/>
          <p:nvPr/>
        </p:nvSpPr>
        <p:spPr>
          <a:xfrm>
            <a:off x="347525" y="1997550"/>
            <a:ext cx="11428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Autoatenção, Scaled Dot-Product Attention e Multi-Head Attention 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4" name="Google Shape;174;g396d5c0f8e4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4632" y="2853416"/>
            <a:ext cx="5871965" cy="309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96d5c0f8e4_0_109"/>
          <p:cNvSpPr txBox="1"/>
          <p:nvPr/>
        </p:nvSpPr>
        <p:spPr>
          <a:xfrm>
            <a:off x="3883806" y="6079780"/>
            <a:ext cx="3565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00" lIns="92250" spcFirstLastPara="1" rIns="92250" wrap="square" tIns="46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83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https://arxiv.org/pdf/1706.03762</a:t>
            </a:r>
            <a:r>
              <a:rPr lang="pt-BR" sz="18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80"/>
          </a:p>
        </p:txBody>
      </p:sp>
      <p:pic>
        <p:nvPicPr>
          <p:cNvPr id="176" name="Google Shape;176;g396d5c0f8e4_0_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657850"/>
            <a:ext cx="2851774" cy="285177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96d5c0f8e4_0_109"/>
          <p:cNvSpPr/>
          <p:nvPr/>
        </p:nvSpPr>
        <p:spPr>
          <a:xfrm>
            <a:off x="3250675" y="3247099"/>
            <a:ext cx="2497500" cy="2114400"/>
          </a:xfrm>
          <a:prstGeom prst="wedgeRectCallout">
            <a:avLst>
              <a:gd fmla="val 59141" name="adj1"/>
              <a:gd fmla="val -14723" name="adj2"/>
            </a:avLst>
          </a:prstGeom>
          <a:solidFill>
            <a:srgbClr val="4285F4"/>
          </a:solidFill>
          <a:ln cap="flat" cmpd="sng" w="227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900" lIns="81800" spcFirstLastPara="1" rIns="81800" wrap="square" tIns="40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0">
                <a:solidFill>
                  <a:srgbClr val="FFFFFF"/>
                </a:solidFill>
              </a:rPr>
              <a:t>Transforma um vetor de valores arbitrários em um vetor de probabilidades com soma 1</a:t>
            </a:r>
            <a:endParaRPr sz="1312"/>
          </a:p>
        </p:txBody>
      </p:sp>
      <p:sp>
        <p:nvSpPr>
          <p:cNvPr id="178" name="Google Shape;178;g396d5c0f8e4_0_109"/>
          <p:cNvSpPr txBox="1"/>
          <p:nvPr/>
        </p:nvSpPr>
        <p:spPr>
          <a:xfrm>
            <a:off x="78288" y="53615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6"/>
              </a:rPr>
              <a:t>https://botpenguin.com/glossary/softmax-function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6d5c0f8e4_0_8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Transformer</a:t>
            </a:r>
            <a:endParaRPr/>
          </a:p>
        </p:txBody>
      </p:sp>
      <p:sp>
        <p:nvSpPr>
          <p:cNvPr id="185" name="Google Shape;185;g396d5c0f8e4_0_8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6" name="Google Shape;186;g396d5c0f8e4_0_84"/>
          <p:cNvSpPr txBox="1"/>
          <p:nvPr/>
        </p:nvSpPr>
        <p:spPr>
          <a:xfrm>
            <a:off x="347525" y="1997550"/>
            <a:ext cx="11428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Autoatenção, Scaled Dot-Product Attention e Multi-Head Attention 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7" name="Google Shape;187;g396d5c0f8e4_0_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0295" y="2710766"/>
            <a:ext cx="5207345" cy="274870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96d5c0f8e4_0_84"/>
          <p:cNvSpPr txBox="1"/>
          <p:nvPr/>
        </p:nvSpPr>
        <p:spPr>
          <a:xfrm>
            <a:off x="3781180" y="6287104"/>
            <a:ext cx="31617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900" lIns="81800" spcFirstLastPara="1" rIns="81800" wrap="square" tIns="40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0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https://arxiv.org/pdf/1706.03762</a:t>
            </a:r>
            <a:r>
              <a:rPr lang="pt-BR" sz="16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12"/>
          </a:p>
        </p:txBody>
      </p:sp>
      <p:pic>
        <p:nvPicPr>
          <p:cNvPr id="189" name="Google Shape;189;g396d5c0f8e4_0_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090" y="5408021"/>
            <a:ext cx="3699146" cy="715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96d5c0f8e4_0_8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69856" y="5491466"/>
            <a:ext cx="4473812" cy="71914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96d5c0f8e4_0_84"/>
          <p:cNvSpPr/>
          <p:nvPr/>
        </p:nvSpPr>
        <p:spPr>
          <a:xfrm>
            <a:off x="1212879" y="6101404"/>
            <a:ext cx="1849500" cy="756600"/>
          </a:xfrm>
          <a:prstGeom prst="wedgeRectCallout">
            <a:avLst>
              <a:gd fmla="val 93845" name="adj1"/>
              <a:gd fmla="val -53686" name="adj2"/>
            </a:avLst>
          </a:prstGeom>
          <a:solidFill>
            <a:srgbClr val="4285F4"/>
          </a:solidFill>
          <a:ln cap="flat" cmpd="sng" w="227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900" lIns="81800" spcFirstLastPara="1" rIns="81800" wrap="square" tIns="40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lang="pt-BR" sz="167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pt-BR" sz="167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– Dimensões das chaves</a:t>
            </a:r>
            <a:endParaRPr sz="1312"/>
          </a:p>
        </p:txBody>
      </p:sp>
      <p:sp>
        <p:nvSpPr>
          <p:cNvPr id="192" name="Google Shape;192;g396d5c0f8e4_0_84"/>
          <p:cNvSpPr/>
          <p:nvPr/>
        </p:nvSpPr>
        <p:spPr>
          <a:xfrm>
            <a:off x="1015852" y="4291451"/>
            <a:ext cx="1864500" cy="1085100"/>
          </a:xfrm>
          <a:prstGeom prst="wedgeRectCallout">
            <a:avLst>
              <a:gd fmla="val 38532" name="adj1"/>
              <a:gd fmla="val 74763" name="adj2"/>
            </a:avLst>
          </a:prstGeom>
          <a:solidFill>
            <a:srgbClr val="4285F4"/>
          </a:solidFill>
          <a:ln cap="flat" cmpd="sng" w="227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900" lIns="81800" spcFirstLastPara="1" rIns="81800" wrap="square" tIns="40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Isso indica o peso da importância de cada palavra para o token atual</a:t>
            </a:r>
            <a:endParaRPr sz="1312"/>
          </a:p>
        </p:txBody>
      </p:sp>
      <p:sp>
        <p:nvSpPr>
          <p:cNvPr id="193" name="Google Shape;193;g396d5c0f8e4_0_84"/>
          <p:cNvSpPr/>
          <p:nvPr/>
        </p:nvSpPr>
        <p:spPr>
          <a:xfrm>
            <a:off x="8711432" y="2621102"/>
            <a:ext cx="1896000" cy="1487400"/>
          </a:xfrm>
          <a:prstGeom prst="wedgeRectCallout">
            <a:avLst>
              <a:gd fmla="val -77964" name="adj1"/>
              <a:gd fmla="val 52340" name="adj2"/>
            </a:avLst>
          </a:prstGeom>
          <a:solidFill>
            <a:srgbClr val="4285F4"/>
          </a:solidFill>
          <a:ln cap="flat" cmpd="sng" w="227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900" lIns="81800" spcFirstLastPara="1" rIns="81800" wrap="square" tIns="40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1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Permite que o modelo atenda conjuntamente às informações de diferentes subespaços de representação em diferentes posições</a:t>
            </a:r>
            <a:endParaRPr sz="1312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1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 - 8</a:t>
            </a:r>
            <a:endParaRPr sz="1312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6d5c0f8e4_0_12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Transformer - Atenção de produto escalar escalonado </a:t>
            </a:r>
            <a:endParaRPr/>
          </a:p>
        </p:txBody>
      </p:sp>
      <p:pic>
        <p:nvPicPr>
          <p:cNvPr id="200" name="Google Shape;200;g396d5c0f8e4_0_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5825" y="1702176"/>
            <a:ext cx="9212099" cy="514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6d5c0f8e4_0_16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Transformer  </a:t>
            </a:r>
            <a:endParaRPr/>
          </a:p>
        </p:txBody>
      </p:sp>
      <p:sp>
        <p:nvSpPr>
          <p:cNvPr id="207" name="Google Shape;207;g396d5c0f8e4_0_16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08" name="Google Shape;208;g396d5c0f8e4_0_1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0275" y="0"/>
            <a:ext cx="485143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96d5c0f8e4_0_165"/>
          <p:cNvSpPr txBox="1"/>
          <p:nvPr/>
        </p:nvSpPr>
        <p:spPr>
          <a:xfrm>
            <a:off x="1113075" y="6331168"/>
            <a:ext cx="26481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50" lIns="85550" spcFirstLastPara="1" rIns="85550" wrap="square" tIns="42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2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https://arxiv.org/pdf/1706.03762</a:t>
            </a:r>
            <a:r>
              <a:rPr lang="pt-BR" sz="13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72"/>
          </a:p>
        </p:txBody>
      </p:sp>
      <p:sp>
        <p:nvSpPr>
          <p:cNvPr id="210" name="Google Shape;210;g396d5c0f8e4_0_165"/>
          <p:cNvSpPr/>
          <p:nvPr/>
        </p:nvSpPr>
        <p:spPr>
          <a:xfrm>
            <a:off x="4080200" y="2008300"/>
            <a:ext cx="2345700" cy="3014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96d5c0f8e4_0_165"/>
          <p:cNvSpPr/>
          <p:nvPr/>
        </p:nvSpPr>
        <p:spPr>
          <a:xfrm>
            <a:off x="6516000" y="1499500"/>
            <a:ext cx="2345700" cy="359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96d5c0f8e4_0_165"/>
          <p:cNvSpPr/>
          <p:nvPr/>
        </p:nvSpPr>
        <p:spPr>
          <a:xfrm>
            <a:off x="83650" y="2008300"/>
            <a:ext cx="2920500" cy="2521200"/>
          </a:xfrm>
          <a:prstGeom prst="wedgeRectCallout">
            <a:avLst>
              <a:gd fmla="val 89718" name="adj1"/>
              <a:gd fmla="val 25846" name="adj2"/>
            </a:avLst>
          </a:prstGeom>
          <a:solidFill>
            <a:srgbClr val="4285F4"/>
          </a:solidFill>
          <a:ln cap="flat" cmpd="sng" w="227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900" lIns="81800" spcFirstLastPara="1" rIns="81800" wrap="square" tIns="40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70">
                <a:solidFill>
                  <a:srgbClr val="FFFFFF"/>
                </a:solidFill>
              </a:rPr>
              <a:t>ENCODER</a:t>
            </a:r>
            <a:endParaRPr b="1" sz="1670">
              <a:solidFill>
                <a:srgbClr val="FFFFFF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70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70">
                <a:solidFill>
                  <a:srgbClr val="FFFFFF"/>
                </a:solidFill>
              </a:rPr>
              <a:t>Processa e entende a sequência de dados de entrada, extraindo o significado e o contexto de cada elemento (</a:t>
            </a:r>
            <a:r>
              <a:rPr i="1" lang="pt-BR" sz="1570">
                <a:solidFill>
                  <a:srgbClr val="FFFFFF"/>
                </a:solidFill>
              </a:rPr>
              <a:t>token</a:t>
            </a:r>
            <a:r>
              <a:rPr lang="pt-BR" sz="1570">
                <a:solidFill>
                  <a:srgbClr val="FFFFFF"/>
                </a:solidFill>
              </a:rPr>
              <a:t>)</a:t>
            </a:r>
            <a:endParaRPr sz="1570">
              <a:solidFill>
                <a:srgbClr val="FFFFFF"/>
              </a:solidFill>
            </a:endParaRPr>
          </a:p>
        </p:txBody>
      </p:sp>
      <p:sp>
        <p:nvSpPr>
          <p:cNvPr id="213" name="Google Shape;213;g396d5c0f8e4_0_165"/>
          <p:cNvSpPr/>
          <p:nvPr/>
        </p:nvSpPr>
        <p:spPr>
          <a:xfrm>
            <a:off x="8949900" y="2008300"/>
            <a:ext cx="2920500" cy="2521200"/>
          </a:xfrm>
          <a:prstGeom prst="wedgeRectCallout">
            <a:avLst>
              <a:gd fmla="val -70890" name="adj1"/>
              <a:gd fmla="val 25271" name="adj2"/>
            </a:avLst>
          </a:prstGeom>
          <a:solidFill>
            <a:srgbClr val="4285F4"/>
          </a:solidFill>
          <a:ln cap="flat" cmpd="sng" w="227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900" lIns="81800" spcFirstLastPara="1" rIns="81800" wrap="square" tIns="40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70">
                <a:solidFill>
                  <a:srgbClr val="FFFFFF"/>
                </a:solidFill>
              </a:rPr>
              <a:t>DE</a:t>
            </a:r>
            <a:r>
              <a:rPr b="1" lang="pt-BR" sz="1670">
                <a:solidFill>
                  <a:srgbClr val="FFFFFF"/>
                </a:solidFill>
              </a:rPr>
              <a:t>CODER</a:t>
            </a:r>
            <a:endParaRPr b="1" sz="1670">
              <a:solidFill>
                <a:srgbClr val="FFFFFF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70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70">
                <a:solidFill>
                  <a:srgbClr val="FFFFFF"/>
                </a:solidFill>
              </a:rPr>
              <a:t>Gera a sequência de saída, produzindo um novo elemento por vez - como a tradução de uma frase ou a resposta a uma pergunta</a:t>
            </a:r>
            <a:endParaRPr sz="157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6d5c0f8e4_0_14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Transformer  </a:t>
            </a:r>
            <a:endParaRPr/>
          </a:p>
        </p:txBody>
      </p:sp>
      <p:sp>
        <p:nvSpPr>
          <p:cNvPr id="220" name="Google Shape;220;g396d5c0f8e4_0_14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21" name="Google Shape;221;g396d5c0f8e4_0_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9550" y="0"/>
            <a:ext cx="485143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96d5c0f8e4_0_143"/>
          <p:cNvSpPr txBox="1"/>
          <p:nvPr/>
        </p:nvSpPr>
        <p:spPr>
          <a:xfrm>
            <a:off x="3867875" y="6331168"/>
            <a:ext cx="26481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50" lIns="85550" spcFirstLastPara="1" rIns="85550" wrap="square" tIns="42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2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https://arxiv.org/pdf/1706.03762</a:t>
            </a:r>
            <a:r>
              <a:rPr lang="pt-BR" sz="13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72"/>
          </a:p>
        </p:txBody>
      </p:sp>
      <p:sp>
        <p:nvSpPr>
          <p:cNvPr id="223" name="Google Shape;223;g396d5c0f8e4_0_143"/>
          <p:cNvSpPr/>
          <p:nvPr/>
        </p:nvSpPr>
        <p:spPr>
          <a:xfrm>
            <a:off x="949452" y="1841497"/>
            <a:ext cx="4482000" cy="2388300"/>
          </a:xfrm>
          <a:prstGeom prst="wedgeRectCallout">
            <a:avLst>
              <a:gd fmla="val 80599" name="adj1"/>
              <a:gd fmla="val 104436" name="adj2"/>
            </a:avLst>
          </a:prstGeom>
          <a:solidFill>
            <a:srgbClr val="4285F4"/>
          </a:solidFill>
          <a:ln cap="flat" cmpd="sng" w="2377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2750" lIns="85550" spcFirstLastPara="1" rIns="85550" wrap="square" tIns="42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4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Antes de Entrar no modelo:</a:t>
            </a:r>
            <a:endParaRPr sz="1372"/>
          </a:p>
          <a:p>
            <a:pPr indent="-269316" lvl="0" marL="269315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46"/>
              <a:buFont typeface="Arial"/>
              <a:buChar char="•"/>
            </a:pPr>
            <a:r>
              <a:rPr lang="pt-BR" sz="174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Tokenização: frase é dividida em tokens</a:t>
            </a:r>
            <a:endParaRPr sz="1372"/>
          </a:p>
          <a:p>
            <a:pPr indent="-269316" lvl="0" marL="269315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46"/>
              <a:buFont typeface="Arial"/>
              <a:buChar char="•"/>
            </a:pPr>
            <a:r>
              <a:rPr lang="pt-BR" sz="174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Embedding: vetor numérico  (significado semântico) – rede  neural</a:t>
            </a:r>
            <a:endParaRPr sz="1372"/>
          </a:p>
          <a:p>
            <a:pPr indent="-269316" lvl="0" marL="269315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46"/>
              <a:buFont typeface="Arial"/>
              <a:buChar char="•"/>
            </a:pPr>
            <a:r>
              <a:rPr lang="pt-BR" sz="174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Positional Enconding: informações sobre a posição de cada token na sequência</a:t>
            </a:r>
            <a:endParaRPr sz="1372"/>
          </a:p>
        </p:txBody>
      </p:sp>
      <p:sp>
        <p:nvSpPr>
          <p:cNvPr id="224" name="Google Shape;224;g396d5c0f8e4_0_143"/>
          <p:cNvSpPr/>
          <p:nvPr/>
        </p:nvSpPr>
        <p:spPr>
          <a:xfrm>
            <a:off x="6777000" y="4980600"/>
            <a:ext cx="2084700" cy="1607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6d5c0f8e4_0_15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Transformer  </a:t>
            </a:r>
            <a:endParaRPr/>
          </a:p>
        </p:txBody>
      </p:sp>
      <p:sp>
        <p:nvSpPr>
          <p:cNvPr id="231" name="Google Shape;231;g396d5c0f8e4_0_15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32" name="Google Shape;232;g396d5c0f8e4_0_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9550" y="0"/>
            <a:ext cx="485143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96d5c0f8e4_0_154"/>
          <p:cNvSpPr txBox="1"/>
          <p:nvPr/>
        </p:nvSpPr>
        <p:spPr>
          <a:xfrm>
            <a:off x="3867875" y="6331168"/>
            <a:ext cx="26481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50" lIns="85550" spcFirstLastPara="1" rIns="85550" wrap="square" tIns="42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2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https://arxiv.org/pdf/1706.03762</a:t>
            </a:r>
            <a:r>
              <a:rPr lang="pt-BR" sz="13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72"/>
          </a:p>
        </p:txBody>
      </p:sp>
      <p:sp>
        <p:nvSpPr>
          <p:cNvPr id="234" name="Google Shape;234;g396d5c0f8e4_0_154"/>
          <p:cNvSpPr/>
          <p:nvPr/>
        </p:nvSpPr>
        <p:spPr>
          <a:xfrm>
            <a:off x="6820500" y="2385300"/>
            <a:ext cx="2316600" cy="2608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96d5c0f8e4_0_154"/>
          <p:cNvSpPr/>
          <p:nvPr/>
        </p:nvSpPr>
        <p:spPr>
          <a:xfrm>
            <a:off x="415625" y="1947638"/>
            <a:ext cx="5652900" cy="3935400"/>
          </a:xfrm>
          <a:prstGeom prst="wedgeRectCallout">
            <a:avLst>
              <a:gd fmla="val 64787" name="adj1"/>
              <a:gd fmla="val -1342" name="adj2"/>
            </a:avLst>
          </a:prstGeom>
          <a:solidFill>
            <a:srgbClr val="4285F4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Processa a sequência de entrada e cria uma representação contextualizada:</a:t>
            </a:r>
            <a:endParaRPr sz="1700"/>
          </a:p>
          <a:p>
            <a:pPr indent="-2540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1" lang="pt-B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Camadas empilhadas</a:t>
            </a:r>
            <a:r>
              <a:rPr lang="pt-B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ex., 6 camada idênticas</a:t>
            </a:r>
            <a:r>
              <a:rPr lang="pt-BR" sz="2000">
                <a:solidFill>
                  <a:srgbClr val="FFFFFF"/>
                </a:solidFill>
              </a:rPr>
              <a:t>.  Ele processa todas as palavras simultaneamente, o que o torna muito mais rápido de treinar do que modelos mais antigos.</a:t>
            </a:r>
            <a:endParaRPr sz="1700"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6d5c0f8e4_0_19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Transformer  </a:t>
            </a:r>
            <a:endParaRPr/>
          </a:p>
        </p:txBody>
      </p:sp>
      <p:sp>
        <p:nvSpPr>
          <p:cNvPr id="242" name="Google Shape;242;g396d5c0f8e4_0_19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43" name="Google Shape;243;g396d5c0f8e4_0_1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9550" y="0"/>
            <a:ext cx="485143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96d5c0f8e4_0_191"/>
          <p:cNvSpPr txBox="1"/>
          <p:nvPr/>
        </p:nvSpPr>
        <p:spPr>
          <a:xfrm>
            <a:off x="3867875" y="6331168"/>
            <a:ext cx="26481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50" lIns="85550" spcFirstLastPara="1" rIns="85550" wrap="square" tIns="42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2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https://arxiv.org/pdf/1706.03762</a:t>
            </a:r>
            <a:r>
              <a:rPr lang="pt-BR" sz="13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72"/>
          </a:p>
        </p:txBody>
      </p:sp>
      <p:sp>
        <p:nvSpPr>
          <p:cNvPr id="245" name="Google Shape;245;g396d5c0f8e4_0_191"/>
          <p:cNvSpPr/>
          <p:nvPr/>
        </p:nvSpPr>
        <p:spPr>
          <a:xfrm>
            <a:off x="6820500" y="2385300"/>
            <a:ext cx="2316600" cy="2608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96d5c0f8e4_0_191"/>
          <p:cNvSpPr/>
          <p:nvPr/>
        </p:nvSpPr>
        <p:spPr>
          <a:xfrm>
            <a:off x="96650" y="1766288"/>
            <a:ext cx="6284100" cy="4298100"/>
          </a:xfrm>
          <a:prstGeom prst="wedgeRectCallout">
            <a:avLst>
              <a:gd fmla="val 64793" name="adj1"/>
              <a:gd fmla="val 5180" name="adj2"/>
            </a:avLst>
          </a:prstGeom>
          <a:solidFill>
            <a:srgbClr val="4285F4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540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1" lang="pt-B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Mecanismo de autoatenção</a:t>
            </a:r>
            <a:r>
              <a:rPr lang="pt-B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entender as relações entre todas as palavras da sequência de entrada. </a:t>
            </a:r>
            <a:r>
              <a:rPr lang="pt-BR" sz="2000">
                <a:solidFill>
                  <a:schemeClr val="lt1"/>
                </a:solidFill>
              </a:rPr>
              <a:t>Ex: Por exemplo, na frase "A manga da camisa rasgou", o mecanismo de auto-atenção ajuda o modelo a entender que "manga" se refere a uma parte de uma roupa, e não à fruta, devido à proximidade e relação com as palavras "camisa" e "rasgou".</a:t>
            </a:r>
            <a:endParaRPr sz="1700"/>
          </a:p>
          <a:p>
            <a:pPr indent="-2540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1" lang="pt-B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Multi-Head Attention</a:t>
            </a:r>
            <a:r>
              <a:rPr lang="pt-B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permitindo que o modelo capture diferentes aspectos das relações entre as palavras. </a:t>
            </a:r>
            <a:endParaRPr sz="1700"/>
          </a:p>
          <a:p>
            <a:pPr indent="-2540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1" lang="pt-B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Feed-Forward Neural Network</a:t>
            </a:r>
            <a:r>
              <a:rPr lang="pt-B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Rede feed-forward totalmente conectada posicionalmente</a:t>
            </a:r>
            <a:r>
              <a:rPr b="1" lang="pt-B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6d5c0f8e4_0_20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Transformer  </a:t>
            </a:r>
            <a:endParaRPr/>
          </a:p>
        </p:txBody>
      </p:sp>
      <p:sp>
        <p:nvSpPr>
          <p:cNvPr id="253" name="Google Shape;253;g396d5c0f8e4_0_20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54" name="Google Shape;254;g396d5c0f8e4_0_2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9550" y="0"/>
            <a:ext cx="485143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96d5c0f8e4_0_202"/>
          <p:cNvSpPr txBox="1"/>
          <p:nvPr/>
        </p:nvSpPr>
        <p:spPr>
          <a:xfrm>
            <a:off x="3867875" y="6331168"/>
            <a:ext cx="26481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50" lIns="85550" spcFirstLastPara="1" rIns="85550" wrap="square" tIns="42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2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https://arxiv.org/pdf/1706.03762</a:t>
            </a:r>
            <a:r>
              <a:rPr lang="pt-BR" sz="13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72"/>
          </a:p>
        </p:txBody>
      </p:sp>
      <p:sp>
        <p:nvSpPr>
          <p:cNvPr id="256" name="Google Shape;256;g396d5c0f8e4_0_202"/>
          <p:cNvSpPr/>
          <p:nvPr/>
        </p:nvSpPr>
        <p:spPr>
          <a:xfrm>
            <a:off x="6820500" y="2385300"/>
            <a:ext cx="2316600" cy="2608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96d5c0f8e4_0_202"/>
          <p:cNvSpPr/>
          <p:nvPr/>
        </p:nvSpPr>
        <p:spPr>
          <a:xfrm>
            <a:off x="220375" y="2079150"/>
            <a:ext cx="5884800" cy="2187600"/>
          </a:xfrm>
          <a:prstGeom prst="wedgeRectCallout">
            <a:avLst>
              <a:gd fmla="val 84543" name="adj1"/>
              <a:gd fmla="val -31442" name="adj2"/>
            </a:avLst>
          </a:prstGeom>
          <a:solidFill>
            <a:srgbClr val="4285F4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540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•"/>
            </a:pPr>
            <a:r>
              <a:rPr lang="pt-BR" sz="2000">
                <a:solidFill>
                  <a:srgbClr val="FFFFFF"/>
                </a:solidFill>
              </a:rPr>
              <a:t> O Encoder gera como saída um conjunto de vetores densos (representações matemáticas). Esse "mapa de contexto" carrega todo o peso semântico da entrada original e é repassado para o Decoder.</a:t>
            </a:r>
            <a:r>
              <a:rPr lang="pt-BR" sz="2000">
                <a:solidFill>
                  <a:srgbClr val="FFFFFF"/>
                </a:solidFill>
              </a:rPr>
              <a:t> 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6d5c0f8e4_0_21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Transformer  </a:t>
            </a:r>
            <a:endParaRPr/>
          </a:p>
        </p:txBody>
      </p:sp>
      <p:sp>
        <p:nvSpPr>
          <p:cNvPr id="264" name="Google Shape;264;g396d5c0f8e4_0_2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65" name="Google Shape;265;g396d5c0f8e4_0_2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9550" y="0"/>
            <a:ext cx="485143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96d5c0f8e4_0_213"/>
          <p:cNvSpPr txBox="1"/>
          <p:nvPr/>
        </p:nvSpPr>
        <p:spPr>
          <a:xfrm>
            <a:off x="3867875" y="6331168"/>
            <a:ext cx="26481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50" lIns="85550" spcFirstLastPara="1" rIns="85550" wrap="square" tIns="42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2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https://arxiv.org/pdf/1706.03762</a:t>
            </a:r>
            <a:r>
              <a:rPr lang="pt-BR" sz="13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72"/>
          </a:p>
        </p:txBody>
      </p:sp>
      <p:sp>
        <p:nvSpPr>
          <p:cNvPr id="267" name="Google Shape;267;g396d5c0f8e4_0_213"/>
          <p:cNvSpPr/>
          <p:nvPr/>
        </p:nvSpPr>
        <p:spPr>
          <a:xfrm>
            <a:off x="9125825" y="4978925"/>
            <a:ext cx="2316600" cy="1896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96d5c0f8e4_0_213"/>
          <p:cNvSpPr/>
          <p:nvPr/>
        </p:nvSpPr>
        <p:spPr>
          <a:xfrm>
            <a:off x="301350" y="1710850"/>
            <a:ext cx="6472500" cy="4506900"/>
          </a:xfrm>
          <a:prstGeom prst="wedgeRectCallout">
            <a:avLst>
              <a:gd fmla="val 84946" name="adj1"/>
              <a:gd fmla="val 32486" name="adj2"/>
            </a:avLst>
          </a:prstGeom>
          <a:solidFill>
            <a:srgbClr val="4285F4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decodificador é treinado para prever o próximo token em uma sequência, utilizando </a:t>
            </a:r>
            <a:r>
              <a:rPr b="1" lang="pt-BR" sz="2000">
                <a:solidFill>
                  <a:srgbClr val="FFFFFF"/>
                </a:solidFill>
              </a:rPr>
              <a:t>deslocamento à direita</a:t>
            </a:r>
            <a:r>
              <a:rPr lang="pt-B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700"/>
          </a:p>
          <a:p>
            <a:pPr indent="-2540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sequência de saída alvo é deslocada uma posição para a direita e fornecida ao decodificador como entrada </a:t>
            </a:r>
            <a:endParaRPr sz="1700"/>
          </a:p>
          <a:p>
            <a:pPr indent="-2540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Esse processo, juntamente com um mecanismo de “atenção mascarada”, garante que o modelo use apenas tokens anteriores para prever o atual</a:t>
            </a:r>
            <a:endParaRPr sz="1700"/>
          </a:p>
          <a:p>
            <a:pPr indent="-2540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Torna o modelo autorregressivo, o que significa que cada token de saída é gerado com base nos tokens anteriores</a:t>
            </a:r>
            <a:endParaRPr sz="1700"/>
          </a:p>
          <a:p>
            <a:pPr indent="-2540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token &lt;BOS - </a:t>
            </a:r>
            <a:r>
              <a:rPr i="1" lang="pt-B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beginning of the sentence</a:t>
            </a:r>
            <a:r>
              <a:rPr lang="pt-B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 fornece o contexto inicial para o modelo começar a gerar a primeira palavra da sequência de saída.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6d5c0f8e4_0_22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Transformer  </a:t>
            </a:r>
            <a:endParaRPr/>
          </a:p>
        </p:txBody>
      </p:sp>
      <p:sp>
        <p:nvSpPr>
          <p:cNvPr id="275" name="Google Shape;275;g396d5c0f8e4_0_2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76" name="Google Shape;276;g396d5c0f8e4_0_2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9550" y="0"/>
            <a:ext cx="485143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396d5c0f8e4_0_224"/>
          <p:cNvSpPr txBox="1"/>
          <p:nvPr/>
        </p:nvSpPr>
        <p:spPr>
          <a:xfrm>
            <a:off x="3867875" y="6331168"/>
            <a:ext cx="26481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50" lIns="85550" spcFirstLastPara="1" rIns="85550" wrap="square" tIns="42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2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https://arxiv.org/pdf/1706.03762</a:t>
            </a:r>
            <a:r>
              <a:rPr lang="pt-BR" sz="13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72"/>
          </a:p>
        </p:txBody>
      </p:sp>
      <p:sp>
        <p:nvSpPr>
          <p:cNvPr id="278" name="Google Shape;278;g396d5c0f8e4_0_224"/>
          <p:cNvSpPr/>
          <p:nvPr/>
        </p:nvSpPr>
        <p:spPr>
          <a:xfrm>
            <a:off x="9125825" y="1499490"/>
            <a:ext cx="2316600" cy="3505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96d5c0f8e4_0_224"/>
          <p:cNvSpPr/>
          <p:nvPr/>
        </p:nvSpPr>
        <p:spPr>
          <a:xfrm>
            <a:off x="301350" y="1710850"/>
            <a:ext cx="6472500" cy="4506900"/>
          </a:xfrm>
          <a:prstGeom prst="wedgeRectCallout">
            <a:avLst>
              <a:gd fmla="val 90323" name="adj1"/>
              <a:gd fmla="val 3854" name="adj2"/>
            </a:avLst>
          </a:prstGeom>
          <a:solidFill>
            <a:srgbClr val="4285F4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</a:rPr>
              <a:t>Gera a sequência de saída com base na representação do codificador e nas palavras que já foram geradas</a:t>
            </a:r>
            <a:endParaRPr sz="2000"/>
          </a:p>
          <a:p>
            <a:pPr indent="-254000" lvl="0" marL="2159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b="1" lang="pt-BR" sz="2000">
                <a:solidFill>
                  <a:schemeClr val="lt1"/>
                </a:solidFill>
              </a:rPr>
              <a:t>Mecanismo de autoatenção mascarado: </a:t>
            </a:r>
            <a:r>
              <a:rPr lang="pt-BR" sz="2000">
                <a:solidFill>
                  <a:schemeClr val="lt1"/>
                </a:solidFill>
              </a:rPr>
              <a:t>a predição para uma determinada palavra só pode se basear nas palavras já geradas. Como o Decoder gera a saída palavra por palavra, ao tentar prever a próxima palavra, ele só pode ter acesso às palavras que já gerou. O mecanismo é "mascarado" para esconder as palavras futuras (durante o treinamento), garantindo que o modelo aprenda a prever de forma correta sem "trapacear" olhando a resposta final.</a:t>
            </a:r>
            <a:endParaRPr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96d5c0f8e4_0_23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Transformer  </a:t>
            </a:r>
            <a:endParaRPr/>
          </a:p>
        </p:txBody>
      </p:sp>
      <p:sp>
        <p:nvSpPr>
          <p:cNvPr id="286" name="Google Shape;286;g396d5c0f8e4_0_23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87" name="Google Shape;287;g396d5c0f8e4_0_2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9550" y="0"/>
            <a:ext cx="485143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396d5c0f8e4_0_235"/>
          <p:cNvSpPr txBox="1"/>
          <p:nvPr/>
        </p:nvSpPr>
        <p:spPr>
          <a:xfrm>
            <a:off x="3867875" y="6331168"/>
            <a:ext cx="26481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50" lIns="85550" spcFirstLastPara="1" rIns="85550" wrap="square" tIns="42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2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https://arxiv.org/pdf/1706.03762</a:t>
            </a:r>
            <a:r>
              <a:rPr lang="pt-BR" sz="13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72"/>
          </a:p>
        </p:txBody>
      </p:sp>
      <p:sp>
        <p:nvSpPr>
          <p:cNvPr id="289" name="Google Shape;289;g396d5c0f8e4_0_235"/>
          <p:cNvSpPr/>
          <p:nvPr/>
        </p:nvSpPr>
        <p:spPr>
          <a:xfrm>
            <a:off x="9125825" y="1499490"/>
            <a:ext cx="2316600" cy="3505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96d5c0f8e4_0_235"/>
          <p:cNvSpPr/>
          <p:nvPr/>
        </p:nvSpPr>
        <p:spPr>
          <a:xfrm>
            <a:off x="301350" y="1710850"/>
            <a:ext cx="6472500" cy="4506900"/>
          </a:xfrm>
          <a:prstGeom prst="wedgeRectCallout">
            <a:avLst>
              <a:gd fmla="val 89426" name="adj1"/>
              <a:gd fmla="val -19630" name="adj2"/>
            </a:avLst>
          </a:prstGeom>
          <a:solidFill>
            <a:srgbClr val="4285F4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</a:rPr>
              <a:t>Gera a sequência de saída com base na representação do codificador e nas palavras que já foram geradas</a:t>
            </a:r>
            <a:endParaRPr sz="2000"/>
          </a:p>
          <a:p>
            <a:pPr indent="-254000" lvl="0" marL="2159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b="1" lang="pt-BR" sz="2000">
                <a:solidFill>
                  <a:schemeClr val="lt1"/>
                </a:solidFill>
              </a:rPr>
              <a:t>Cross-Attention (Atenção Encoder-Decoder):</a:t>
            </a:r>
            <a:r>
              <a:rPr lang="pt-BR" sz="2000">
                <a:solidFill>
                  <a:schemeClr val="lt1"/>
                </a:solidFill>
              </a:rPr>
              <a:t> Usada para que o decodificador possa se considerar a saída do codificador na geração da saída. É aqui que as duas partes se conectam. Além de olhar para o que já gerou, o Decoder usa este mecanismo para olhar constantemente para os vetores de contexto que o Encoder produziu. Ele ativamente "presta atenção" nas partes mais relevantes da frase original para decidir qual deve ser a próxima palavra gerada na saída</a:t>
            </a:r>
            <a:r>
              <a:rPr lang="pt-BR" sz="2000">
                <a:solidFill>
                  <a:schemeClr val="lt1"/>
                </a:solidFill>
              </a:rPr>
              <a:t>.</a:t>
            </a:r>
            <a:endParaRPr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6d5c0f8e4_0_24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Transformer  </a:t>
            </a:r>
            <a:endParaRPr/>
          </a:p>
        </p:txBody>
      </p:sp>
      <p:sp>
        <p:nvSpPr>
          <p:cNvPr id="297" name="Google Shape;297;g396d5c0f8e4_0_24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98" name="Google Shape;298;g396d5c0f8e4_0_2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9550" y="0"/>
            <a:ext cx="485143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96d5c0f8e4_0_245"/>
          <p:cNvSpPr txBox="1"/>
          <p:nvPr/>
        </p:nvSpPr>
        <p:spPr>
          <a:xfrm>
            <a:off x="3867875" y="6331168"/>
            <a:ext cx="26481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50" lIns="85550" spcFirstLastPara="1" rIns="85550" wrap="square" tIns="42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2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https://arxiv.org/pdf/1706.03762</a:t>
            </a:r>
            <a:r>
              <a:rPr lang="pt-BR" sz="13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72"/>
          </a:p>
        </p:txBody>
      </p:sp>
      <p:sp>
        <p:nvSpPr>
          <p:cNvPr id="300" name="Google Shape;300;g396d5c0f8e4_0_245"/>
          <p:cNvSpPr/>
          <p:nvPr/>
        </p:nvSpPr>
        <p:spPr>
          <a:xfrm>
            <a:off x="9125825" y="1499490"/>
            <a:ext cx="2316600" cy="3505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96d5c0f8e4_0_245"/>
          <p:cNvSpPr/>
          <p:nvPr/>
        </p:nvSpPr>
        <p:spPr>
          <a:xfrm>
            <a:off x="227050" y="1789175"/>
            <a:ext cx="6472500" cy="4542000"/>
          </a:xfrm>
          <a:prstGeom prst="wedgeRectCallout">
            <a:avLst>
              <a:gd fmla="val 90126" name="adj1"/>
              <a:gd fmla="val -43511" name="adj2"/>
            </a:avLst>
          </a:prstGeom>
          <a:solidFill>
            <a:srgbClr val="4285F4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</a:rPr>
              <a:t>Gera a sequência de saída com base na representação do codificador e nas palavras que já foram geradas</a:t>
            </a:r>
            <a:endParaRPr sz="2000"/>
          </a:p>
          <a:p>
            <a:pPr indent="-254000" lvl="0" marL="2159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b="1" lang="pt-BR" sz="2000">
                <a:solidFill>
                  <a:schemeClr val="lt1"/>
                </a:solidFill>
              </a:rPr>
              <a:t>Feed-Forward Neural Network: </a:t>
            </a:r>
            <a:r>
              <a:rPr lang="pt-BR" sz="2000">
                <a:solidFill>
                  <a:schemeClr val="lt1"/>
                </a:solidFill>
              </a:rPr>
              <a:t>assim como no codificador há uma rede neural Feed-Forward (MLP). Enquanto a Atenção permite que as palavras "conversem" entre si para entender o contexto, a Feed-Forward processa o significado individual de cada palavra (já enriquecido pelo contexto) de forma independente. Ela adiciona "não-linearidade", o que permite ao modelo aprender padrões extremamente complexos, nuances de gramática, fatos e lógica.</a:t>
            </a:r>
            <a:endParaRPr sz="2000">
              <a:solidFill>
                <a:schemeClr val="lt1"/>
              </a:solidFill>
            </a:endParaRPr>
          </a:p>
          <a:p>
            <a:pPr indent="-254000" lvl="0" marL="2159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pt-BR" sz="2000">
                <a:solidFill>
                  <a:schemeClr val="lt1"/>
                </a:solidFill>
              </a:rPr>
              <a:t>Geralmente é composta por duas camadas densas (fully connected) tradicionais, com uma função de ativação (como ReLU, GELU ou SwiGLU) no meio.</a:t>
            </a:r>
            <a:endParaRPr sz="2000">
              <a:solidFill>
                <a:schemeClr val="lt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6d5c0f8e4_0_25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Transformer  </a:t>
            </a:r>
            <a:endParaRPr/>
          </a:p>
        </p:txBody>
      </p:sp>
      <p:sp>
        <p:nvSpPr>
          <p:cNvPr id="308" name="Google Shape;308;g396d5c0f8e4_0_25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09" name="Google Shape;309;g396d5c0f8e4_0_2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9550" y="0"/>
            <a:ext cx="485143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396d5c0f8e4_0_258"/>
          <p:cNvSpPr txBox="1"/>
          <p:nvPr/>
        </p:nvSpPr>
        <p:spPr>
          <a:xfrm>
            <a:off x="3867875" y="6331168"/>
            <a:ext cx="26481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50" lIns="85550" spcFirstLastPara="1" rIns="85550" wrap="square" tIns="42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2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https://arxiv.org/pdf/1706.03762</a:t>
            </a:r>
            <a:r>
              <a:rPr lang="pt-BR" sz="13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72"/>
          </a:p>
        </p:txBody>
      </p:sp>
      <p:sp>
        <p:nvSpPr>
          <p:cNvPr id="311" name="Google Shape;311;g396d5c0f8e4_0_258"/>
          <p:cNvSpPr/>
          <p:nvPr/>
        </p:nvSpPr>
        <p:spPr>
          <a:xfrm>
            <a:off x="227050" y="2311125"/>
            <a:ext cx="6472500" cy="2667900"/>
          </a:xfrm>
          <a:prstGeom prst="wedgeRectCallout">
            <a:avLst>
              <a:gd fmla="val 89678" name="adj1"/>
              <a:gd fmla="val -73912" name="adj2"/>
            </a:avLst>
          </a:prstGeom>
          <a:solidFill>
            <a:srgbClr val="4285F4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</a:rPr>
              <a:t>A</a:t>
            </a:r>
            <a:r>
              <a:rPr lang="pt-BR" sz="2000">
                <a:solidFill>
                  <a:srgbClr val="FFFFFF"/>
                </a:solidFill>
              </a:rPr>
              <a:t>dd &amp; Norm (Conexões Residuais e Normalização): Ao redor da Atenção e da rede Feed-Forward, existem "atalhos" que pulam a camada (conexões residuais) e operações de normalização (como LayerNorm ou RMSNorm). Isso estabiliza o treinamento e evita que a informação se perca à medida que passa por dezenas de camadas.</a:t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312" name="Google Shape;312;g396d5c0f8e4_0_258"/>
          <p:cNvSpPr/>
          <p:nvPr/>
        </p:nvSpPr>
        <p:spPr>
          <a:xfrm>
            <a:off x="7263195" y="3682075"/>
            <a:ext cx="1816200" cy="376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96d5c0f8e4_0_258"/>
          <p:cNvSpPr/>
          <p:nvPr/>
        </p:nvSpPr>
        <p:spPr>
          <a:xfrm>
            <a:off x="7328602" y="2602065"/>
            <a:ext cx="1816200" cy="376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96d5c0f8e4_0_258"/>
          <p:cNvSpPr/>
          <p:nvPr/>
        </p:nvSpPr>
        <p:spPr>
          <a:xfrm>
            <a:off x="9278871" y="2435488"/>
            <a:ext cx="1816200" cy="376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96d5c0f8e4_0_258"/>
          <p:cNvSpPr/>
          <p:nvPr/>
        </p:nvSpPr>
        <p:spPr>
          <a:xfrm>
            <a:off x="9315279" y="1485968"/>
            <a:ext cx="1816200" cy="376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96d5c0f8e4_0_258"/>
          <p:cNvSpPr/>
          <p:nvPr/>
        </p:nvSpPr>
        <p:spPr>
          <a:xfrm>
            <a:off x="9308191" y="3523231"/>
            <a:ext cx="1816200" cy="376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96d5c0f8e4_0_27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Transformer  </a:t>
            </a:r>
            <a:endParaRPr/>
          </a:p>
        </p:txBody>
      </p:sp>
      <p:sp>
        <p:nvSpPr>
          <p:cNvPr id="323" name="Google Shape;323;g396d5c0f8e4_0_27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24" name="Google Shape;324;g396d5c0f8e4_0_2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9550" y="0"/>
            <a:ext cx="485143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g396d5c0f8e4_0_277"/>
          <p:cNvSpPr txBox="1"/>
          <p:nvPr/>
        </p:nvSpPr>
        <p:spPr>
          <a:xfrm>
            <a:off x="3867875" y="6331168"/>
            <a:ext cx="26481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50" lIns="85550" spcFirstLastPara="1" rIns="85550" wrap="square" tIns="42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2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https://arxiv.org/pdf/1706.03762</a:t>
            </a:r>
            <a:r>
              <a:rPr lang="pt-BR" sz="13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72"/>
          </a:p>
        </p:txBody>
      </p:sp>
      <p:sp>
        <p:nvSpPr>
          <p:cNvPr id="326" name="Google Shape;326;g396d5c0f8e4_0_277"/>
          <p:cNvSpPr/>
          <p:nvPr/>
        </p:nvSpPr>
        <p:spPr>
          <a:xfrm>
            <a:off x="227050" y="2311125"/>
            <a:ext cx="6472500" cy="2667900"/>
          </a:xfrm>
          <a:prstGeom prst="wedgeRectCallout">
            <a:avLst>
              <a:gd fmla="val 89678" name="adj1"/>
              <a:gd fmla="val -84781" name="adj2"/>
            </a:avLst>
          </a:prstGeom>
          <a:solidFill>
            <a:srgbClr val="4285F4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Gera a sequência de saída com base na representação do codificador e nas palavras que já foram geradas</a:t>
            </a:r>
            <a:endParaRPr sz="1500"/>
          </a:p>
          <a:p>
            <a:pPr indent="-241300" lvl="0" marL="215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b="1" lang="pt-BR" sz="1800">
                <a:solidFill>
                  <a:schemeClr val="lt1"/>
                </a:solidFill>
              </a:rPr>
              <a:t>Camada de saída: </a:t>
            </a:r>
            <a:r>
              <a:rPr lang="pt-BR" sz="1800">
                <a:solidFill>
                  <a:schemeClr val="lt1"/>
                </a:solidFill>
              </a:rPr>
              <a:t>A saída final do decodificador é passada por uma camada linear e uma camada Softmax, que produz a probabilidade de cada palavra no vocabulário ser a próxima palavra na sequência. Assim, calcula as probabilidades de todas as palavras possíveis (Softmax)  no vocabulário, escolhe a mais provável, e a utiliza como parte da entrada para gerar a palavra seguinte, até atingir um token que sinalize o fim da frase.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327" name="Google Shape;327;g396d5c0f8e4_0_277"/>
          <p:cNvSpPr/>
          <p:nvPr/>
        </p:nvSpPr>
        <p:spPr>
          <a:xfrm>
            <a:off x="9286275" y="567197"/>
            <a:ext cx="1816200" cy="831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96d5c0f8e4_0_4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Arquiteturas </a:t>
            </a:r>
            <a:r>
              <a:rPr i="1" lang="pt-BR"/>
              <a:t>Decoder-Only</a:t>
            </a:r>
            <a:endParaRPr i="1"/>
          </a:p>
        </p:txBody>
      </p:sp>
      <p:sp>
        <p:nvSpPr>
          <p:cNvPr id="334" name="Google Shape;334;g396d5c0f8e4_0_4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5" name="Google Shape;335;g396d5c0f8e4_0_49"/>
          <p:cNvSpPr txBox="1"/>
          <p:nvPr/>
        </p:nvSpPr>
        <p:spPr>
          <a:xfrm>
            <a:off x="72050" y="1886400"/>
            <a:ext cx="7847400" cy="4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Esta é a arquitetura usada pelo ChatGPT, LLaMA, Claude e outros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 pesquisadores perceberam que, se o modelo for grande o suficiente, ele não precisa de um Encoder separado para entender o texto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 pode fazer tudo em uma única via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Encoder e o mecanismo de Cross-Attention são removidos. Sobra apenas o Decoder, que é empilhado dezenas de vezes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6" name="Google Shape;336;g396d5c0f8e4_0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1900" y="875725"/>
            <a:ext cx="4150100" cy="58665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7" name="Google Shape;337;g396d5c0f8e4_0_49"/>
          <p:cNvCxnSpPr/>
          <p:nvPr/>
        </p:nvCxnSpPr>
        <p:spPr>
          <a:xfrm flipH="1" rot="10800000">
            <a:off x="8571775" y="3036025"/>
            <a:ext cx="1435500" cy="19719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g396d5c0f8e4_0_49"/>
          <p:cNvCxnSpPr/>
          <p:nvPr/>
        </p:nvCxnSpPr>
        <p:spPr>
          <a:xfrm rot="10800000">
            <a:off x="8615275" y="3007125"/>
            <a:ext cx="1362900" cy="20298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g396d5c0f8e4_0_49"/>
          <p:cNvCxnSpPr/>
          <p:nvPr/>
        </p:nvCxnSpPr>
        <p:spPr>
          <a:xfrm flipH="1" rot="10800000">
            <a:off x="10455982" y="3025044"/>
            <a:ext cx="588000" cy="807900"/>
          </a:xfrm>
          <a:prstGeom prst="straightConnector1">
            <a:avLst/>
          </a:prstGeom>
          <a:noFill/>
          <a:ln cap="flat" cmpd="sng" w="468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g396d5c0f8e4_0_49"/>
          <p:cNvCxnSpPr/>
          <p:nvPr/>
        </p:nvCxnSpPr>
        <p:spPr>
          <a:xfrm rot="10800000">
            <a:off x="10470828" y="3013200"/>
            <a:ext cx="558300" cy="831600"/>
          </a:xfrm>
          <a:prstGeom prst="straightConnector1">
            <a:avLst/>
          </a:prstGeom>
          <a:noFill/>
          <a:ln cap="flat" cmpd="sng" w="468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g396d5c0f8e4_0_49"/>
          <p:cNvSpPr/>
          <p:nvPr/>
        </p:nvSpPr>
        <p:spPr>
          <a:xfrm>
            <a:off x="11921028" y="3413050"/>
            <a:ext cx="227400" cy="5247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96d5c0f8e4_0_30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Arquiteturas </a:t>
            </a:r>
            <a:r>
              <a:rPr i="1" lang="pt-BR"/>
              <a:t>Decoder-Only</a:t>
            </a:r>
            <a:endParaRPr/>
          </a:p>
        </p:txBody>
      </p:sp>
      <p:sp>
        <p:nvSpPr>
          <p:cNvPr id="348" name="Google Shape;348;g396d5c0f8e4_0_30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9" name="Google Shape;349;g396d5c0f8e4_0_300"/>
          <p:cNvSpPr txBox="1"/>
          <p:nvPr/>
        </p:nvSpPr>
        <p:spPr>
          <a:xfrm>
            <a:off x="347525" y="1997550"/>
            <a:ext cx="114288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Fusão de Entrada e Saída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Decoder-Only, não há separação entre "o texto que eu leio" e "o texto que eu escrevo"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Quando você envia um prompt (sua pergunta), o modelo simplesmente trata o seu prompt como o início de uma frase inacabada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 usa a Masked Self-Attention (Auto-Atenção Mascarada) para ler o seu prompt e prever qual é a próxima palavra mais provável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Depois, ele adiciona essa nova palavra à sequência e lê tudo de novo para prever a próxima, e assim por diante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96d5c0f8e4_0_30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Arquiteturas </a:t>
            </a:r>
            <a:r>
              <a:rPr i="1" lang="pt-BR"/>
              <a:t>Decoder-Only</a:t>
            </a:r>
            <a:endParaRPr/>
          </a:p>
        </p:txBody>
      </p:sp>
      <p:sp>
        <p:nvSpPr>
          <p:cNvPr id="356" name="Google Shape;356;g396d5c0f8e4_0_30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7" name="Google Shape;357;g396d5c0f8e4_0_309"/>
          <p:cNvSpPr txBox="1"/>
          <p:nvPr/>
        </p:nvSpPr>
        <p:spPr>
          <a:xfrm>
            <a:off x="347525" y="1997550"/>
            <a:ext cx="114288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É como o recurso de autocompletar do seu celular, mas em uma escala gigantesca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Você escreve "A capital do Brasil é", e ele simplesmente continua a sequência escrevendo "Brasília"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 não precisa de um bloco separado para "entender" a sua frase primeiro; o entendimento acontece organicamente enquanto ele tenta prever a continuação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96d5c0f8e4_0_31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Diferenças</a:t>
            </a:r>
            <a:endParaRPr/>
          </a:p>
        </p:txBody>
      </p:sp>
      <p:sp>
        <p:nvSpPr>
          <p:cNvPr id="364" name="Google Shape;364;g396d5c0f8e4_0_3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65" name="Google Shape;365;g396d5c0f8e4_0_3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8225" y="1753375"/>
            <a:ext cx="7306725" cy="49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96d5c0f8e4_0_319"/>
          <p:cNvSpPr txBox="1"/>
          <p:nvPr/>
        </p:nvSpPr>
        <p:spPr>
          <a:xfrm>
            <a:off x="10543625" y="3717525"/>
            <a:ext cx="1389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Segundo Gemini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96d5c0f8e4_0_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Diferenças</a:t>
            </a:r>
            <a:endParaRPr/>
          </a:p>
        </p:txBody>
      </p:sp>
      <p:sp>
        <p:nvSpPr>
          <p:cNvPr id="373" name="Google Shape;373;g396d5c0f8e4_0_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4" name="Google Shape;374;g396d5c0f8e4_0_0"/>
          <p:cNvSpPr txBox="1"/>
          <p:nvPr/>
        </p:nvSpPr>
        <p:spPr>
          <a:xfrm>
            <a:off x="11022075" y="3659525"/>
            <a:ext cx="1098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Segundo Gemini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5" name="Google Shape;375;g396d5c0f8e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037" y="1688625"/>
            <a:ext cx="9477939" cy="516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2023-07-05T20:15:16Z</dcterms:created>
  <dc:creator>Patrick Bonnereau</dc:creator>
</cp:coreProperties>
</file>