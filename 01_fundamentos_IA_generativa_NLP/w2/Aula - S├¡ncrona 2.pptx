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</p:sldIdLst>
  <p:sldSz cy="6858000" cx="12192000"/>
  <p:notesSz cx="6858000" cy="9144000"/>
  <p:embeddedFontLst>
    <p:embeddedFont>
      <p:font typeface="Roboto"/>
      <p:regular r:id="rId43"/>
      <p:bold r:id="rId44"/>
      <p:italic r:id="rId45"/>
      <p:boldItalic r:id="rId46"/>
    </p:embeddedFont>
    <p:embeddedFont>
      <p:font typeface="Merriweather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51" roundtripDataSignature="AMtx7mh/jp1mxxHqK/HWtZTTrLpIklST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Roboto-bold.fntdata"/><Relationship Id="rId43" Type="http://schemas.openxmlformats.org/officeDocument/2006/relationships/font" Target="fonts/Roboto-regular.fntdata"/><Relationship Id="rId46" Type="http://schemas.openxmlformats.org/officeDocument/2006/relationships/font" Target="fonts/Roboto-boldItalic.fntdata"/><Relationship Id="rId45" Type="http://schemas.openxmlformats.org/officeDocument/2006/relationships/font" Target="fonts/Roboto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Merriweather-bold.fntdata"/><Relationship Id="rId47" Type="http://schemas.openxmlformats.org/officeDocument/2006/relationships/font" Target="fonts/Merriweather-regular.fntdata"/><Relationship Id="rId49" Type="http://schemas.openxmlformats.org/officeDocument/2006/relationships/font" Target="fonts/Merriweather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customschemas.google.com/relationships/presentationmetadata" Target="metadata"/><Relationship Id="rId50" Type="http://schemas.openxmlformats.org/officeDocument/2006/relationships/font" Target="fonts/Merriweather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yusu.substack.com/p/language-agents" TargetMode="External"/><Relationship Id="rId3" Type="http://schemas.openxmlformats.org/officeDocument/2006/relationships/hyperlink" Target="https://llmagents-learning.org/slides/llm_agent_history.pdf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e5b3c3f154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2" name="Google Shape;72;g1e5b3c3f154_0_1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d533c25ad3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g2d533c25ad3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" name="Google Shape;81;g2d533c25ad3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6da522ed1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g396da522ed1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96da522ed1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96da522ed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g396da522ed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96da522ed1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96da522ed1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g396da522ed1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96da522ed1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6a27ec8f6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" name="Google Shape;121;g396a27ec8f6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g396a27ec8f6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6da522ed1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96da522ed1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96da522ed1_0_4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6da522ed1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96da522ed1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g396da522ed1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9898bee0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89898bee0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89898bee09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6db72cbc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96db72cbc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96db72cbc0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6db72cbc0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96db72cbc0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g396db72cbc0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6db72cbc0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g396db72cbc0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96db72cbc0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89898bee09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" name="Google Shape;184;g389898bee09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g389898bee09_0_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6db72cbc0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g396db72cbc0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g396db72cbc0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96db72cbc0_0_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396db72cbc0_0_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96db72cbc0_0_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6db72cbc0_0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396db72cbc0_0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9" name="Google Shape;209;g396db72cbc0_0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96db72cbc0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g396db72cbc0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g396db72cbc0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6db72cbc0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g396db72cbc0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96db72cbc0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96db72cbc0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g396db72cbc0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96db72cbc0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96db72cbc0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g396db72cbc0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96db72cbc0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6db72cbc0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g396db72cbc0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7" name="Google Shape;257;g396db72cbc0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89898bee09_0_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g389898bee09_0_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8" name="Google Shape;268;g389898bee09_0_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96db72cbc0_0_1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" name="Google Shape;275;g396db72cbc0_0_1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g396db72cbc0_0_1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6db72cbc0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g396db72cbc0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g396db72cbc0_0_1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96a27ec8f6_0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g396a27ec8f6_0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4" name="Google Shape;294;g396a27ec8f6_0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96db72cbc0_0_1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g396db72cbc0_0_1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96db72cbc0_0_1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89898bee09_0_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g389898bee09_0_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g389898bee09_0_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96db72cbc0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96db72cbc0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8" name="Google Shape;318;g396db72cbc0_0_1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96db72cbc0_0_1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6" name="Google Shape;326;g396db72cbc0_0_1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g396db72cbc0_0_1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6db72cbc0_0_1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g396db72cbc0_0_1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396db72cbc0_0_1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6db72cbc0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g396db72cbc0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5" name="Google Shape;345;g396db72cbc0_0_1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6db72cbc0_0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3" name="Google Shape;353;g396db72cbc0_0_1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4" name="Google Shape;354;g396db72cbc0_0_19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96db72cbc0_0_2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396db72cbc0_0_2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396db72cbc0_0_2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96db72cbc0_0_2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g396db72cbc0_0_2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2" name="Google Shape;372;g396db72cbc0_0_24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96db72cbc0_0_2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g396db72cbc0_0_2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96db72cbc0_0_2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96db72cbc0_0_2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9" name="Google Shape;389;g396db72cbc0_0_2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0" name="Google Shape;390;g396db72cbc0_0_20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96db72cbc0_0_2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g396db72cbc0_0_2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9" name="Google Shape;399;g396db72cbc0_0_21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6db72cbc0_0_2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g396db72cbc0_0_2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2"/>
              </a:rPr>
              <a:t>https://yusu.substack.com/p/language-agents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rPr lang="pt-BR" u="sng">
                <a:solidFill>
                  <a:schemeClr val="hlink"/>
                </a:solidFill>
                <a:hlinkClick r:id="rId3"/>
              </a:rPr>
              <a:t>https://llmagents-learning.org/slides/llm_agent_history.pdf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9" name="Google Shape;409;g396db72cbc0_0_2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1e5b3c3f154_0_446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1e5b3c3f154_0_44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g1e5b3c3f154_0_44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1e5b3c3f154_0_47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1e5b3c3f154_0_47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1e5b3c3f154_0_47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1e5b3c3f154_0_47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g1e5b3c3f154_0_47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1e5b3c3f154_0_423"/>
          <p:cNvSpPr/>
          <p:nvPr/>
        </p:nvSpPr>
        <p:spPr>
          <a:xfrm>
            <a:off x="-167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5" name="Google Shape;25;g1e5b3c3f154_0_423"/>
          <p:cNvSpPr txBox="1"/>
          <p:nvPr>
            <p:ph type="ctr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6" name="Google Shape;26;g1e5b3c3f154_0_423"/>
          <p:cNvSpPr txBox="1"/>
          <p:nvPr>
            <p:ph idx="1" type="subTitle"/>
          </p:nvPr>
        </p:nvSpPr>
        <p:spPr>
          <a:xfrm>
            <a:off x="415600" y="2504747"/>
            <a:ext cx="5656800" cy="9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00"/>
              <a:buNone/>
              <a:defRPr sz="21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27" name="Google Shape;27;g1e5b3c3f154_0_42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1e5b3c3f154_0_428"/>
          <p:cNvSpPr/>
          <p:nvPr/>
        </p:nvSpPr>
        <p:spPr>
          <a:xfrm>
            <a:off x="0" y="64132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30" name="Google Shape;30;g1e5b3c3f154_0_428"/>
          <p:cNvSpPr/>
          <p:nvPr/>
        </p:nvSpPr>
        <p:spPr>
          <a:xfrm>
            <a:off x="0" y="0"/>
            <a:ext cx="12192029" cy="5863987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31" name="Google Shape;31;g1e5b3c3f154_0_428"/>
          <p:cNvSpPr txBox="1"/>
          <p:nvPr>
            <p:ph type="title"/>
          </p:nvPr>
        </p:nvSpPr>
        <p:spPr>
          <a:xfrm>
            <a:off x="415600" y="719633"/>
            <a:ext cx="11360700" cy="17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g1e5b3c3f154_0_42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1e5b3c3f154_0_433"/>
          <p:cNvSpPr/>
          <p:nvPr/>
        </p:nvSpPr>
        <p:spPr>
          <a:xfrm>
            <a:off x="0" y="0"/>
            <a:ext cx="57519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1e5b3c3f154_0_433"/>
          <p:cNvSpPr/>
          <p:nvPr/>
        </p:nvSpPr>
        <p:spPr>
          <a:xfrm>
            <a:off x="0" y="58833"/>
            <a:ext cx="5751356" cy="5865687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36" name="Google Shape;36;g1e5b3c3f154_0_433"/>
          <p:cNvSpPr/>
          <p:nvPr/>
        </p:nvSpPr>
        <p:spPr>
          <a:xfrm>
            <a:off x="-167" y="0"/>
            <a:ext cx="5755723" cy="5860653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7" name="Google Shape;37;g1e5b3c3f154_0_433"/>
          <p:cNvSpPr txBox="1"/>
          <p:nvPr>
            <p:ph type="title"/>
          </p:nvPr>
        </p:nvSpPr>
        <p:spPr>
          <a:xfrm>
            <a:off x="415633" y="667900"/>
            <a:ext cx="4941900" cy="3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g1e5b3c3f154_0_433"/>
          <p:cNvSpPr txBox="1"/>
          <p:nvPr>
            <p:ph idx="1" type="body"/>
          </p:nvPr>
        </p:nvSpPr>
        <p:spPr>
          <a:xfrm>
            <a:off x="6192900" y="667900"/>
            <a:ext cx="5555100" cy="54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39" name="Google Shape;39;g1e5b3c3f154_0_4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1e5b3c3f154_0_440"/>
          <p:cNvSpPr/>
          <p:nvPr/>
        </p:nvSpPr>
        <p:spPr>
          <a:xfrm>
            <a:off x="0" y="0"/>
            <a:ext cx="12192000" cy="170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1e5b3c3f154_0_44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g1e5b3c3f154_0_440"/>
          <p:cNvSpPr txBox="1"/>
          <p:nvPr>
            <p:ph idx="1" type="body"/>
          </p:nvPr>
        </p:nvSpPr>
        <p:spPr>
          <a:xfrm>
            <a:off x="4156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4" name="Google Shape;44;g1e5b3c3f154_0_440"/>
          <p:cNvSpPr txBox="1"/>
          <p:nvPr>
            <p:ph idx="2" type="body"/>
          </p:nvPr>
        </p:nvSpPr>
        <p:spPr>
          <a:xfrm>
            <a:off x="6443200" y="2007600"/>
            <a:ext cx="5333100" cy="41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45" name="Google Shape;45;g1e5b3c3f154_0_44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e5b3c3f154_0_450"/>
          <p:cNvSpPr/>
          <p:nvPr/>
        </p:nvSpPr>
        <p:spPr>
          <a:xfrm>
            <a:off x="0" y="0"/>
            <a:ext cx="50193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1e5b3c3f154_0_450"/>
          <p:cNvSpPr txBox="1"/>
          <p:nvPr>
            <p:ph type="title"/>
          </p:nvPr>
        </p:nvSpPr>
        <p:spPr>
          <a:xfrm>
            <a:off x="415633" y="667900"/>
            <a:ext cx="4170000" cy="24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g1e5b3c3f154_0_450"/>
          <p:cNvSpPr txBox="1"/>
          <p:nvPr>
            <p:ph idx="1" type="body"/>
          </p:nvPr>
        </p:nvSpPr>
        <p:spPr>
          <a:xfrm>
            <a:off x="415600" y="3187533"/>
            <a:ext cx="4170000" cy="306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0" name="Google Shape;50;g1e5b3c3f154_0_4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1e5b3c3f154_0_455"/>
          <p:cNvSpPr txBox="1"/>
          <p:nvPr>
            <p:ph type="title"/>
          </p:nvPr>
        </p:nvSpPr>
        <p:spPr>
          <a:xfrm>
            <a:off x="415567" y="1064800"/>
            <a:ext cx="8330400" cy="47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3" name="Google Shape;53;g1e5b3c3f154_0_45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1e5b3c3f154_0_458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1e5b3c3f154_0_458"/>
          <p:cNvSpPr txBox="1"/>
          <p:nvPr>
            <p:ph type="title"/>
          </p:nvPr>
        </p:nvSpPr>
        <p:spPr>
          <a:xfrm>
            <a:off x="415067" y="667900"/>
            <a:ext cx="4939200" cy="27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7" name="Google Shape;57;g1e5b3c3f154_0_458"/>
          <p:cNvSpPr txBox="1"/>
          <p:nvPr>
            <p:ph idx="1" type="subTitle"/>
          </p:nvPr>
        </p:nvSpPr>
        <p:spPr>
          <a:xfrm>
            <a:off x="406400" y="3502300"/>
            <a:ext cx="4939200" cy="12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100"/>
              <a:buNone/>
              <a:defRPr sz="21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8" name="Google Shape;58;g1e5b3c3f154_0_458"/>
          <p:cNvSpPr txBox="1"/>
          <p:nvPr>
            <p:ph idx="2" type="body"/>
          </p:nvPr>
        </p:nvSpPr>
        <p:spPr>
          <a:xfrm>
            <a:off x="6505367" y="667900"/>
            <a:ext cx="5271900" cy="54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■"/>
              <a:defRPr/>
            </a:lvl9pPr>
          </a:lstStyle>
          <a:p/>
        </p:txBody>
      </p:sp>
      <p:sp>
        <p:nvSpPr>
          <p:cNvPr id="59" name="Google Shape;59;g1e5b3c3f154_0_4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e5b3c3f154_0_464"/>
          <p:cNvSpPr/>
          <p:nvPr/>
        </p:nvSpPr>
        <p:spPr>
          <a:xfrm>
            <a:off x="0" y="5825333"/>
            <a:ext cx="12192000" cy="1032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1e5b3c3f154_0_464"/>
          <p:cNvSpPr txBox="1"/>
          <p:nvPr>
            <p:ph idx="1" type="body"/>
          </p:nvPr>
        </p:nvSpPr>
        <p:spPr>
          <a:xfrm>
            <a:off x="415600" y="6028533"/>
            <a:ext cx="106392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63" name="Google Shape;63;g1e5b3c3f154_0_46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e5b3c3f154_0_468"/>
          <p:cNvSpPr txBox="1"/>
          <p:nvPr>
            <p:ph hasCustomPrompt="1" type="title"/>
          </p:nvPr>
        </p:nvSpPr>
        <p:spPr>
          <a:xfrm>
            <a:off x="415667" y="1108233"/>
            <a:ext cx="7113300" cy="16596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300"/>
              <a:buNone/>
              <a:defRPr sz="133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g1e5b3c3f154_0_468"/>
          <p:cNvSpPr txBox="1"/>
          <p:nvPr>
            <p:ph idx="1" type="body"/>
          </p:nvPr>
        </p:nvSpPr>
        <p:spPr>
          <a:xfrm>
            <a:off x="415600" y="2828567"/>
            <a:ext cx="7113300" cy="12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700"/>
              <a:buChar char="●"/>
              <a:defRPr>
                <a:solidFill>
                  <a:schemeClr val="accent2"/>
                </a:solidFill>
              </a:defRPr>
            </a:lvl1pPr>
            <a:lvl2pPr indent="-3238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2pPr>
            <a:lvl3pPr indent="-3238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3pPr>
            <a:lvl4pPr indent="-3238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4pPr>
            <a:lvl5pPr indent="-3238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5pPr>
            <a:lvl6pPr indent="-3238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6pPr>
            <a:lvl7pPr indent="-3238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●"/>
              <a:defRPr>
                <a:solidFill>
                  <a:schemeClr val="accent2"/>
                </a:solidFill>
              </a:defRPr>
            </a:lvl7pPr>
            <a:lvl8pPr indent="-3238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○"/>
              <a:defRPr>
                <a:solidFill>
                  <a:schemeClr val="accent2"/>
                </a:solidFill>
              </a:defRPr>
            </a:lvl8pPr>
            <a:lvl9pPr indent="-3238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7" name="Google Shape;67;g1e5b3c3f154_0_46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e5b3c3f154_0_47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1e5b3c3f154_0_41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700"/>
              <a:buFont typeface="Merriweather"/>
              <a:buNone/>
              <a:defRPr b="0" i="0" sz="37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1" name="Google Shape;11;g1e5b3c3f154_0_41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65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  <a:defRPr b="0" i="0" sz="17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238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238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238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238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238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238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○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238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■"/>
              <a:defRPr b="0" i="0" sz="15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2" name="Google Shape;12;g1e5b3c3f154_0_41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Relationship Id="rId4" Type="http://schemas.openxmlformats.org/officeDocument/2006/relationships/hyperlink" Target="https://huggingface.co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Relationship Id="rId4" Type="http://schemas.openxmlformats.org/officeDocument/2006/relationships/hyperlink" Target="https://huggingface.co/docs/transformers/en/index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0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0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e5b3c3f154_0_189"/>
          <p:cNvSpPr txBox="1"/>
          <p:nvPr/>
        </p:nvSpPr>
        <p:spPr>
          <a:xfrm>
            <a:off x="108151" y="5088650"/>
            <a:ext cx="9714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pt-BR" sz="24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Prof. Dr. Rodrigo Bonacin</a:t>
            </a:r>
            <a:endParaRPr b="1" i="0" sz="24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pt-BR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rbonacin@unicamp.br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g1e5b3c3f154_0_189"/>
          <p:cNvSpPr txBox="1"/>
          <p:nvPr>
            <p:ph type="title"/>
          </p:nvPr>
        </p:nvSpPr>
        <p:spPr>
          <a:xfrm>
            <a:off x="108150" y="3100700"/>
            <a:ext cx="11975700" cy="185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Aula Síncrona 2: 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4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Introdução às LLMs, exemplos e dúvidas</a:t>
            </a:r>
            <a:endParaRPr b="1" sz="4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g1e5b3c3f154_0_18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675" y="270775"/>
            <a:ext cx="977781" cy="1108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g1e5b3c3f154_0_189" title="logo-ic-unicamp-slant-line-wht-sky-ora-048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1950" y="194775"/>
            <a:ext cx="1471758" cy="126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d533c25ad3_0_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Bibliografia e </a:t>
            </a:r>
            <a:r>
              <a:rPr lang="pt-BR"/>
              <a:t>História</a:t>
            </a:r>
            <a:r>
              <a:rPr lang="pt-BR"/>
              <a:t> Recente</a:t>
            </a:r>
            <a:endParaRPr/>
          </a:p>
        </p:txBody>
      </p:sp>
      <p:sp>
        <p:nvSpPr>
          <p:cNvPr id="84" name="Google Shape;84;g2d533c25ad3_0_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85" name="Google Shape;85;g2d533c25ad3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2d533c25ad3_0_0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7" name="Google Shape;87;g2d533c25ad3_0_0"/>
          <p:cNvPicPr preferRelativeResize="0"/>
          <p:nvPr/>
        </p:nvPicPr>
        <p:blipFill rotWithShape="1">
          <a:blip r:embed="rId4">
            <a:alphaModFix/>
          </a:blip>
          <a:srcRect b="-11694" l="0" r="-6781" t="0"/>
          <a:stretch/>
        </p:blipFill>
        <p:spPr>
          <a:xfrm>
            <a:off x="1196325" y="2180650"/>
            <a:ext cx="9799302" cy="437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96da522ed1_0_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Tarefas</a:t>
            </a:r>
            <a:endParaRPr/>
          </a:p>
        </p:txBody>
      </p:sp>
      <p:sp>
        <p:nvSpPr>
          <p:cNvPr id="94" name="Google Shape;94;g396da522ed1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95" name="Google Shape;95;g396da522ed1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g396da522ed1_0_4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7" name="Google Shape;97;g396da522ed1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7200" y="1753375"/>
            <a:ext cx="6832725" cy="493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96da522ed1_0_1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pt-BR"/>
              <a:t>Bag-of-Words</a:t>
            </a:r>
            <a:endParaRPr i="1"/>
          </a:p>
        </p:txBody>
      </p:sp>
      <p:sp>
        <p:nvSpPr>
          <p:cNvPr id="104" name="Google Shape;104;g396da522ed1_0_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05" name="Google Shape;105;g396da522ed1_0_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g396da522ed1_0_14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07" name="Google Shape;107;g396da522ed1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8500" y="1893975"/>
            <a:ext cx="5715000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96da522ed1_0_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38500" y="3230975"/>
            <a:ext cx="5855225" cy="2735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96da522ed1_0_2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i="1" lang="pt-BR"/>
              <a:t>Bag-of-Words</a:t>
            </a:r>
            <a:endParaRPr i="1"/>
          </a:p>
        </p:txBody>
      </p:sp>
      <p:sp>
        <p:nvSpPr>
          <p:cNvPr id="115" name="Google Shape;115;g396da522ed1_0_2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16" name="Google Shape;116;g396da522ed1_0_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96da522ed1_0_26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8" name="Google Shape;118;g396da522ed1_0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5775" y="2082477"/>
            <a:ext cx="7273526" cy="351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6a27ec8f6_0_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</a:t>
            </a:r>
            <a:r>
              <a:rPr lang="pt-BR"/>
              <a:t>etores Numéricos Densos -</a:t>
            </a:r>
            <a:r>
              <a:rPr i="1" lang="pt-BR"/>
              <a:t> word2vec</a:t>
            </a:r>
            <a:endParaRPr i="1"/>
          </a:p>
        </p:txBody>
      </p:sp>
      <p:sp>
        <p:nvSpPr>
          <p:cNvPr id="125" name="Google Shape;125;g396a27ec8f6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6" name="Google Shape;126;g396a27ec8f6_0_4"/>
          <p:cNvSpPr txBox="1"/>
          <p:nvPr/>
        </p:nvSpPr>
        <p:spPr>
          <a:xfrm>
            <a:off x="347525" y="1997550"/>
            <a:ext cx="11428800" cy="40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2013: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 word2vec aprende representações semânticas de palavras treinando em vastas quantidades de dados textuais, como toda a Wikipédia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Redes Neurais que aprendem representações de palavras analisando sua coocorrência em grandes volumes de texto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Continuous Bag of Words (CBOW)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O modelo prevê uma palavra-alvo com base nas palavras de contexto ao redor. Geralmente é mais rápido e funciona bem para palavras frequentes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Skip-gram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O modelo faz o inverso; ele pega uma única palavra e tenta prever as palavras de contexto ao redor. Isso normalmente é melhor para conjuntos de dados menores e para representar palavras raras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6da522ed1_0_4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Vetores Numéricos Densos -</a:t>
            </a:r>
            <a:r>
              <a:rPr i="1" lang="pt-BR"/>
              <a:t> word2vec</a:t>
            </a:r>
            <a:endParaRPr i="1"/>
          </a:p>
        </p:txBody>
      </p:sp>
      <p:sp>
        <p:nvSpPr>
          <p:cNvPr id="133" name="Google Shape;133;g396da522ed1_0_4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34" name="Google Shape;134;g396da522ed1_0_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96da522ed1_0_45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36" name="Google Shape;136;g396da522ed1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9275" y="2434850"/>
            <a:ext cx="7433450" cy="306010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396da522ed1_0_45"/>
          <p:cNvSpPr txBox="1"/>
          <p:nvPr/>
        </p:nvSpPr>
        <p:spPr>
          <a:xfrm>
            <a:off x="2108075" y="5681125"/>
            <a:ext cx="79758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Os valores dos </a:t>
            </a:r>
            <a:r>
              <a:rPr b="1" i="1" lang="pt-BR"/>
              <a:t>embeddings </a:t>
            </a:r>
            <a:r>
              <a:rPr b="1" lang="pt-BR"/>
              <a:t>representam propriedades que são usadas para representar palavras. Podemos simplificar demais imaginando que as dimensões representam conceitos (o que não é verdade), mas isso ajuda a expressar a ideia.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96da522ed1_0_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Tipos de </a:t>
            </a:r>
            <a:r>
              <a:rPr i="1" lang="pt-BR"/>
              <a:t>Embeddings</a:t>
            </a:r>
            <a:r>
              <a:rPr lang="pt-BR"/>
              <a:t> </a:t>
            </a:r>
            <a:endParaRPr i="1"/>
          </a:p>
        </p:txBody>
      </p:sp>
      <p:sp>
        <p:nvSpPr>
          <p:cNvPr id="144" name="Google Shape;144;g396da522ed1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45" name="Google Shape;145;g396da522ed1_0_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96da522ed1_0_58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g396da522ed1_0_5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67588" y="1965400"/>
            <a:ext cx="6856825" cy="4776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9898bee09_0_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Qual a Definição de LLM ?</a:t>
            </a:r>
            <a:endParaRPr/>
          </a:p>
        </p:txBody>
      </p:sp>
      <p:sp>
        <p:nvSpPr>
          <p:cNvPr id="154" name="Google Shape;154;g389898bee09_0_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5" name="Google Shape;155;g389898bee09_0_1"/>
          <p:cNvSpPr txBox="1"/>
          <p:nvPr/>
        </p:nvSpPr>
        <p:spPr>
          <a:xfrm>
            <a:off x="347525" y="1997550"/>
            <a:ext cx="11428800" cy="43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Pelo senso comum modelos baseados em Transformers e grandes, são considerados de LLMs, mas temos que refletir 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 se criássemos um modelo com as mesmas capacidades do GPT-4, mas 10 vezes menor e sem usar transformers? Esse modelo ficaria fora da categoria LLM?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lançássemos um modelo tão grande quanto o GPT-4, capaz de realizar classificação de texto com precisão, mas sem nenhuma capacidade generativa, seria comsiderado um LLM?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“Large” não é uma definição precisa (grande hoje pode ser pequeno amanhã)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Existem outros usos além de gerar texto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 prender a uma arquitetura, como transformers, pode não ser duradouro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6db72cbc0_0_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Características</a:t>
            </a:r>
            <a:r>
              <a:rPr lang="pt-BR"/>
              <a:t> de LLMs</a:t>
            </a:r>
            <a:endParaRPr/>
          </a:p>
        </p:txBody>
      </p:sp>
      <p:sp>
        <p:nvSpPr>
          <p:cNvPr id="162" name="Google Shape;162;g396db72cbc0_0_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3" name="Google Shape;163;g396db72cbc0_0_4"/>
          <p:cNvSpPr txBox="1"/>
          <p:nvPr/>
        </p:nvSpPr>
        <p:spPr>
          <a:xfrm>
            <a:off x="347525" y="1997550"/>
            <a:ext cx="114288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modemos de aprendizado de máquina “tradicionais” envolver uma etapa de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LLMs normalmente incluem pelo menos dois passos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Language modeling</a:t>
            </a:r>
            <a:endParaRPr i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pré-treinamento, consome a maior parte do tempo de computação e treinamento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 LLM é treinado em um vasto corpus de texto da internet, permitindo que o modelo aprenda gramática, contexto e padrões de linguagem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Esta ampla fase de treinamento ainda não é direcionada para tarefas ou aplicações específicas além de prever a próxima palavra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modelo resultante é frequentemente chamado de </a:t>
            </a:r>
            <a:r>
              <a:rPr i="1"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foundation model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ou modelo base. Esses modelos geralmente não seguem instruções.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6db72cbc0_0_1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Características de LLMs</a:t>
            </a:r>
            <a:endParaRPr/>
          </a:p>
        </p:txBody>
      </p:sp>
      <p:sp>
        <p:nvSpPr>
          <p:cNvPr id="170" name="Google Shape;170;g396db72cbc0_0_1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1" name="Google Shape;171;g396db72cbc0_0_12"/>
          <p:cNvSpPr txBox="1"/>
          <p:nvPr/>
        </p:nvSpPr>
        <p:spPr>
          <a:xfrm>
            <a:off x="347525" y="1997550"/>
            <a:ext cx="114288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modemos de aprendizado de máquina “tradicionais” envolver uma etapa de treinamento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 LLMs normalmente incluem pelo menos dois passos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Ajuste Fino (</a:t>
            </a:r>
            <a:r>
              <a:rPr i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Fine-tuning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</a:t>
            </a: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ajuste fino (ou, às vezes, o pós-treinamento) envolve o uso do modelo previamente treinado e o treinamento adicional em uma tarefa mais específica.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Isso permite que o LLM se adapte a tarefas específicas ou exiba o comportamento desejado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pt-BR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 exemplo: ajustar um modelo base para que ele tenha um bom desempenho em uma tarefa de classificação ou para seguir instruções. Isso economiza uma enorme quantidade de recursos, pois a fase de pré-treinamento é bastante custosa e geralmente requer dados e recursos computacionais que estão fora do alcance da maioria das pessoas e organizações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6db72cbc0_0_2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Características de LLMs</a:t>
            </a:r>
            <a:endParaRPr/>
          </a:p>
        </p:txBody>
      </p:sp>
      <p:sp>
        <p:nvSpPr>
          <p:cNvPr id="178" name="Google Shape;178;g396db72cbc0_0_2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79" name="Google Shape;179;g396db72cbc0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350" y="2614075"/>
            <a:ext cx="10832675" cy="29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g396db72cbc0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g396db72cbc0_0_21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9898bee09_0_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Desenvolvimento e uso </a:t>
            </a:r>
            <a:r>
              <a:rPr lang="pt-BR"/>
              <a:t>responsável</a:t>
            </a:r>
            <a:r>
              <a:rPr lang="pt-BR"/>
              <a:t> ​​do LLM</a:t>
            </a:r>
            <a:endParaRPr/>
          </a:p>
        </p:txBody>
      </p:sp>
      <p:sp>
        <p:nvSpPr>
          <p:cNvPr id="188" name="Google Shape;188;g389898bee09_0_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9" name="Google Shape;189;g389898bee09_0_8"/>
          <p:cNvSpPr txBox="1"/>
          <p:nvPr/>
        </p:nvSpPr>
        <p:spPr>
          <a:xfrm>
            <a:off x="347525" y="1997550"/>
            <a:ext cx="11428800" cy="34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Viés e Imparcialidade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LLMs são treinados com grandes quantidades de dados que podem conter vieses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LLMs podem aprender com esses vieses, começar a reproduzi-los e potencialmente amplificá-los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Como os dados com os quais os LLMs são treinados raramente são compartilhados, permanece incerto quais vieses potenciais eles podem conter, a menos que você os teste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6db72cbc0_0_3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Desenvolvimento e uso responsável ​​do LLM</a:t>
            </a:r>
            <a:endParaRPr/>
          </a:p>
        </p:txBody>
      </p:sp>
      <p:sp>
        <p:nvSpPr>
          <p:cNvPr id="196" name="Google Shape;196;g396db72cbc0_0_3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7" name="Google Shape;197;g396db72cbc0_0_33"/>
          <p:cNvSpPr txBox="1"/>
          <p:nvPr/>
        </p:nvSpPr>
        <p:spPr>
          <a:xfrm>
            <a:off x="347525" y="1997550"/>
            <a:ext cx="11428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Transparência e responsabilidade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Nem sempre é claro quando você está conversando com um humano ou com um LLM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.Assim, o uso de LLMs na interação com humanos pode ter consequências indesejadas quando não há um humano envolvido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Por exemplo, aplicativos baseados em LLM usados ​​na área médica podem ser regulamentados como dispositivos médicos, já que podem afetar o bem-estar de um paciente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6db72cbc0_0_4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Desenvolvimento e uso responsável ​​do LLM</a:t>
            </a:r>
            <a:endParaRPr/>
          </a:p>
        </p:txBody>
      </p:sp>
      <p:sp>
        <p:nvSpPr>
          <p:cNvPr id="204" name="Google Shape;204;g396db72cbc0_0_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5" name="Google Shape;205;g396db72cbc0_0_41"/>
          <p:cNvSpPr txBox="1"/>
          <p:nvPr/>
        </p:nvSpPr>
        <p:spPr>
          <a:xfrm>
            <a:off x="347525" y="1997550"/>
            <a:ext cx="1142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Geração de conteúdo prejudicial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Uma LLM não gera necessariamente conteúdo verídico e pode produzir textos incorretos com bastante segurança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Além disso, ela pode ser usada para gerar notícias falsas, artigos e outras fontes de informação enganosas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96db72cbc0_0_5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Desenvolvimento e uso responsável ​​do LLM</a:t>
            </a:r>
            <a:endParaRPr/>
          </a:p>
        </p:txBody>
      </p:sp>
      <p:sp>
        <p:nvSpPr>
          <p:cNvPr id="212" name="Google Shape;212;g396db72cbc0_0_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3" name="Google Shape;213;g396db72cbc0_0_50"/>
          <p:cNvSpPr txBox="1"/>
          <p:nvPr/>
        </p:nvSpPr>
        <p:spPr>
          <a:xfrm>
            <a:off x="347525" y="1997550"/>
            <a:ext cx="11428800" cy="3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Propriedade intelectual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 resultado de um LLM é propriedade intelectual sua ou do criador do LLM?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Quando o resultado é semelhante a uma frase nos dados de treinamento, a propriedade intelectual pertence ao autor dessa frase?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Sem acesso aos dados de treinamento, permanece incerto quando o material protegido por direitos autorais está sendo usado pelo LLM</a:t>
            </a:r>
            <a:endParaRPr b="0" i="0" sz="2700" u="none" cap="none" strike="noStrik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6db72cbc0_0_5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Desenvolvimento e uso responsável ​​do LLM</a:t>
            </a:r>
            <a:endParaRPr/>
          </a:p>
        </p:txBody>
      </p:sp>
      <p:sp>
        <p:nvSpPr>
          <p:cNvPr id="220" name="Google Shape;220;g396db72cbc0_0_5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1" name="Google Shape;221;g396db72cbc0_0_58"/>
          <p:cNvSpPr txBox="1"/>
          <p:nvPr/>
        </p:nvSpPr>
        <p:spPr>
          <a:xfrm>
            <a:off x="347525" y="1997550"/>
            <a:ext cx="1142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Regulamentação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Não existe ainda uma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regulação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suficientemente madura, mas existem diversas iniciativas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 tecnologia está evoluindo muito rápido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Interesses nem sempre são claros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6db72cbc0_0_6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Recursos Computacionais </a:t>
            </a:r>
            <a:endParaRPr/>
          </a:p>
        </p:txBody>
      </p:sp>
      <p:sp>
        <p:nvSpPr>
          <p:cNvPr id="228" name="Google Shape;228;g396db72cbc0_0_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9" name="Google Shape;229;g396db72cbc0_0_66"/>
          <p:cNvSpPr txBox="1"/>
          <p:nvPr/>
        </p:nvSpPr>
        <p:spPr>
          <a:xfrm>
            <a:off x="347525" y="1997550"/>
            <a:ext cx="11428800" cy="217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Fazer o pré-treinamento é muito caro e requer muitos recursos computacionais 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Os exercícios e práticas serão executáveis no Google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Caso possua um computador com uma boa GPU, é possível executar mais rápido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6db72cbc0_0_7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Proprietários versus Públicos</a:t>
            </a:r>
            <a:endParaRPr/>
          </a:p>
        </p:txBody>
      </p:sp>
      <p:sp>
        <p:nvSpPr>
          <p:cNvPr id="236" name="Google Shape;236;g396db72cbc0_0_7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7" name="Google Shape;237;g396db72cbc0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13" y="2724850"/>
            <a:ext cx="8989325" cy="29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96db72cbc0_0_73"/>
          <p:cNvSpPr txBox="1"/>
          <p:nvPr/>
        </p:nvSpPr>
        <p:spPr>
          <a:xfrm>
            <a:off x="1858750" y="5848875"/>
            <a:ext cx="835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Acesso aos modelos Proprietários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39" name="Google Shape;239;g396db72cbc0_0_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396db72cbc0_0_73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g396db72cbc0_0_73"/>
          <p:cNvSpPr/>
          <p:nvPr/>
        </p:nvSpPr>
        <p:spPr>
          <a:xfrm>
            <a:off x="9557700" y="2082475"/>
            <a:ext cx="2406900" cy="2722500"/>
          </a:xfrm>
          <a:prstGeom prst="wedgeRectCallout">
            <a:avLst>
              <a:gd fmla="val -64403" name="adj1"/>
              <a:gd fmla="val 64489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55">
                <a:solidFill>
                  <a:srgbClr val="FFFFFF"/>
                </a:solidFill>
              </a:rPr>
              <a:t>Positivos</a:t>
            </a:r>
            <a:endParaRPr b="1"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Não necessita de hardware caro para rodar </a:t>
            </a:r>
            <a:r>
              <a:rPr lang="pt-BR" sz="1655">
                <a:solidFill>
                  <a:srgbClr val="FFFFFF"/>
                </a:solidFill>
              </a:rPr>
              <a:t>localmente</a:t>
            </a:r>
            <a:endParaRPr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Estabilidade</a:t>
            </a:r>
            <a:endParaRPr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Segurança</a:t>
            </a:r>
            <a:endParaRPr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Velocidade</a:t>
            </a:r>
            <a:endParaRPr sz="1655">
              <a:solidFill>
                <a:srgbClr val="FFFFFF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5">
                <a:solidFill>
                  <a:srgbClr val="FFFFFF"/>
                </a:solidFill>
              </a:rPr>
              <a:t>…</a:t>
            </a:r>
            <a:endParaRPr sz="16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6db72cbc0_0_8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Proprietários versus Públicos</a:t>
            </a:r>
            <a:endParaRPr/>
          </a:p>
        </p:txBody>
      </p:sp>
      <p:sp>
        <p:nvSpPr>
          <p:cNvPr id="248" name="Google Shape;248;g396db72cbc0_0_8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49" name="Google Shape;249;g396db72cbc0_0_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13" y="2724850"/>
            <a:ext cx="8989325" cy="2906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g396db72cbc0_0_88"/>
          <p:cNvSpPr txBox="1"/>
          <p:nvPr/>
        </p:nvSpPr>
        <p:spPr>
          <a:xfrm>
            <a:off x="1858750" y="5848875"/>
            <a:ext cx="8351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Acesso aos modelos Proprietários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51" name="Google Shape;251;g396db72cbc0_0_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g396db72cbc0_0_88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g396db72cbc0_0_88"/>
          <p:cNvSpPr/>
          <p:nvPr/>
        </p:nvSpPr>
        <p:spPr>
          <a:xfrm>
            <a:off x="9485200" y="2082475"/>
            <a:ext cx="2543100" cy="2976000"/>
          </a:xfrm>
          <a:prstGeom prst="wedgeRectCallout">
            <a:avLst>
              <a:gd fmla="val -48289" name="adj1"/>
              <a:gd fmla="val 64451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55">
                <a:solidFill>
                  <a:srgbClr val="FFFFFF"/>
                </a:solidFill>
              </a:rPr>
              <a:t>Negativos</a:t>
            </a:r>
            <a:endParaRPr b="1"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Serviço pode ser custoso</a:t>
            </a:r>
            <a:endParaRPr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Não é possível ajuste fino localmente</a:t>
            </a:r>
            <a:endParaRPr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Em alguns casos não é desejável compartilhar dados (ex.: dados de pacientes)</a:t>
            </a:r>
            <a:endParaRPr sz="1655">
              <a:solidFill>
                <a:srgbClr val="FFFFFF"/>
              </a:solidFill>
            </a:endParaRPr>
          </a:p>
          <a:p>
            <a:pPr indent="-3336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5"/>
              <a:buChar char="●"/>
            </a:pPr>
            <a:r>
              <a:rPr lang="pt-BR" sz="1655">
                <a:solidFill>
                  <a:srgbClr val="FFFFFF"/>
                </a:solidFill>
              </a:rPr>
              <a:t>…</a:t>
            </a:r>
            <a:endParaRPr sz="16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96db72cbc0_0_99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Modelos Abertos</a:t>
            </a:r>
            <a:endParaRPr/>
          </a:p>
        </p:txBody>
      </p:sp>
      <p:sp>
        <p:nvSpPr>
          <p:cNvPr id="260" name="Google Shape;260;g396db72cbc0_0_9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61" name="Google Shape;261;g396db72cbc0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87142" y="84925"/>
            <a:ext cx="1489176" cy="199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96db72cbc0_0_99"/>
          <p:cNvSpPr/>
          <p:nvPr/>
        </p:nvSpPr>
        <p:spPr>
          <a:xfrm>
            <a:off x="9340225" y="745250"/>
            <a:ext cx="826500" cy="5247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g396db72cbc0_0_99"/>
          <p:cNvSpPr/>
          <p:nvPr/>
        </p:nvSpPr>
        <p:spPr>
          <a:xfrm>
            <a:off x="9093725" y="2082475"/>
            <a:ext cx="2934600" cy="2976000"/>
          </a:xfrm>
          <a:prstGeom prst="wedgeRectCallout">
            <a:avLst>
              <a:gd fmla="val -67673" name="adj1"/>
              <a:gd fmla="val 27352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5">
                <a:solidFill>
                  <a:srgbClr val="FFFFFF"/>
                </a:solidFill>
              </a:rPr>
              <a:t>Os LLMs abertos são modelos que compartilham seus pesos e arquitetura com o público para uso.</a:t>
            </a:r>
            <a:endParaRPr sz="1655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55">
                <a:solidFill>
                  <a:srgbClr val="FFFFFF"/>
                </a:solidFill>
              </a:rPr>
              <a:t>Serviço pode ser custoso</a:t>
            </a:r>
            <a:endParaRPr sz="1655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FFFFFF"/>
              </a:solidFill>
            </a:endParaRPr>
          </a:p>
        </p:txBody>
      </p:sp>
      <p:pic>
        <p:nvPicPr>
          <p:cNvPr id="264" name="Google Shape;264;g396db72cbc0_0_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3405" y="2274488"/>
            <a:ext cx="8498276" cy="2591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89898bee09_0_1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Frameworks abertos</a:t>
            </a:r>
            <a:endParaRPr/>
          </a:p>
        </p:txBody>
      </p:sp>
      <p:sp>
        <p:nvSpPr>
          <p:cNvPr id="271" name="Google Shape;271;g389898bee09_0_1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72" name="Google Shape;272;g389898bee09_0_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8825" y="1688625"/>
            <a:ext cx="9055099" cy="505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6db72cbc0_0_114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Hugging Face</a:t>
            </a:r>
            <a:endParaRPr/>
          </a:p>
        </p:txBody>
      </p:sp>
      <p:sp>
        <p:nvSpPr>
          <p:cNvPr id="279" name="Google Shape;279;g396db72cbc0_0_11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0" name="Google Shape;280;g396db72cbc0_0_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8963" y="1688625"/>
            <a:ext cx="10734083" cy="5053701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g396db72cbc0_0_114"/>
          <p:cNvSpPr txBox="1"/>
          <p:nvPr/>
        </p:nvSpPr>
        <p:spPr>
          <a:xfrm>
            <a:off x="4710575" y="1151225"/>
            <a:ext cx="27708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https://huggingface.co/</a:t>
            </a:r>
            <a:r>
              <a:rPr lang="pt-BR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96db72cbc0_0_12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Hugging Face - Transformers</a:t>
            </a:r>
            <a:endParaRPr/>
          </a:p>
        </p:txBody>
      </p:sp>
      <p:sp>
        <p:nvSpPr>
          <p:cNvPr id="288" name="Google Shape;288;g396db72cbc0_0_12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89" name="Google Shape;289;g396db72cbc0_0_1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3522"/>
            <a:ext cx="11887201" cy="413266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96db72cbc0_0_125"/>
          <p:cNvSpPr txBox="1"/>
          <p:nvPr/>
        </p:nvSpPr>
        <p:spPr>
          <a:xfrm>
            <a:off x="3860525" y="6118550"/>
            <a:ext cx="4470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u="sng">
                <a:solidFill>
                  <a:schemeClr val="hlink"/>
                </a:solidFill>
                <a:hlinkClick r:id="rId4"/>
              </a:rPr>
              <a:t>https://huggingface.co/docs/transformers/en/index</a:t>
            </a:r>
            <a:r>
              <a:rPr lang="pt-BR"/>
              <a:t> 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6a27ec8f6_0_2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Hugging Face - Transformers</a:t>
            </a:r>
            <a:endParaRPr/>
          </a:p>
        </p:txBody>
      </p:sp>
      <p:sp>
        <p:nvSpPr>
          <p:cNvPr id="297" name="Google Shape;297;g396a27ec8f6_0_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98" name="Google Shape;298;g396a27ec8f6_0_20"/>
          <p:cNvSpPr txBox="1"/>
          <p:nvPr/>
        </p:nvSpPr>
        <p:spPr>
          <a:xfrm>
            <a:off x="347525" y="1997550"/>
            <a:ext cx="11428800" cy="30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Fornece acesso a milhares de modelos pré-treinados para realizar tarefas em diferentes áreas da inteligência artificial, como texto, visão e áudio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Muito usada para trabalhar com modelos de Processamento de Linguagem Natural (NLP), como BERT, GPT e Llama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Permite baixar, treinar e utilizar modelos de última geração de forma simples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96db72cbc0_0_138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Hugging Face - Transformers</a:t>
            </a:r>
            <a:endParaRPr/>
          </a:p>
        </p:txBody>
      </p:sp>
      <p:sp>
        <p:nvSpPr>
          <p:cNvPr id="305" name="Google Shape;305;g396db72cbc0_0_13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06" name="Google Shape;306;g396db72cbc0_0_138"/>
          <p:cNvSpPr txBox="1"/>
          <p:nvPr/>
        </p:nvSpPr>
        <p:spPr>
          <a:xfrm>
            <a:off x="347525" y="1997550"/>
            <a:ext cx="114288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00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❏"/>
            </a:pP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Caracteristicas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Interoperabilidade: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Suporta os principais frameworks de aprendizado profundo, como PyTorch, TensorFlow e JAX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Pipeline Simplificado: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Oferece a função pipeline(), que permite executar tarefas complexas (como análise de sentimento ou tradução) com poucas linhas de código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4000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Roboto"/>
              <a:buChar char="■"/>
            </a:pPr>
            <a:r>
              <a:rPr b="1"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Acesso ao Hub:</a:t>
            </a:r>
            <a:r>
              <a:rPr lang="pt-BR" sz="2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Integra-se diretamente ao Hugging Face Hub, um "GitHub para IA" que hospeda mais de 600 mil modelos compartilhados pela comunidade e por empresas como Google, Microsoft e Meta</a:t>
            </a:r>
            <a:endParaRPr sz="2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9898bee09_0_6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13" name="Google Shape;313;g389898bee09_0_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14" name="Google Shape;314;g389898bee09_0_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869500"/>
            <a:ext cx="7490301" cy="15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6db72cbc0_0_147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21" name="Google Shape;321;g396db72cbc0_0_1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22" name="Google Shape;322;g396db72cbc0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869500"/>
            <a:ext cx="7490301" cy="15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96db72cbc0_0_147"/>
          <p:cNvSpPr/>
          <p:nvPr/>
        </p:nvSpPr>
        <p:spPr>
          <a:xfrm>
            <a:off x="7905925" y="2082475"/>
            <a:ext cx="4122300" cy="4245000"/>
          </a:xfrm>
          <a:prstGeom prst="wedgeRectCallout">
            <a:avLst>
              <a:gd fmla="val -86958" name="adj1"/>
              <a:gd fmla="val -12508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-3463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5"/>
              <a:buChar char="●"/>
            </a:pPr>
            <a:r>
              <a:rPr lang="pt-BR" sz="1855">
                <a:solidFill>
                  <a:srgbClr val="FFFFFF"/>
                </a:solidFill>
              </a:rPr>
              <a:t>O Phi-3-Mini-4K-Instruct é um modelo aberto, leve e com 3,8 bilhões de parâmetros </a:t>
            </a:r>
            <a:endParaRPr sz="1855">
              <a:solidFill>
                <a:srgbClr val="FFFFFF"/>
              </a:solidFill>
            </a:endParaRPr>
          </a:p>
          <a:p>
            <a:pPr indent="-3463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5"/>
              <a:buChar char="●"/>
            </a:pPr>
            <a:r>
              <a:rPr lang="pt-BR" sz="1855">
                <a:solidFill>
                  <a:srgbClr val="FFFFFF"/>
                </a:solidFill>
              </a:rPr>
              <a:t>Treinado com os conjuntos de dados Phi-3, que incluem dados sintéticos e dados filtrados de sites públicos, com foco em propriedades de alta qualidade e raciocínio denso</a:t>
            </a:r>
            <a:endParaRPr sz="1855">
              <a:solidFill>
                <a:srgbClr val="FFFFFF"/>
              </a:solidFill>
            </a:endParaRPr>
          </a:p>
          <a:p>
            <a:pPr indent="-3463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5"/>
              <a:buChar char="●"/>
            </a:pPr>
            <a:r>
              <a:rPr lang="pt-BR" sz="1855">
                <a:solidFill>
                  <a:srgbClr val="FFFFFF"/>
                </a:solidFill>
              </a:rPr>
              <a:t>Pertence à família Phi-3, com a versão Mini em duas variantes: </a:t>
            </a:r>
            <a:r>
              <a:rPr b="1" lang="pt-BR" sz="1855">
                <a:solidFill>
                  <a:srgbClr val="FFFFFF"/>
                </a:solidFill>
              </a:rPr>
              <a:t>4K </a:t>
            </a:r>
            <a:r>
              <a:rPr lang="pt-BR" sz="1855">
                <a:solidFill>
                  <a:srgbClr val="FFFFFF"/>
                </a:solidFill>
              </a:rPr>
              <a:t>e 128K, que corresponde ao comprimento do contexto (em tokens) que ele suporta</a:t>
            </a:r>
            <a:endParaRPr sz="1855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96db72cbc0_0_15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30" name="Google Shape;330;g396db72cbc0_0_15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31" name="Google Shape;331;g396db72cbc0_0_1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869500"/>
            <a:ext cx="7490301" cy="15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96db72cbc0_0_156"/>
          <p:cNvSpPr/>
          <p:nvPr/>
        </p:nvSpPr>
        <p:spPr>
          <a:xfrm>
            <a:off x="7905925" y="2082475"/>
            <a:ext cx="4122300" cy="3345900"/>
          </a:xfrm>
          <a:prstGeom prst="wedgeRectCallout">
            <a:avLst>
              <a:gd fmla="val -70427" name="adj1"/>
              <a:gd fmla="val 5368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-346365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5"/>
              <a:buChar char="●"/>
            </a:pPr>
            <a:r>
              <a:rPr b="1" lang="pt-BR" sz="1855">
                <a:solidFill>
                  <a:schemeClr val="lt1"/>
                </a:solidFill>
              </a:rPr>
              <a:t>O tokenizador é responsável por dividir o texto de entrada em tokens antes de alimentá-lo ao modelo generativo</a:t>
            </a:r>
            <a:endParaRPr b="1" sz="1855">
              <a:solidFill>
                <a:srgbClr val="FFFFFF"/>
              </a:solidFill>
            </a:endParaRPr>
          </a:p>
          <a:p>
            <a:pPr indent="-34636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55"/>
              <a:buChar char="●"/>
            </a:pPr>
            <a:r>
              <a:rPr b="1" lang="pt-BR" sz="1855">
                <a:solidFill>
                  <a:srgbClr val="FFFFFF"/>
                </a:solidFill>
              </a:rPr>
              <a:t>Utilizado para instanciar automaticamente o tokenizador correto para um determinado modelo pré-treinado</a:t>
            </a:r>
            <a:endParaRPr b="1" sz="1855">
              <a:solidFill>
                <a:srgbClr val="FFFFFF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55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96db72cbc0_0_166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39" name="Google Shape;339;g396db72cbc0_0_1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0" name="Google Shape;340;g396db72cbc0_0_1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869500"/>
            <a:ext cx="7490301" cy="15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g396db72cbc0_0_166"/>
          <p:cNvSpPr/>
          <p:nvPr/>
        </p:nvSpPr>
        <p:spPr>
          <a:xfrm>
            <a:off x="7905925" y="2082475"/>
            <a:ext cx="4122300" cy="3345900"/>
          </a:xfrm>
          <a:prstGeom prst="wedgeRectCallout">
            <a:avLst>
              <a:gd fmla="val -61634" name="adj1"/>
              <a:gd fmla="val 17067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Classe genérica da biblioteca transformers do Hugging Face projetada para instanciar automaticamente a arquitetura correta de um modelo de linguagem causal (como GPT-2, GPT-Neo, Llama, Bloom) com base no nome ou caminho do modelo fornecido</a:t>
            </a:r>
            <a:endParaRPr b="1"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6db72cbc0_0_175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48" name="Google Shape;348;g396db72cbc0_0_1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49" name="Google Shape;349;g396db72cbc0_0_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252679"/>
            <a:ext cx="4409980" cy="31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g396db72cbc0_0_175"/>
          <p:cNvSpPr/>
          <p:nvPr/>
        </p:nvSpPr>
        <p:spPr>
          <a:xfrm>
            <a:off x="5267125" y="2421300"/>
            <a:ext cx="4122300" cy="2015400"/>
          </a:xfrm>
          <a:prstGeom prst="wedgeRectCallout">
            <a:avLst>
              <a:gd fmla="val -96454" name="adj1"/>
              <a:gd fmla="val -15179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Encapsula o modelo, o tokenizador e o processo de geração de texto em uma única função.</a:t>
            </a:r>
            <a:endParaRPr b="1"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96db72cbc0_0_193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57" name="Google Shape;357;g396db72cbc0_0_19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58" name="Google Shape;358;g396db72cbc0_0_1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252679"/>
            <a:ext cx="4409980" cy="31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g396db72cbc0_0_193"/>
          <p:cNvSpPr/>
          <p:nvPr/>
        </p:nvSpPr>
        <p:spPr>
          <a:xfrm>
            <a:off x="5267125" y="2421300"/>
            <a:ext cx="4122300" cy="2015400"/>
          </a:xfrm>
          <a:prstGeom prst="wedgeRectCallout">
            <a:avLst>
              <a:gd fmla="val -96454" name="adj1"/>
              <a:gd fmla="val -15179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Encapsula o modelo, o tokenizador e o processo de geração de texto em uma única função.</a:t>
            </a:r>
            <a:endParaRPr b="1"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96db72cbc0_0_23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66" name="Google Shape;366;g396db72cbc0_0_23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67" name="Google Shape;367;g396db72cbc0_0_2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252679"/>
            <a:ext cx="4409980" cy="31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g396db72cbc0_0_232"/>
          <p:cNvSpPr/>
          <p:nvPr/>
        </p:nvSpPr>
        <p:spPr>
          <a:xfrm>
            <a:off x="5267125" y="2421300"/>
            <a:ext cx="4122300" cy="2015400"/>
          </a:xfrm>
          <a:prstGeom prst="wedgeRectCallout">
            <a:avLst>
              <a:gd fmla="val -95047" name="adj1"/>
              <a:gd fmla="val 44531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Ao definir isso como False, o prompt não será retornado, mas apenas a saída do modelo.</a:t>
            </a:r>
            <a:endParaRPr b="1" sz="2000">
              <a:solidFill>
                <a:schemeClr val="lt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6db72cbc0_0_24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75" name="Google Shape;375;g396db72cbc0_0_24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76" name="Google Shape;376;g396db72cbc0_0_2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252679"/>
            <a:ext cx="4409980" cy="31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g396db72cbc0_0_241"/>
          <p:cNvSpPr/>
          <p:nvPr/>
        </p:nvSpPr>
        <p:spPr>
          <a:xfrm>
            <a:off x="5267125" y="2421300"/>
            <a:ext cx="5276400" cy="1977600"/>
          </a:xfrm>
          <a:prstGeom prst="wedgeRectCallout">
            <a:avLst>
              <a:gd fmla="val -94262" name="adj1"/>
              <a:gd fmla="val 58802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O número máximo de tokens que o modelo irá gerar. Ao definir um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limite, evitamos saídas longas e complexas, pois alguns modelos podem continuar gerando saídas até atingirem sua janela de contexto.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96db72cbc0_0_25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84" name="Google Shape;384;g396db72cbc0_0_2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85" name="Google Shape;385;g396db72cbc0_0_2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25" y="2252679"/>
            <a:ext cx="4409980" cy="3175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g396db72cbc0_0_250"/>
          <p:cNvSpPr/>
          <p:nvPr/>
        </p:nvSpPr>
        <p:spPr>
          <a:xfrm>
            <a:off x="5267125" y="2421300"/>
            <a:ext cx="5276400" cy="1977600"/>
          </a:xfrm>
          <a:prstGeom prst="wedgeRectCallout">
            <a:avLst>
              <a:gd fmla="val -100582" name="adj1"/>
              <a:gd fmla="val 74199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Indica se o modelo utiliza uma estratégia de amostragem para escolher o próximo token. Ao definir esta opção como False, o modelo selecionará sempre o próximo token mais provável.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96db72cbc0_0_202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393" name="Google Shape;393;g396db72cbc0_0_20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394" name="Google Shape;394;g396db72cbc0_0_2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375" y="2021400"/>
            <a:ext cx="9160299" cy="15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g396db72cbc0_0_202"/>
          <p:cNvSpPr/>
          <p:nvPr/>
        </p:nvSpPr>
        <p:spPr>
          <a:xfrm>
            <a:off x="7499950" y="3001250"/>
            <a:ext cx="2507100" cy="759900"/>
          </a:xfrm>
          <a:prstGeom prst="wedgeRectCallout">
            <a:avLst>
              <a:gd fmla="val -35255" name="adj1"/>
              <a:gd fmla="val -102946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Texto de entrada do usuário</a:t>
            </a:r>
            <a:endParaRPr b="1"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96db72cbc0_0_211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402" name="Google Shape;402;g396db72cbc0_0_211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3" name="Google Shape;403;g396db72cbc0_0_2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375" y="2021400"/>
            <a:ext cx="9160299" cy="153665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g396db72cbc0_0_211"/>
          <p:cNvSpPr/>
          <p:nvPr/>
        </p:nvSpPr>
        <p:spPr>
          <a:xfrm>
            <a:off x="5673100" y="3160750"/>
            <a:ext cx="2507100" cy="759900"/>
          </a:xfrm>
          <a:prstGeom prst="wedgeRectCallout">
            <a:avLst>
              <a:gd fmla="val -100936" name="adj1"/>
              <a:gd fmla="val -28247" name="adj2"/>
            </a:avLst>
          </a:prstGeom>
          <a:solidFill>
            <a:srgbClr val="4285F4"/>
          </a:solidFill>
          <a:ln cap="flat" cmpd="sng" w="22525">
            <a:solidFill>
              <a:srgbClr val="08283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0500" lIns="81050" spcFirstLastPara="1" rIns="81050" wrap="square" tIns="405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chemeClr val="lt1"/>
                </a:solidFill>
              </a:rPr>
              <a:t>Imprime t</a:t>
            </a:r>
            <a:r>
              <a:rPr b="1" lang="pt-BR" sz="2000">
                <a:solidFill>
                  <a:schemeClr val="lt1"/>
                </a:solidFill>
              </a:rPr>
              <a:t>exto gerado</a:t>
            </a:r>
            <a:endParaRPr b="1" sz="2000">
              <a:solidFill>
                <a:srgbClr val="FFFFFF"/>
              </a:solidFill>
            </a:endParaRPr>
          </a:p>
        </p:txBody>
      </p:sp>
      <p:pic>
        <p:nvPicPr>
          <p:cNvPr id="405" name="Google Shape;405;g396db72cbc0_0_2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900" y="4392025"/>
            <a:ext cx="9713499" cy="31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96db72cbc0_0_220"/>
          <p:cNvSpPr txBox="1"/>
          <p:nvPr>
            <p:ph type="title"/>
          </p:nvPr>
        </p:nvSpPr>
        <p:spPr>
          <a:xfrm>
            <a:off x="415633" y="667900"/>
            <a:ext cx="113607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lang="pt-BR"/>
              <a:t>Exemplo - Primeiro Texto</a:t>
            </a:r>
            <a:endParaRPr/>
          </a:p>
        </p:txBody>
      </p:sp>
      <p:sp>
        <p:nvSpPr>
          <p:cNvPr id="412" name="Google Shape;412;g396db72cbc0_0_22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13" name="Google Shape;413;g396db72cbc0_0_2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300" y="2014375"/>
            <a:ext cx="9159625" cy="151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g396db72cbc0_0_220"/>
          <p:cNvSpPr txBox="1"/>
          <p:nvPr/>
        </p:nvSpPr>
        <p:spPr>
          <a:xfrm>
            <a:off x="481375" y="4043925"/>
            <a:ext cx="83514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1F1F1F"/>
                </a:solidFill>
                <a:highlight>
                  <a:srgbClr val="FFFFFF"/>
                </a:highlight>
                <a:latin typeface="Courier New"/>
                <a:ea typeface="Courier New"/>
                <a:cs typeface="Courier New"/>
                <a:sym typeface="Courier New"/>
              </a:rPr>
              <a:t>Olá, alunos da Unicamp! Estou aqui para falar com vocês e compartilhar algumas informações sobre o nosso programa de graduação. Estou ansioso para ouvir sobre suas experiências e sugestões para melhorar a qualidade do ensino e da vida estudantil. Por favor, me avise se tiver alguma dúvida ou se precisar de assistência.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2023-07-05T20:15:16Z</dcterms:created>
  <dc:creator>Patrick Bonnereau</dc:creator>
</cp:coreProperties>
</file>