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41acb2b-4c87-ee2f-89ef-2b5876a9966c}">
          <p14:sldIdLst>
            <p14:sldId id="256"/>
          </p14:sldIdLst>
        </p14:section>
        <p14:section name="Problema e usuário" id="{c74e5c86-3c6d-3030-889c-9d2fd7364a6a}">
          <p14:sldIdLst>
            <p14:sldId id="257"/>
          </p14:sldIdLst>
        </p14:section>
        <p14:section name="Baseline e evolução" id="{7b5be047-2384-584e-40a1-a1b0de3b625f}">
          <p14:sldIdLst>
            <p14:sldId id="258"/>
            <p14:sldId id="259"/>
          </p14:sldIdLst>
        </p14:section>
        <p14:section name="Arquitetura final" id="{66d66d4b-2d19-cffe-5695-67e32e6fefa9}">
          <p14:sldIdLst>
            <p14:sldId id="260"/>
            <p14:sldId id="261"/>
          </p14:sldIdLst>
        </p14:section>
        <p14:section name="Demonstração" id="{e0109f09-edfb-8a11-68f0-6861890fa2d9}">
          <p14:sldIdLst>
            <p14:sldId id="262"/>
          </p14:sldIdLst>
        </p14:section>
        <p14:section name="Resultados e recomendação" id="{6f3f6a56-62f9-3f96-4173-686e69f1166c}">
          <p14:sldIdLst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[WERNER · ~0:10]
Olá, somos Rodolfo, Thais e Werner. Este é o nosso projeto de INF0093: um sistema multiagente que responde perguntas em linguagem natural sobre o ENEM 2023. Vamos mostrar o problema, como o sistema evoluiu em quatro versões, uma demonstração e qual versão levaríamos para uso real.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[THAIS · ~0:45]
O problema: os dados do ENEM e do IBGE são públicos, mas responder uma pergunta simples exige conhecer o esquema da base. Nosso usuário é quem sabe o que quer perguntar, como um jornalista, um gestor ou um estudante, mas não conhece as colunas nem as armadilhas dos dados.
E as armadilhas são concretas: o IBGE grafa Sant'Ana do Livramento com apóstrofo; existem cinco municípios chamados Bom Jesus; e o município com a maior média do país, Uru, tem um único participante.
Uma busca manual tropeça nisso. O nosso sistema traduz a pergunta em uma consulta pandas, executa, confere o resultado e devolve o número junto com o código que o produziu, para que qualquer pessoa possa auditar.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[THAIS · ~0:50]
A primeira versão, do E1, era simples: uma única chamada ao LLM, que gerava o código pandas e também o texto da resposta, e um executor determinístico com uma guarda sintática.
Ela acertava os casos automáticos, 11 de 11. Mas tinha limitações concretas. Primeiro, o texto era escrito antes de o número existir, na mesma chamada que gerava o código. Segundo, ninguém julgava o resultado: no caso T12 ela respondeu que o melhor município para estudar é Uru, com média baseada em um único participante. Terceiro, resolvia ambiguidades em silêncio: perguntada sobre a média de São Paulo, deu a da cidade sem avisar que existia a leitura do estado.
Esses erros não apareciam na taxa automática, só na rubrica manual, onde ela tirou zero. Essa é a origem de tudo o que veio depois.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[THAIS · ~0:25]
Daí em diante, cada versão respondeu a uma limitação da anterior. A v2 trouxe um servidor MCP que confirma a grafia do IBGE e revela homônimos. A v3 dividiu o trabalho em agentes: um Validador que julga o resultado e um Sintetizador que só escreve depois que o número existe. A v4, deste último entregável, acrescentou contenção de falhas e uma conferência final, porque a v3 perdeu o caso T18 com um erro 429 do provedor e perdeu em silêncio um achado do validador no T15.
Um detalhe importante: o prompt do planejador é o mesmo desde a v1, para que as diferenças entre versões possam ser atribuídas à arquitetura. Agora o Werner mostra como o sistema ficou.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[WERNER · ~1:00]
Esta é a arquitetura final, a v4. A pergunta passa por seis nós.
O Resolvedor é um agente que identifica os municípios citados e consulta o servidor MCP, que devolve a grafia oficial do IBGE e os homônimos. O Planejador é o LLM que escreve a consulta pandas, com o mesmo prompt da v1. O Executor é determinístico: passa o código por uma guarda sintática e executa. O Validador é um agente com três skills, carregadas sob demanda, que julga se o resultado responde de fato à pergunta; se reprova, a consulta volta ao Planejador, no máximo duas vezes. O Sintetizador redige a resposta a partir de uma ficha fechada, depois que o número existe. E a Conferência, nova na v4, roda três verificações determinísticas de falha silenciosa no texto final.
O que está em laranja é o que a v4 acrescentou: retentativa, tempo limite e degradação declarada na ferramenta; o refazer sem LLM, quando o erro de execução tem padrão conhecido; e a resposta de reserva, montada da ficha quando o Sintetizador falha.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[WERNER · ~0:50]
Cada decisão tem um motivo. O LLM nunca escreve o número: escreve a consulta, e o número vem da execução, o que deixa o código como evidência auditável. A identidade do município vem do servidor MCP, porque grafia e homônimos não cabem no prompt. O Validador carrega só a instrução da skill que precisa, uma de três, a partir de um índice onze vezes menor.
O Sintetizador só vê a ficha: isso impede que ele invente números, mas tem um custo, porque ele não recupera um achado que ficou fora da ficha, foi o que aconteceu no T15 da v3.
Na v4, o veredito do Validador virou uma ferramenta do laço, o que reduziu as chamadas de 67 para 57,7; erros mecânicos conhecidos são refeitos sem chamar o modelo; e a conferência transforma falha silenciosa em aviso. Por fim, mantivemos o prompt do planejador idêntico ao da v1 de propósito, para poder comparar as versões.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[RODOLFO · ~1:30 · trocar este slide pela gravação de tela do notebook]
Agora a demonstração. Escolhemos o T17, um caso composto e difícil: a pergunta pede dois valores sobre um município cuja grafia oficial tem apóstrofo, Sant'Ana do Livramento. Vamos mostrar uma execução salva, a da rodada 2 da seção D, gravada em v4_rodada_2.jsonl. (Se a execução for ao vivo, dizer: "esta é uma execução ao vivo".)
Repare no trace. O Resolvedor consulta o servidor MCP com o nome como o usuário escreveu e recebe a grafia do IBGE. O Planejador escreve uma única expressão pandas com os dois valores. A guarda sintática recusa essa primeira versão. O executor reconhece um erro de padrão conhecido e devolve ao Planejador com uma instrução de correção, sem chamar o modelo. A segunda versão executa, o Validador aprova, o Sintetizador redige e a conferência não encontra problema.
Resultado: média de 530,26 e 275 participantes, os dois corretos.
(Se perguntarem: o erro da guarda nessa rodada foi "unexpected indent", porque o código começava com um espaço e também aninhava aspas simples; a instrução aplicada foi a genérica de expressão única.) Este mesmo caso falhou na rodada 1: o provedor devolveu um erro 400 ao planejador e a resposta saiu como abstenção marcada como degradada. Voltamos a isso nas ressalvas.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[RODOLFO · ~0:50]
Os resultados. A régua comum são os 13 casos congelados do E1, os únicos que as quatro versões enfrentaram; 11 deles têm verificação automática.
Em acerto, as quatro empatam: 11, 10, 11 e 11. A v4 foi a única medida três vezes na mesma sessão, e deu 11 nas três. As faixas plausíveis de Wilson são largas, de 74 a 100 por cento, porque 11 casos é pouco.
Em custo, a v1 é a mais barata, cerca de um quarto da v4. Entre v3 e v4, a v4 faz menos chamadas, 57,7 contra 67, mas o custo em dólares é praticamente o mesmo.
Na última linha, a qualidade ponderada pela gravidade do erro, incluindo os casos de rubrica manual: aqui a v3 fica à frente da v4.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[RODOLFO · ~0:40]
Como ler esses números com honestidade? Primeiro: os seis pares de versões têm faixas plausíveis sobrepostas, então nenhuma versão é superior em acerto agregado. Segundo: a mesma versão, sem nenhuma mudança de código, variou um caso entre sessões. A v1 deu 11 no E1 e 10 no E2; a v2 deu 10 e depois 11. Ou seja, uma diferença de um caso é do tamanho do ruído.
Terceiro: das quatro mudanças de resultado entre versões consecutivas, só uma tem mecanismo identificável no trace, o T18 entre v3 e v4. T03 e T14 mudaram sem que nenhum componente novo atuasse.
Por isso, a nossa evidência é sempre o caso específico, com o trace explicando a mudança. Com isso, o Werner apresenta a recomendação.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[WERNER · ~0:40]
A nossa recomendação: levaríamos a v4 para uso real, otimizando previsibilidade e auditabilidade, e não qualidade nem custo.
A evidência: primeiro, o T18. A v3 perdia uma abstenção correta quando o provedor falhava no último nó; a v4 a recupera nas três rodadas, por um mecanismo determinístico que não depende do provedor. Segundo, a v4 detecta falhas que a v3 entregava em silêncio: sete detecções em 57 execuções, os homônimos do T15 em todas as rodadas e uma subtração que o redator inventou no T08 em duas de três. Terceiro, é a única versão medida três vezes na mesma sessão, e deu 11 de 11 nas três. E faz tudo isso com menos chamadas que a v3, sem custo extra em dólares.
Ou seja: a v4 não acerta mais. Ela se comporta melhor quando algo dá errado. A Thais fecha com as ressalvas.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[THAIS · ~0:35]
E as ressalvas, porque elas fazem parte da recomendação. A v4 não acerta mais que as outras versões. Ela detecta problemas, mas não os corrige: no T15 o usuário recebe "169" seguido do aviso de que há cinco Bom Jesus, o que é melhor que "169" sozinho, mas não é uma boa resposta. A verificação também não pegou a amostra frágil do T12 em duas de três rodadas. Na rubrica manual, a v3 fica à frente. E quem quer apenas custo deve usar a v1.
Antes de uso real, três correções baratas: tratar o erro 400 de geração de JSON como transitório, que foi o único erro da v4 em 57 execuções; tirar o texto do erro do provedor da resposta; e estender a verificação de confiança ao T12. E, para uma v5, um canal para perguntar ao usuário quando a pergunta é ambígua.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[THAIS · ~0:05]
Obrigado pela atenção!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">
    <p:bg>
      <p:bgPr>
        <a:solidFill>
          <a:srgbClr val="F7F5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ARO_ALT">
    <p:bg>
      <p:bgPr>
        <a:solidFill>
          <a:srgbClr val="ECE8D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SCURO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7B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902" y="160020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PROJETO PRÁTICO COM SISTEMAS MULTIAGENTES · 2S/2026</a:t>
            </a:r>
            <a:endParaRPr lang="en-US" sz="13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2057400"/>
            <a:ext cx="95097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2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Perguntas em linguagem natural sobre o ENEM 2023</a:t>
            </a:r>
            <a:endParaRPr lang="en-US" sz="52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393192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versões de um sistema multiagente e a que levaríamos para uso real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4983480"/>
            <a:ext cx="10566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Rodolfo Dalla Costa · Thais Caroline Murer · Werner Conrado Jacob Denzin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PROBLEMA E USUÁRIO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dados são públicos, mas não respondem perguntas</a:t>
            </a:r>
            <a:endParaRPr lang="en-US" sz="3200" dirty="0"/>
          </a:p>
        </p:txBody>
      </p:sp>
      <p:sp>
        <p:nvSpPr>
          <p:cNvPr id="5" name="pergunta"/>
          <p:cNvSpPr/>
          <p:nvPr/>
        </p:nvSpPr>
        <p:spPr>
          <a:xfrm>
            <a:off x="812902" y="2240280"/>
            <a:ext cx="4572000" cy="2697480"/>
          </a:xfrm>
          <a:prstGeom prst="roundRect">
            <a:avLst>
              <a:gd name="adj" fmla="val 4068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8934" y="2468880"/>
            <a:ext cx="40690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i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“Qual é a média em matemática de Santana do Livramento, e quantos participantes ela teve?”</a:t>
            </a:r>
            <a:endParaRPr lang="en-US" sz="1900" dirty="0"/>
          </a:p>
        </p:txBody>
      </p:sp>
      <p:sp>
        <p:nvSpPr>
          <p:cNvPr id="7" name="Text 4"/>
          <p:cNvSpPr txBox="1"/>
          <p:nvPr/>
        </p:nvSpPr>
        <p:spPr>
          <a:xfrm>
            <a:off x="1068934" y="4023360"/>
            <a:ext cx="4069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quem sabe o que perguntar, mas não conhece o esquema: jornalistas, gestores, estudantes.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669280" y="2240280"/>
            <a:ext cx="57058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uma busca manual exige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669280" y="2697480"/>
            <a:ext cx="5705856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conhecer 15 colunas e o recorte: ENEM 2023 × IBGE 2021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saber a grafia do IBGE: Sant'Ana do Livramento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separar homônimos: 5 municípios chamados Bom Jesus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desconfiar da amostra: Uru tem a maior média do país com 1 participante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812902" y="5257800"/>
            <a:ext cx="1056680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sistema traduz a pergunta em uma consulta pandas, executa, confere e entrega o número </a:t>
            </a:r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junto com o código que o produziu.</a:t>
            </a:r>
            <a:endParaRPr lang="en-US" sz="1500" dirty="0"/>
          </a:p>
        </p:txBody>
      </p:sp>
      <p:sp>
        <p:nvSpPr>
          <p:cNvPr id="11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Entregável 4 · 5.481 municípios, 721.429 participantes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BASELINE (E1)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v1: uma chamada ao LLM e uma execução determinística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812902" y="2240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9050">
            <a:solidFill>
              <a:srgbClr val="DAD4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50062" y="22860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2778862" y="2240280"/>
            <a:ext cx="3108960" cy="86868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9050">
            <a:solidFill>
              <a:srgbClr val="2F5D8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916022" y="228600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· 1 chamada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o código pandas e o texto da resposta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390742" y="2240280"/>
            <a:ext cx="2743200" cy="86868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10" name="Text 7"/>
          <p:cNvSpPr txBox="1"/>
          <p:nvPr/>
        </p:nvSpPr>
        <p:spPr>
          <a:xfrm>
            <a:off x="6527902" y="228600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sintática + pandas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9636862" y="2240280"/>
            <a:ext cx="1463040" cy="868680"/>
          </a:xfrm>
          <a:prstGeom prst="roundRect">
            <a:avLst>
              <a:gd name="adj" fmla="val 8421"/>
            </a:avLst>
          </a:prstGeom>
          <a:solidFill>
            <a:srgbClr val="FFFDF8"/>
          </a:solidFill>
          <a:ln w="19050">
            <a:solidFill>
              <a:srgbClr val="DAD4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9774022" y="228600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2321662" y="2674620"/>
            <a:ext cx="411480" cy="0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4" name="Shape 11"/>
          <p:cNvSpPr/>
          <p:nvPr/>
        </p:nvSpPr>
        <p:spPr>
          <a:xfrm>
            <a:off x="5933542" y="2674620"/>
            <a:ext cx="411480" cy="0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5" name="Shape 12"/>
          <p:cNvSpPr/>
          <p:nvPr/>
        </p:nvSpPr>
        <p:spPr>
          <a:xfrm>
            <a:off x="9179662" y="2674620"/>
            <a:ext cx="411480" cy="0"/>
          </a:xfrm>
          <a:prstGeom prst="line">
            <a:avLst/>
          </a:prstGeom>
          <a:noFill/>
          <a:ln w="28575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6" name="limitacao_1"/>
          <p:cNvSpPr/>
          <p:nvPr/>
        </p:nvSpPr>
        <p:spPr>
          <a:xfrm>
            <a:off x="812902" y="3383280"/>
            <a:ext cx="3339389" cy="1691640"/>
          </a:xfrm>
          <a:prstGeom prst="roundRect">
            <a:avLst>
              <a:gd name="adj" fmla="val 6486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41502" y="3520440"/>
            <a:ext cx="288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antes do número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1041502" y="3931920"/>
            <a:ext cx="288218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LLM escrevia a resposta na mesma chamada que gerava o código, antes de o valor existir.</a:t>
            </a:r>
            <a:endParaRPr lang="en-US" sz="1300" dirty="0"/>
          </a:p>
        </p:txBody>
      </p:sp>
      <p:sp>
        <p:nvSpPr>
          <p:cNvPr id="19" name="limitacao_2"/>
          <p:cNvSpPr/>
          <p:nvPr/>
        </p:nvSpPr>
        <p:spPr>
          <a:xfrm>
            <a:off x="4426610" y="3383280"/>
            <a:ext cx="3339389" cy="1691640"/>
          </a:xfrm>
          <a:prstGeom prst="roundRect">
            <a:avLst>
              <a:gd name="adj" fmla="val 6486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655210" y="3520440"/>
            <a:ext cx="288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Ninguém julgava o resultado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4655210" y="3931920"/>
            <a:ext cx="288218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T12: “o melhor município para estudar é Uru”, média de um único participante.</a:t>
            </a:r>
            <a:endParaRPr lang="en-US" sz="1300" dirty="0"/>
          </a:p>
        </p:txBody>
      </p:sp>
      <p:sp>
        <p:nvSpPr>
          <p:cNvPr id="22" name="limitacao_3"/>
          <p:cNvSpPr/>
          <p:nvPr/>
        </p:nvSpPr>
        <p:spPr>
          <a:xfrm>
            <a:off x="8040319" y="3383280"/>
            <a:ext cx="3339389" cy="1691640"/>
          </a:xfrm>
          <a:prstGeom prst="roundRect">
            <a:avLst>
              <a:gd name="adj" fmla="val 6486"/>
            </a:avLst>
          </a:prstGeom>
          <a:solidFill>
            <a:srgbClr val="FBEBD9"/>
          </a:solidFill>
          <a:ln w="12700">
            <a:solidFill>
              <a:srgbClr val="FBEB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268919" y="3520440"/>
            <a:ext cx="288218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Ambiguidade em silêncio</a:t>
            </a:r>
            <a:endParaRPr lang="en-US" sz="1500" dirty="0"/>
          </a:p>
        </p:txBody>
      </p:sp>
      <p:sp>
        <p:nvSpPr>
          <p:cNvPr id="24" name="Text 21"/>
          <p:cNvSpPr txBox="1"/>
          <p:nvPr/>
        </p:nvSpPr>
        <p:spPr>
          <a:xfrm>
            <a:off x="8268919" y="3931920"/>
            <a:ext cx="2882189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T13: deu a média da cidade de São Paulo (572,26) sem avisar que o estado daria 527,89.</a:t>
            </a:r>
            <a:endParaRPr lang="en-US" sz="1300" dirty="0"/>
          </a:p>
        </p:txBody>
      </p:sp>
      <p:sp>
        <p:nvSpPr>
          <p:cNvPr id="25" name="Text 22"/>
          <p:cNvSpPr txBox="1"/>
          <p:nvPr/>
        </p:nvSpPr>
        <p:spPr>
          <a:xfrm>
            <a:off x="812902" y="534924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v1 fez 11 de 11 nos casos automáticos. Esses erros só apareciam na rubrica manual, onde ela tirou 0 no T12 e no T13.</a:t>
            </a:r>
            <a:endParaRPr lang="en-US" sz="1400" dirty="0"/>
          </a:p>
        </p:txBody>
      </p:sp>
      <p:sp>
        <p:nvSpPr>
          <p:cNvPr id="26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Entregável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DA V1 À V4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versão respondeu a uma limitação da anterior</a:t>
            </a:r>
            <a:endParaRPr lang="en-US" sz="3200" dirty="0"/>
          </a:p>
        </p:txBody>
      </p:sp>
      <p:sp>
        <p:nvSpPr>
          <p:cNvPr id="5" name="versao_1"/>
          <p:cNvSpPr/>
          <p:nvPr/>
        </p:nvSpPr>
        <p:spPr>
          <a:xfrm>
            <a:off x="812902" y="2240280"/>
            <a:ext cx="2435962" cy="2971800"/>
          </a:xfrm>
          <a:prstGeom prst="roundRect">
            <a:avLst>
              <a:gd name="adj" fmla="val 4505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14070" y="239572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· E1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1014070" y="2697480"/>
            <a:ext cx="20336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chamada + execução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14070" y="3383280"/>
            <a:ext cx="20336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partida.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14070" y="4297680"/>
            <a:ext cx="20336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2800" dirty="0"/>
          </a:p>
        </p:txBody>
      </p:sp>
      <p:sp>
        <p:nvSpPr>
          <p:cNvPr id="10" name="Text 7"/>
          <p:cNvSpPr txBox="1"/>
          <p:nvPr/>
        </p:nvSpPr>
        <p:spPr>
          <a:xfrm>
            <a:off x="1014070" y="4846320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ao LLM</a:t>
            </a:r>
            <a:endParaRPr lang="en-US" sz="1200" dirty="0"/>
          </a:p>
        </p:txBody>
      </p:sp>
      <p:sp>
        <p:nvSpPr>
          <p:cNvPr id="11" name="versao_2"/>
          <p:cNvSpPr/>
          <p:nvPr/>
        </p:nvSpPr>
        <p:spPr>
          <a:xfrm>
            <a:off x="3523183" y="2240280"/>
            <a:ext cx="2435962" cy="2971800"/>
          </a:xfrm>
          <a:prstGeom prst="roundRect">
            <a:avLst>
              <a:gd name="adj" fmla="val 4505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724351" y="239572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· E2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3724351" y="2697480"/>
            <a:ext cx="20336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 + memória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3724351" y="3383280"/>
            <a:ext cx="20336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grafia do IBGE e homônimos.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3724351" y="4297680"/>
            <a:ext cx="20336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800" dirty="0"/>
          </a:p>
        </p:txBody>
      </p:sp>
      <p:sp>
        <p:nvSpPr>
          <p:cNvPr id="16" name="Text 13"/>
          <p:cNvSpPr txBox="1"/>
          <p:nvPr/>
        </p:nvSpPr>
        <p:spPr>
          <a:xfrm>
            <a:off x="3724351" y="4846320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ao LLM</a:t>
            </a:r>
            <a:endParaRPr lang="en-US" sz="1200" dirty="0"/>
          </a:p>
        </p:txBody>
      </p:sp>
      <p:sp>
        <p:nvSpPr>
          <p:cNvPr id="17" name="versao_3"/>
          <p:cNvSpPr/>
          <p:nvPr/>
        </p:nvSpPr>
        <p:spPr>
          <a:xfrm>
            <a:off x="6233465" y="2240280"/>
            <a:ext cx="2435962" cy="2971800"/>
          </a:xfrm>
          <a:prstGeom prst="roundRect">
            <a:avLst>
              <a:gd name="adj" fmla="val 4505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434633" y="239572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· E3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6434633" y="2697480"/>
            <a:ext cx="20336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e Sintetizador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6434633" y="3383280"/>
            <a:ext cx="20336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ninguém julgava, e o texto vinha antes do número.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34633" y="4297680"/>
            <a:ext cx="20336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2800" dirty="0"/>
          </a:p>
        </p:txBody>
      </p:sp>
      <p:sp>
        <p:nvSpPr>
          <p:cNvPr id="22" name="Text 19"/>
          <p:cNvSpPr txBox="1"/>
          <p:nvPr/>
        </p:nvSpPr>
        <p:spPr>
          <a:xfrm>
            <a:off x="6434633" y="4846320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ao LLM</a:t>
            </a:r>
            <a:endParaRPr lang="en-US" sz="1200" dirty="0"/>
          </a:p>
        </p:txBody>
      </p:sp>
      <p:sp>
        <p:nvSpPr>
          <p:cNvPr id="23" name="versao_4"/>
          <p:cNvSpPr/>
          <p:nvPr/>
        </p:nvSpPr>
        <p:spPr>
          <a:xfrm>
            <a:off x="8943746" y="2240280"/>
            <a:ext cx="2435962" cy="2971800"/>
          </a:xfrm>
          <a:prstGeom prst="roundRect">
            <a:avLst>
              <a:gd name="adj" fmla="val 4505"/>
            </a:avLst>
          </a:prstGeom>
          <a:solidFill>
            <a:srgbClr val="FBEBD9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9144914" y="2395728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v4 · E4</a:t>
            </a:r>
            <a:endParaRPr lang="en-US" sz="1200" dirty="0"/>
          </a:p>
        </p:txBody>
      </p:sp>
      <p:sp>
        <p:nvSpPr>
          <p:cNvPr id="25" name="Text 22"/>
          <p:cNvSpPr txBox="1"/>
          <p:nvPr/>
        </p:nvSpPr>
        <p:spPr>
          <a:xfrm>
            <a:off x="9144914" y="2697480"/>
            <a:ext cx="203362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Contenção + conferência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9144914" y="3383280"/>
            <a:ext cx="203362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quê: T18 perdido por erro 429; achado do T15 perdido em silêncio.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9144914" y="4297680"/>
            <a:ext cx="20336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57,7</a:t>
            </a:r>
            <a:endParaRPr lang="en-US" sz="2800" dirty="0"/>
          </a:p>
        </p:txBody>
      </p:sp>
      <p:sp>
        <p:nvSpPr>
          <p:cNvPr id="28" name="Text 25"/>
          <p:cNvSpPr txBox="1"/>
          <p:nvPr/>
        </p:nvSpPr>
        <p:spPr>
          <a:xfrm>
            <a:off x="9144914" y="4846320"/>
            <a:ext cx="203362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ao LLM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812902" y="544068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todas as versões o prompt do planejador é o da v1, para que as diferenças possam ser atribuídas à arquitetura.</a:t>
            </a:r>
            <a:endParaRPr lang="en-US" sz="1400" dirty="0"/>
          </a:p>
        </p:txBody>
      </p:sp>
      <p:sp>
        <p:nvSpPr>
          <p:cNvPr id="30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Entregável 4 · chamadas somadas nos 13 casos congelados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ARQUITETURA FINAL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sistema ficou na v4</a:t>
            </a:r>
            <a:endParaRPr lang="en-US" sz="3200" dirty="0"/>
          </a:p>
        </p:txBody>
      </p:sp>
      <p:sp>
        <p:nvSpPr>
          <p:cNvPr id="5" name="mcp"/>
          <p:cNvSpPr/>
          <p:nvPr/>
        </p:nvSpPr>
        <p:spPr>
          <a:xfrm>
            <a:off x="812800" y="1809750"/>
            <a:ext cx="6927850" cy="635000"/>
          </a:xfrm>
          <a:prstGeom prst="roundRect">
            <a:avLst>
              <a:gd name="adj" fmla="val 11520"/>
            </a:avLst>
          </a:prstGeom>
          <a:solidFill>
            <a:srgbClr val="E3ECF5"/>
          </a:solidFill>
          <a:ln w="19050">
            <a:solidFill>
              <a:srgbClr val="2F5D8A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95680" y="1809750"/>
            <a:ext cx="656209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Servidor MCP · buscar_municipio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grafia do IBGE e homônimos · </a:t>
            </a:r>
            <a:pPr indent="0" marL="0">
              <a:buNone/>
            </a:pPr>
            <a:r>
              <a:rPr lang="en-US" sz="120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v4: retentativa, tempo limite, degradação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562100" y="2444750"/>
            <a:ext cx="0" cy="349250"/>
          </a:xfrm>
          <a:prstGeom prst="line">
            <a:avLst/>
          </a:prstGeom>
          <a:noFill/>
          <a:ln w="28575">
            <a:solidFill>
              <a:srgbClr val="2F5D8A"/>
            </a:solidFill>
            <a:prstDash val="solid"/>
            <a:headEnd type="triangle"/>
            <a:tailEnd type="triangle"/>
          </a:ln>
        </p:spPr>
      </p:sp>
      <p:sp>
        <p:nvSpPr>
          <p:cNvPr id="8" name="Shape 5"/>
          <p:cNvSpPr/>
          <p:nvPr/>
        </p:nvSpPr>
        <p:spPr>
          <a:xfrm>
            <a:off x="6991350" y="2444750"/>
            <a:ext cx="0" cy="349250"/>
          </a:xfrm>
          <a:prstGeom prst="line">
            <a:avLst/>
          </a:prstGeom>
          <a:noFill/>
          <a:ln w="28575">
            <a:solidFill>
              <a:srgbClr val="2F5D8A"/>
            </a:solidFill>
            <a:prstDash val="solid"/>
            <a:headEnd type="triangle"/>
            <a:tailEnd type="triangle"/>
          </a:ln>
        </p:spPr>
      </p:sp>
      <p:sp>
        <p:nvSpPr>
          <p:cNvPr id="9" name="no_Resolvedor"/>
          <p:cNvSpPr/>
          <p:nvPr/>
        </p:nvSpPr>
        <p:spPr>
          <a:xfrm>
            <a:off x="812800" y="2794000"/>
            <a:ext cx="1498600" cy="101600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19050">
            <a:solidFill>
              <a:srgbClr val="2F5D8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7664" y="2794000"/>
            <a:ext cx="138887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Resolvedor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municípios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311400" y="3302000"/>
            <a:ext cx="311150" cy="0"/>
          </a:xfrm>
          <a:prstGeom prst="line">
            <a:avLst/>
          </a:prstGeom>
          <a:noFill/>
          <a:ln w="285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2" name="no_Planejador"/>
          <p:cNvSpPr/>
          <p:nvPr/>
        </p:nvSpPr>
        <p:spPr>
          <a:xfrm>
            <a:off x="2622550" y="2794000"/>
            <a:ext cx="1498600" cy="101600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19050">
            <a:solidFill>
              <a:srgbClr val="2F5D8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77414" y="2794000"/>
            <a:ext cx="138887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escreve o pandas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121150" y="3302000"/>
            <a:ext cx="311150" cy="0"/>
          </a:xfrm>
          <a:prstGeom prst="line">
            <a:avLst/>
          </a:prstGeom>
          <a:noFill/>
          <a:ln w="285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5" name="no_Executor"/>
          <p:cNvSpPr/>
          <p:nvPr/>
        </p:nvSpPr>
        <p:spPr>
          <a:xfrm>
            <a:off x="4432300" y="2794000"/>
            <a:ext cx="1498600" cy="101600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19050">
            <a:solidFill>
              <a:srgbClr val="6B7280"/>
            </a:solidFill>
            <a:prstDash val="dash"/>
          </a:ln>
        </p:spPr>
      </p:sp>
      <p:sp>
        <p:nvSpPr>
          <p:cNvPr id="16" name="Text 13"/>
          <p:cNvSpPr txBox="1"/>
          <p:nvPr/>
        </p:nvSpPr>
        <p:spPr>
          <a:xfrm>
            <a:off x="4487164" y="2794000"/>
            <a:ext cx="138887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guarda + execução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5930900" y="3302000"/>
            <a:ext cx="311150" cy="0"/>
          </a:xfrm>
          <a:prstGeom prst="line">
            <a:avLst/>
          </a:prstGeom>
          <a:noFill/>
          <a:ln w="285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18" name="no_Validador"/>
          <p:cNvSpPr/>
          <p:nvPr/>
        </p:nvSpPr>
        <p:spPr>
          <a:xfrm>
            <a:off x="6242050" y="2794000"/>
            <a:ext cx="1498600" cy="101600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19050">
            <a:solidFill>
              <a:srgbClr val="2F5D8A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96914" y="2794000"/>
            <a:ext cx="138887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skills + Veredito</a:t>
            </a:r>
            <a:endParaRPr lang="en-US" sz="1400" dirty="0"/>
          </a:p>
        </p:txBody>
      </p:sp>
      <p:sp>
        <p:nvSpPr>
          <p:cNvPr id="20" name="Shape 17"/>
          <p:cNvSpPr/>
          <p:nvPr/>
        </p:nvSpPr>
        <p:spPr>
          <a:xfrm>
            <a:off x="7740650" y="3302000"/>
            <a:ext cx="311150" cy="0"/>
          </a:xfrm>
          <a:prstGeom prst="line">
            <a:avLst/>
          </a:prstGeom>
          <a:noFill/>
          <a:ln w="285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1" name="no_Sintetizador"/>
          <p:cNvSpPr/>
          <p:nvPr/>
        </p:nvSpPr>
        <p:spPr>
          <a:xfrm>
            <a:off x="8051800" y="2794000"/>
            <a:ext cx="1498600" cy="1016000"/>
          </a:xfrm>
          <a:prstGeom prst="roundRect">
            <a:avLst>
              <a:gd name="adj" fmla="val 7200"/>
            </a:avLst>
          </a:prstGeom>
          <a:solidFill>
            <a:srgbClr val="FFFDF8"/>
          </a:solidFill>
          <a:ln w="19050">
            <a:solidFill>
              <a:srgbClr val="2F5D8A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8106664" y="2794000"/>
            <a:ext cx="138887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Sintetizador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redige da ficha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9550400" y="3302000"/>
            <a:ext cx="311150" cy="0"/>
          </a:xfrm>
          <a:prstGeom prst="line">
            <a:avLst/>
          </a:prstGeom>
          <a:noFill/>
          <a:ln w="28575">
            <a:solidFill>
              <a:srgbClr val="14213D"/>
            </a:solidFill>
            <a:prstDash val="solid"/>
            <a:tailEnd type="triangle"/>
          </a:ln>
        </p:spPr>
      </p:sp>
      <p:sp>
        <p:nvSpPr>
          <p:cNvPr id="24" name="no_Conferência"/>
          <p:cNvSpPr/>
          <p:nvPr/>
        </p:nvSpPr>
        <p:spPr>
          <a:xfrm>
            <a:off x="9861550" y="2794000"/>
            <a:ext cx="1498600" cy="1016000"/>
          </a:xfrm>
          <a:prstGeom prst="roundRect">
            <a:avLst>
              <a:gd name="adj" fmla="val 7200"/>
            </a:avLst>
          </a:prstGeom>
          <a:solidFill>
            <a:srgbClr val="FBEBD9"/>
          </a:solidFill>
          <a:ln w="19050">
            <a:solidFill>
              <a:srgbClr val="B5651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916414" y="2794000"/>
            <a:ext cx="1388872" cy="101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determinístico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verificações</a:t>
            </a:r>
            <a:endParaRPr lang="en-US" sz="1400" dirty="0"/>
          </a:p>
        </p:txBody>
      </p:sp>
      <p:sp>
        <p:nvSpPr>
          <p:cNvPr id="26" name="Shape 23"/>
          <p:cNvSpPr/>
          <p:nvPr/>
        </p:nvSpPr>
        <p:spPr>
          <a:xfrm>
            <a:off x="5181600" y="3810000"/>
            <a:ext cx="0" cy="349250"/>
          </a:xfrm>
          <a:prstGeom prst="line">
            <a:avLst/>
          </a:prstGeom>
          <a:noFill/>
          <a:ln w="28575">
            <a:solidFill>
              <a:srgbClr val="B5651D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 flipH="1">
            <a:off x="3371850" y="4159250"/>
            <a:ext cx="1809750" cy="0"/>
          </a:xfrm>
          <a:prstGeom prst="line">
            <a:avLst/>
          </a:prstGeom>
          <a:noFill/>
          <a:ln w="28575">
            <a:solidFill>
              <a:srgbClr val="B5651D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 flipV="1">
            <a:off x="3371850" y="3810000"/>
            <a:ext cx="0" cy="349250"/>
          </a:xfrm>
          <a:prstGeom prst="line">
            <a:avLst/>
          </a:prstGeom>
          <a:noFill/>
          <a:ln w="28575">
            <a:solidFill>
              <a:srgbClr val="B5651D"/>
            </a:solidFill>
            <a:prstDash val="solid"/>
            <a:tailEnd type="triangle"/>
          </a:ln>
        </p:spPr>
      </p:sp>
      <p:sp>
        <p:nvSpPr>
          <p:cNvPr id="29" name="Text 26"/>
          <p:cNvSpPr txBox="1"/>
          <p:nvPr/>
        </p:nvSpPr>
        <p:spPr>
          <a:xfrm>
            <a:off x="3302000" y="4203700"/>
            <a:ext cx="19685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 conhecido: refazer sem LLM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6991350" y="3810000"/>
            <a:ext cx="0" cy="984250"/>
          </a:xfrm>
          <a:prstGeom prst="line">
            <a:avLst/>
          </a:prstGeom>
          <a:noFill/>
          <a:ln w="28575">
            <a:solidFill>
              <a:srgbClr val="2F5D8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 flipH="1">
            <a:off x="2984500" y="4794250"/>
            <a:ext cx="4006850" cy="0"/>
          </a:xfrm>
          <a:prstGeom prst="line">
            <a:avLst/>
          </a:prstGeom>
          <a:noFill/>
          <a:ln w="28575">
            <a:solidFill>
              <a:srgbClr val="2F5D8A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 flipV="1">
            <a:off x="2984500" y="3810000"/>
            <a:ext cx="0" cy="984250"/>
          </a:xfrm>
          <a:prstGeom prst="line">
            <a:avLst/>
          </a:prstGeom>
          <a:noFill/>
          <a:ln w="28575">
            <a:solidFill>
              <a:srgbClr val="2F5D8A"/>
            </a:solidFill>
            <a:prstDash val="solid"/>
            <a:tailEnd type="triangle"/>
          </a:ln>
        </p:spPr>
      </p:sp>
      <p:sp>
        <p:nvSpPr>
          <p:cNvPr id="33" name="Text 30"/>
          <p:cNvSpPr txBox="1"/>
          <p:nvPr/>
        </p:nvSpPr>
        <p:spPr>
          <a:xfrm>
            <a:off x="3810000" y="4851400"/>
            <a:ext cx="279400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F5D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reprovado: reescrever (até 2 voltas)</a:t>
            </a:r>
            <a:endParaRPr lang="en-US" sz="1200" dirty="0"/>
          </a:p>
        </p:txBody>
      </p:sp>
      <p:sp>
        <p:nvSpPr>
          <p:cNvPr id="34" name="Text 31"/>
          <p:cNvSpPr txBox="1"/>
          <p:nvPr/>
        </p:nvSpPr>
        <p:spPr>
          <a:xfrm>
            <a:off x="812902" y="5334000"/>
            <a:ext cx="1056680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Laranja: acrescentado na v4. </a:t>
            </a:r>
            <a:pPr indent="0" marL="0">
              <a:buNone/>
            </a:pPr>
            <a:r>
              <a:rPr lang="en-US" sz="12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inviável vai direto ao Sintetizador (abstenção). Se o Sintetizador falhar, uma resposta de reserva é montada da ficha, sem LLM, e marcada como degradada.</a:t>
            </a:r>
            <a:endParaRPr lang="en-US" sz="1200" dirty="0"/>
          </a:p>
        </p:txBody>
      </p:sp>
      <p:sp>
        <p:nvSpPr>
          <p:cNvPr id="35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Entregável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ARQUITETURA FINAL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Decisões e o motivo de cada uma</a:t>
            </a:r>
            <a:endParaRPr lang="en-US" sz="3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194560"/>
          <a:ext cx="10566806" cy="914400"/>
        </p:xfrm>
        <a:graphic>
          <a:graphicData uri="http://schemas.openxmlformats.org/drawingml/2006/table">
            <a:tbl>
              <a:tblPr/>
              <a:tblGrid>
                <a:gridCol w="4224528"/>
                <a:gridCol w="6342278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LLM escreve a consulta, não o número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valor vem da execução; o código é a evidência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Identidade do município via MCP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grafia do IBGE e homônimos não cabem no prompt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Validador com skills sob demanda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carrega 1 de 3 instruções; o índice é 11× menor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Sintetizador só vê a ficha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não inventa números, mas não recupera o que ficou fora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4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Veredito como ferramenta (v4)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uma chamada em vez de duas: 67 → 57,7 chamadas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4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Refazer sem LLM (v4)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 mecânico conhecido não gasta chamada ao modelo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9A4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Conferência após a síntese (v4)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falha silenciosa vira aviso no texto e no trace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Prompt do planejador = v1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diferença entre versões atribuível à arquitetura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Entregável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DEMONSTRAÇÃO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T17: pergunta composta sobre um município de grafia irregular</a:t>
            </a:r>
            <a:endParaRPr lang="en-US" sz="3200" dirty="0"/>
          </a:p>
        </p:txBody>
      </p:sp>
      <p:sp>
        <p:nvSpPr>
          <p:cNvPr id="5" name="pergunta_t17"/>
          <p:cNvSpPr/>
          <p:nvPr/>
        </p:nvSpPr>
        <p:spPr>
          <a:xfrm>
            <a:off x="812902" y="2240280"/>
            <a:ext cx="4443984" cy="2148840"/>
          </a:xfrm>
          <a:prstGeom prst="roundRect">
            <a:avLst>
              <a:gd name="adj" fmla="val 510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8934" y="2423160"/>
            <a:ext cx="393192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“Qual é a média em matemática de Santana do Livramento, e quantos participantes ela teve?”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068934" y="384048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salva: rodada 2 da seção D (v4_rodada_2.jsonl)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577840" y="2240280"/>
            <a:ext cx="57972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observar no trace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5577840" y="2651760"/>
            <a:ext cx="5797296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Resolvedor consulta o MCP e recebe “Sant'Ana do Livramento”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Planejador escreve uma expressão com os dois valores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guarda recusa a 1ª versão; o refazer volta ao Planejador sem LLM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 aprova, Sintetizador redige, conferência sem problemas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12902" y="4663440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12902" y="4663440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resolvedor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1791310" y="466344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1992478" y="4663440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992478" y="4663440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planejador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970886" y="466344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3172054" y="4663440"/>
            <a:ext cx="2116836" cy="329184"/>
          </a:xfrm>
          <a:prstGeom prst="roundRect">
            <a:avLst>
              <a:gd name="adj" fmla="val 50000"/>
            </a:avLst>
          </a:prstGeom>
          <a:solidFill>
            <a:srgbClr val="FBEBD9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172054" y="4663440"/>
            <a:ext cx="211683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executor: refazer sem LLM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288890" y="466344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490058" y="4663440"/>
            <a:ext cx="978408" cy="329184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490058" y="4663440"/>
            <a:ext cx="978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planejador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6468466" y="466344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6669634" y="4663440"/>
            <a:ext cx="826618" cy="329184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669634" y="4663440"/>
            <a:ext cx="82661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executor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7496251" y="466344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7697419" y="4663440"/>
            <a:ext cx="902513" cy="329184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697419" y="4663440"/>
            <a:ext cx="90251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validador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8599932" y="466344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8801100" y="4663440"/>
            <a:ext cx="1130198" cy="329184"/>
          </a:xfrm>
          <a:prstGeom prst="roundRect">
            <a:avLst>
              <a:gd name="adj" fmla="val 50000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8801100" y="4663440"/>
            <a:ext cx="113019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sintetizador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9931298" y="4663440"/>
            <a:ext cx="20116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400" dirty="0"/>
          </a:p>
        </p:txBody>
      </p:sp>
      <p:sp>
        <p:nvSpPr>
          <p:cNvPr id="31" name="Shape 28"/>
          <p:cNvSpPr/>
          <p:nvPr/>
        </p:nvSpPr>
        <p:spPr>
          <a:xfrm>
            <a:off x="10132466" y="4663440"/>
            <a:ext cx="1054303" cy="329184"/>
          </a:xfrm>
          <a:prstGeom prst="roundRect">
            <a:avLst>
              <a:gd name="adj" fmla="val 50000"/>
            </a:avLst>
          </a:prstGeom>
          <a:solidFill>
            <a:srgbClr val="FBEBD9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132466" y="4663440"/>
            <a:ext cx="1054303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</a:t>
            </a:r>
            <a:endParaRPr lang="en-US" sz="1200" dirty="0"/>
          </a:p>
        </p:txBody>
      </p:sp>
      <p:sp>
        <p:nvSpPr>
          <p:cNvPr id="33" name="Text 30"/>
          <p:cNvSpPr txBox="1"/>
          <p:nvPr/>
        </p:nvSpPr>
        <p:spPr>
          <a:xfrm>
            <a:off x="812902" y="525780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média em matemática de Santana do Livramento é 530.26 e a cidade teve 275 participantes.” · 5 chamadas ao LLM · 27,8 s</a:t>
            </a:r>
            <a:endParaRPr lang="en-US" sz="1400" dirty="0"/>
          </a:p>
        </p:txBody>
      </p:sp>
      <p:sp>
        <p:nvSpPr>
          <p:cNvPr id="34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Entregável 4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RESULTADOS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Nos 13 casos congelados, as quatro versões empatam</a:t>
            </a:r>
            <a:endParaRPr lang="en-US" sz="3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194560"/>
          <a:ext cx="10566806" cy="914400"/>
        </p:xfrm>
        <a:graphic>
          <a:graphicData uri="http://schemas.openxmlformats.org/drawingml/2006/table">
            <a:tbl>
              <a:tblPr/>
              <a:tblGrid>
                <a:gridCol w="3383280"/>
                <a:gridCol w="1795882"/>
                <a:gridCol w="1795882"/>
                <a:gridCol w="1795882"/>
                <a:gridCol w="1795882"/>
              </a:tblGrid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7F5E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0A86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Acertos (11 automáticos)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4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entre execuções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10–11 (2 sessões)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10–11 (2 sessões)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medida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4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11–11 (3 rodadas)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Faixa plausível (Wilson 95%)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74–100%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62–98%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74–100%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4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74–100%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Chamadas ao LLM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4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57,7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 por pergunta (US$)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0,0006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0,00145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4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0,00146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D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Ponderada com rubrica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0,766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3D465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9A4F0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0,901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9728" marR="109728" marT="0" marB="0" anchor="ctr">
                    <a:lnL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AD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7F5EF"/>
                    </a:solidFill>
                  </a:tcPr>
                </a:tc>
              </a:tr>
            </a:tbl>
          </a:graphicData>
        </a:graphic>
      </p:graphicFrame>
      <p:sp>
        <p:nvSpPr>
          <p:cNvPr id="6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Fonte: notebook E4, seções E.2, F.2 e G.1 · v1–v3 dos arquivos dos entregáveis, v4 de 3 rodadas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LEITURA HONESTA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Uma diferença de um caso é do tamanho do ruído</a:t>
            </a:r>
            <a:endParaRPr lang="en-US" sz="3200" dirty="0"/>
          </a:p>
        </p:txBody>
      </p:sp>
      <p:sp>
        <p:nvSpPr>
          <p:cNvPr id="5" name="numero_1"/>
          <p:cNvSpPr/>
          <p:nvPr/>
        </p:nvSpPr>
        <p:spPr>
          <a:xfrm>
            <a:off x="812902" y="2240280"/>
            <a:ext cx="3339389" cy="2514600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68934" y="2423160"/>
            <a:ext cx="28273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4F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 de 6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1068934" y="3246120"/>
            <a:ext cx="2827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pares de versões com faixas plausíveis sobrepostas: nenhuma superioridade agregada se sustenta</a:t>
            </a:r>
            <a:endParaRPr lang="en-US" sz="1400" dirty="0"/>
          </a:p>
        </p:txBody>
      </p:sp>
      <p:sp>
        <p:nvSpPr>
          <p:cNvPr id="8" name="numero_2"/>
          <p:cNvSpPr/>
          <p:nvPr/>
        </p:nvSpPr>
        <p:spPr>
          <a:xfrm>
            <a:off x="4426610" y="2240280"/>
            <a:ext cx="3339389" cy="2514600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682642" y="2423160"/>
            <a:ext cx="28273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4F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caso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4682642" y="3246120"/>
            <a:ext cx="2827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a mesma versão variou entre sessões, sem mudar o código (v1: 11 → 10; v2: 10 → 11)</a:t>
            </a:r>
            <a:endParaRPr lang="en-US" sz="1400" dirty="0"/>
          </a:p>
        </p:txBody>
      </p:sp>
      <p:sp>
        <p:nvSpPr>
          <p:cNvPr id="11" name="numero_3"/>
          <p:cNvSpPr/>
          <p:nvPr/>
        </p:nvSpPr>
        <p:spPr>
          <a:xfrm>
            <a:off x="8040319" y="2240280"/>
            <a:ext cx="3339389" cy="2514600"/>
          </a:xfrm>
          <a:prstGeom prst="roundRect">
            <a:avLst>
              <a:gd name="adj" fmla="val 4364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96351" y="2423160"/>
            <a:ext cx="282732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A4F0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de 4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8296351" y="3246120"/>
            <a:ext cx="282732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mudanças entre versões explicadas por um mecanismo: só o T18 (v3 → v4); T03 e T14 mudaram sem mecanismo no trace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812902" y="507492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isso a evidência que usamos é o caso específico que mudou, com o trace explicando por quê.</a:t>
            </a:r>
            <a:endParaRPr lang="en-US" sz="1500" dirty="0"/>
          </a:p>
        </p:txBody>
      </p:sp>
      <p:sp>
        <p:nvSpPr>
          <p:cNvPr id="15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Entregável 4 · seções F.1, F.2 e F.3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RECOMENDAÇÃO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Levaríamos a v4, por previsibilidade e auditabilidade, não por acerto</a:t>
            </a:r>
            <a:endParaRPr lang="en-US" sz="3200" dirty="0"/>
          </a:p>
        </p:txBody>
      </p:sp>
      <p:sp>
        <p:nvSpPr>
          <p:cNvPr id="5" name="evidencia_1"/>
          <p:cNvSpPr/>
          <p:nvPr/>
        </p:nvSpPr>
        <p:spPr>
          <a:xfrm>
            <a:off x="812902" y="2286000"/>
            <a:ext cx="2435962" cy="2514600"/>
          </a:xfrm>
          <a:prstGeom prst="roundRect">
            <a:avLst>
              <a:gd name="adj" fmla="val 4505"/>
            </a:avLst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14070" y="2468880"/>
            <a:ext cx="20336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T18 · 3 de 3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014070" y="3108960"/>
            <a:ext cx="20336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a abstenção que a v3 perdia quando o provedor falhava: resposta de reserva, sem LLM.</a:t>
            </a:r>
            <a:endParaRPr lang="en-US" sz="1300" dirty="0"/>
          </a:p>
        </p:txBody>
      </p:sp>
      <p:sp>
        <p:nvSpPr>
          <p:cNvPr id="8" name="evidencia_2"/>
          <p:cNvSpPr/>
          <p:nvPr/>
        </p:nvSpPr>
        <p:spPr>
          <a:xfrm>
            <a:off x="3523183" y="2286000"/>
            <a:ext cx="2435962" cy="2514600"/>
          </a:xfrm>
          <a:prstGeom prst="roundRect">
            <a:avLst>
              <a:gd name="adj" fmla="val 4505"/>
            </a:avLst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724351" y="2468880"/>
            <a:ext cx="20336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detecções</a:t>
            </a:r>
            <a:endParaRPr lang="en-US" sz="2400" dirty="0"/>
          </a:p>
        </p:txBody>
      </p:sp>
      <p:sp>
        <p:nvSpPr>
          <p:cNvPr id="10" name="Text 7"/>
          <p:cNvSpPr txBox="1"/>
          <p:nvPr/>
        </p:nvSpPr>
        <p:spPr>
          <a:xfrm>
            <a:off x="3724351" y="3108960"/>
            <a:ext cx="20336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57 execuções: homônimos do T15 (3 de 3) e a subtração inventada do T08 (2 de 3).</a:t>
            </a:r>
            <a:endParaRPr lang="en-US" sz="1300" dirty="0"/>
          </a:p>
        </p:txBody>
      </p:sp>
      <p:sp>
        <p:nvSpPr>
          <p:cNvPr id="11" name="evidencia_3"/>
          <p:cNvSpPr/>
          <p:nvPr/>
        </p:nvSpPr>
        <p:spPr>
          <a:xfrm>
            <a:off x="6233465" y="2286000"/>
            <a:ext cx="2435962" cy="2514600"/>
          </a:xfrm>
          <a:prstGeom prst="roundRect">
            <a:avLst>
              <a:gd name="adj" fmla="val 4505"/>
            </a:avLst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34633" y="2468880"/>
            <a:ext cx="20336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11–11</a:t>
            </a:r>
            <a:endParaRPr lang="en-US" sz="2400" dirty="0"/>
          </a:p>
        </p:txBody>
      </p:sp>
      <p:sp>
        <p:nvSpPr>
          <p:cNvPr id="13" name="Text 10"/>
          <p:cNvSpPr txBox="1"/>
          <p:nvPr/>
        </p:nvSpPr>
        <p:spPr>
          <a:xfrm>
            <a:off x="6434633" y="3108960"/>
            <a:ext cx="20336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Única versão medida 3 vezes na mesma sessão: o comportamento mais conhecido.</a:t>
            </a:r>
            <a:endParaRPr lang="en-US" sz="1300" dirty="0"/>
          </a:p>
        </p:txBody>
      </p:sp>
      <p:sp>
        <p:nvSpPr>
          <p:cNvPr id="14" name="evidencia_4"/>
          <p:cNvSpPr/>
          <p:nvPr/>
        </p:nvSpPr>
        <p:spPr>
          <a:xfrm>
            <a:off x="8943746" y="2286000"/>
            <a:ext cx="2435962" cy="2514600"/>
          </a:xfrm>
          <a:prstGeom prst="roundRect">
            <a:avLst>
              <a:gd name="adj" fmla="val 4505"/>
            </a:avLst>
          </a:prstGeom>
          <a:solidFill>
            <a:srgbClr val="1E2F52"/>
          </a:solidFill>
          <a:ln w="12700">
            <a:solidFill>
              <a:srgbClr val="1E2F5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144914" y="2468880"/>
            <a:ext cx="203362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A8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57,7 × 67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9144914" y="3108960"/>
            <a:ext cx="203362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Chamadas ao LLM contra a v3, com custo em dólares equivalente (±2%).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812902" y="5120640"/>
            <a:ext cx="10566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v4 melhora é o comportamento </a:t>
            </a:r>
            <a:pPr indent="0" marL="0">
              <a:buNone/>
            </a:pPr>
            <a:r>
              <a:rPr lang="en-US" sz="1500" b="1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algo falha</a:t>
            </a:r>
            <a:pPr indent="0" marL="0">
              <a:buNone/>
            </a:pPr>
            <a:r>
              <a:rPr lang="en-US" sz="1500" dirty="0">
                <a:solidFill>
                  <a:srgbClr val="F7F5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Em acerto, as quatro versões empatam.</a:t>
            </a:r>
            <a:endParaRPr lang="en-US" sz="1500" dirty="0"/>
          </a:p>
        </p:txBody>
      </p:sp>
      <p:sp>
        <p:nvSpPr>
          <p:cNvPr id="18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Entregável 4 · seções D.4, F e 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9AA7BA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tulo"/>
          <p:cNvSpPr txBox="1"/>
          <p:nvPr/>
        </p:nvSpPr>
        <p:spPr>
          <a:xfrm>
            <a:off x="812902" y="749808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A4F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RESSALVAS</a:t>
            </a:r>
            <a:endParaRPr lang="en-US" sz="1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812902" y="1097280"/>
            <a:ext cx="10566806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os dados não permitem afirmar</a:t>
            </a:r>
            <a:endParaRPr lang="en-US" sz="3200" dirty="0"/>
          </a:p>
        </p:txBody>
      </p:sp>
      <p:sp>
        <p:nvSpPr>
          <p:cNvPr id="5" name="ressalvas"/>
          <p:cNvSpPr/>
          <p:nvPr/>
        </p:nvSpPr>
        <p:spPr>
          <a:xfrm>
            <a:off x="812902" y="2240280"/>
            <a:ext cx="6099048" cy="3520440"/>
          </a:xfrm>
          <a:prstGeom prst="roundRect">
            <a:avLst>
              <a:gd name="adj" fmla="val 3117"/>
            </a:avLst>
          </a:prstGeom>
          <a:solidFill>
            <a:srgbClr val="FFFDF8"/>
          </a:solidFill>
          <a:ln w="12700">
            <a:solidFill>
              <a:srgbClr val="DAD4C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087222" y="2423160"/>
            <a:ext cx="5550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Ressalvas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087222" y="2834640"/>
            <a:ext cx="555040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v4 não acerta mais: as faixas se sobrepõem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Detecta, mas não corrige: o T15 sai “169” seguido do aviso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detectou a amostra frágil do T12 (Uru, 1 participante) em 2 de 3 rodadas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rubrica manual, a v3 fica à frente (0,957 contra 0,901)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otimiza custo deve usar a v1: cerca de ¼ do custo, mesmo acerto</a:t>
            </a:r>
            <a:endParaRPr lang="en-US" sz="1300" dirty="0"/>
          </a:p>
        </p:txBody>
      </p:sp>
      <p:sp>
        <p:nvSpPr>
          <p:cNvPr id="8" name="antes_de_uso"/>
          <p:cNvSpPr/>
          <p:nvPr/>
        </p:nvSpPr>
        <p:spPr>
          <a:xfrm>
            <a:off x="7186270" y="2240280"/>
            <a:ext cx="4193438" cy="3520440"/>
          </a:xfrm>
          <a:prstGeom prst="roundRect">
            <a:avLst>
              <a:gd name="adj" fmla="val 3117"/>
            </a:avLst>
          </a:prstGeom>
          <a:solidFill>
            <a:srgbClr val="FBEBD9"/>
          </a:solidFill>
          <a:ln w="12700">
            <a:solidFill>
              <a:srgbClr val="B5651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60590" y="2423160"/>
            <a:ext cx="364479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uso real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460590" y="2834640"/>
            <a:ext cx="3644798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“400 Failed to generate JSON” como falha transitória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Tirar o texto do erro do provedor da resposta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Estender a verificação 3 ao T12</a:t>
            </a:r>
            <a:endParaRPr lang="en-US" sz="1300" dirty="0"/>
          </a:p>
          <a:p>
            <a:pPr marL="342900" indent="-342900">
              <a:spcAft>
                <a:spcPts val="500"/>
              </a:spcAft>
              <a:buSzPct val="100000"/>
              <a:buFont typeface="+mj-lt"/>
              <a:buAutoNum type="arabicPeriod" startAt="1"/>
            </a:pPr>
            <a:r>
              <a:rPr lang="en-US" sz="1300" dirty="0">
                <a:solidFill>
                  <a:srgbClr val="3D46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v5: perguntar ao usuário quando a pergunta é ambígua</a:t>
            </a:r>
            <a:endParaRPr lang="en-US" sz="1300" dirty="0"/>
          </a:p>
        </p:txBody>
      </p:sp>
      <p:sp>
        <p:nvSpPr>
          <p:cNvPr id="11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Entregável 4 · seção K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607040" y="6309360"/>
            <a:ext cx="7772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B7280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 txBox="1"/>
          <p:nvPr/>
        </p:nvSpPr>
        <p:spPr>
          <a:xfrm>
            <a:off x="812902" y="1828800"/>
            <a:ext cx="1056680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dirty="0">
                <a:solidFill>
                  <a:srgbClr val="F7F5E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Obrigado!</a:t>
            </a:r>
            <a:endParaRPr lang="en-US" sz="8000" dirty="0"/>
          </a:p>
        </p:txBody>
      </p:sp>
      <p:sp>
        <p:nvSpPr>
          <p:cNvPr id="4" name="Text 1"/>
          <p:cNvSpPr txBox="1"/>
          <p:nvPr/>
        </p:nvSpPr>
        <p:spPr>
          <a:xfrm>
            <a:off x="812902" y="3474720"/>
            <a:ext cx="10566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0A8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em linguagem natural sobre o ENEM 2023</a:t>
            </a:r>
            <a:endParaRPr lang="en-US" sz="20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4114800"/>
            <a:ext cx="1056680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3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Rodolfo Dalla Costa · Thais Caroline Murer · Werner Conrado Jacob Denzin</a:t>
            </a:r>
            <a:endParaRPr lang="en-US" sz="1500" dirty="0"/>
          </a:p>
        </p:txBody>
      </p:sp>
      <p:sp>
        <p:nvSpPr>
          <p:cNvPr id="6" name="rodape"/>
          <p:cNvSpPr txBox="1"/>
          <p:nvPr/>
        </p:nvSpPr>
        <p:spPr>
          <a:xfrm>
            <a:off x="812902" y="6309360"/>
            <a:ext cx="9509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7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INF0093 · Projeto Prático com Sistemas Multiagentes · 2S/2026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4 INF0093">
  <a:themeElements>
    <a:clrScheme name="E4 INF0093">
      <a:dk1>
        <a:srgbClr val="14213D"/>
      </a:dk1>
      <a:lt1>
        <a:srgbClr val="FFFDF8"/>
      </a:lt1>
      <a:dk2>
        <a:srgbClr val="3D4656"/>
      </a:dk2>
      <a:lt2>
        <a:srgbClr val="F7F5EF"/>
      </a:lt2>
      <a:accent1>
        <a:srgbClr val="B5651D"/>
      </a:accent1>
      <a:accent2>
        <a:srgbClr val="2F5D8A"/>
      </a:accent2>
      <a:accent3>
        <a:srgbClr val="9A4F0E"/>
      </a:accent3>
      <a:accent4>
        <a:srgbClr val="F0A868"/>
      </a:accent4>
      <a:accent5>
        <a:srgbClr val="1E2F52"/>
      </a:accent5>
      <a:accent6>
        <a:srgbClr val="6B7280"/>
      </a:accent6>
      <a:hlink>
        <a:srgbClr val="2F5D8A"/>
      </a:hlink>
      <a:folHlink>
        <a:srgbClr val="9A4F0E"/>
      </a:folHlink>
    </a:clrScheme>
    <a:fontScheme name="E4 INF0093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E4 — Apresentação final</dc:title>
  <dc:subject>PptxGenJS Presentation</dc:subject>
  <dc:creator>Rodolfo Dalla Costa, Thais Caroline Murer, Werner Conrado Jacob Denzin</dc:creator>
  <cp:lastModifiedBy>Rodolfo Dalla Costa, Thais Caroline Murer, Werner Conrado Jacob Denzin</cp:lastModifiedBy>
  <cp:revision>1</cp:revision>
  <dcterms:created xsi:type="dcterms:W3CDTF">2026-10-03T14:58:44Z</dcterms:created>
  <dcterms:modified xsi:type="dcterms:W3CDTF">2026-10-03T14:58:44Z</dcterms:modified>
</cp:coreProperties>
</file>